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77474e-9571-1e3f-058f-cd53dda60486}">
          <p14:sldIdLst>
            <p14:sldId id="256"/>
          </p14:sldIdLst>
        </p14:section>
        <p14:section name="Context" id="{0a8a82fb-fb26-d02b-5010-3d286722eda3}">
          <p14:sldIdLst>
            <p14:sldId id="257"/>
            <p14:sldId id="258"/>
          </p14:sldIdLst>
        </p14:section>
        <p14:section name="Project" id="{804d8c94-be18-a485-f857-4a175717d5ac}">
          <p14:sldIdLst>
            <p14:sldId id="259"/>
            <p14:sldId id="260"/>
            <p14:sldId id="261"/>
          </p14:sldIdLst>
        </p14:section>
        <p14:section name="Technology" id="{9613276b-575d-a4a6-ade1-a174bea68d49}">
          <p14:sldIdLst>
            <p14:sldId id="262"/>
            <p14:sldId id="263"/>
          </p14:sldIdLst>
        </p14:section>
        <p14:section name="Design" id="{281a40a1-8199-187e-d138-e546218a7dfe}">
          <p14:sldIdLst>
            <p14:sldId id="264"/>
            <p14:sldId id="265"/>
            <p14:sldId id="266"/>
            <p14:sldId id="267"/>
          </p14:sldIdLst>
        </p14:section>
        <p14:section name="Review" id="{3eaf76b0-7400-16e5-43b5-f0a3ab655ccf}">
          <p14:sldIdLst>
            <p14:sldId id="268"/>
            <p14:sldId id="269"/>
          </p14:sldIdLst>
        </p14:section>
        <p14:section name="Closing" id="{339e1b75-42ca-ee03-886a-7381305949e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Deepan Raja G, register number 810023205049, a seventh-semester B.Tech Information Technology student at University College of Engineering, BIT Campus. Today I will present my summer internship, course IT3711, which I completed at Fantasy Solution, Tiruchirappalli, from 1 to 30 June 2026. The project title in my report is Student Management System. In this review I will explain what I learned, how the system is designed, and the technical concepts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basic facts. The internship was at Fantasy Solution in Trichy, for thirty days in June 2026. My industrial expert was Mr. Bragatheesh, a software developer. The work had two streams: a training programme in Java and enterprise development, and a project, the Student Management System. The objectives on the right are the learning goals from my report. Possible question: what was your main goal? Answer: to learn how Java technologies fit together in a complete application, and to understand how such a system is analysed and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Fantasy Solution is an IT solutions and service provider in Tiruchirappalli. Its work covers software development, web design and hosting, Android apps, ERP consulting and training. Its brand commitment is Beyond Technology. During my internship the environment was collaborative: there was an orientation first, and senior developers were approachable. Everything on this slide comes from my report. Possible question: Which of these technologies did you use? Answer: Java, because my training and project were in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Management System is software that handles the routine academic work of an institution: student records, which courses a student has joined, attendance, marks, grades and reports. In my internship this was the project assigned to me, and I studied how to design it using the Java technologies from the training. It has three kinds of users: the administrator, faculty and students, and each sees only what is relevant to them. Possible question: Is this a real deployed system? Answer: My report describes the design and the approach; today I am presenting my understanding of the design and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about how many institutions still work: paper registers and spreadsheets. As my report explains, this makes searching slow, data scattered, calculations error-prone, results delayed, reports time-consuming and access control weak. The proposed system keeps everything in one central database and uses a role-based web interface so each user sees only their own functions. Marks, grades and attendance percentages are computed by the system instead of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 from my report. The idea is to keep complete records, prevent duplicate or over-capacity enrolments, calculate attendance and grades automatically, give role-based access, and generate reports. The scope is a single institution. Fee collection, online exams and multi-campus support are outside the scope and listed as future work. Possible question: What benefit does automation bring? Answer: fewer manual calculation errors, faster searching, and timely information for students and faculty.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technologies named in my report and what each is used for. Java is the language. Spring Boot and Spring MVC provide the backend structure. The pages use HTML, CSS, JavaScript and JSP. MySQL stores the data. Hibernate with JPA maps Java objects to database tables. Spring Security handles login and role-based access. Simple explanation of ORM: Object-Relational Mapping lets us work with Java objects instead of writing SQL for every operation. Possible question: Why Spring Boot? Answer: it gives a ready application skeleton, so we can focus on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shows the technology stack as layers, from the browser pages at the top down to the MySQL database. The right side lists development tools from my report. Eclipse is the IDE where Java is written and debugged. Maven downloads and manages libraries. Git keeps the history of code changes. JUnit is used for automated tests. Tomcat is the web server where the packaged application is deployed. Possible question: What is Maven? Answer: a build tool that manages project libraries and packaging.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from Figure 6.1 of my report. A request starts in the browser pages, goes over HTTP to Spring MVC controllers, then to the service layer where business rules live, then to the data access layer using Hibernate and JPA, which talks to MySQL using SQL. Spring Security sits beside the controllers and checks who the user is and what role they have before anything reaches the business logic. The benefit of layers is that each part has one responsibility, so it is easier to understand, test and extend. Possible question: Why separate service and controller? Answer: so business rules like grading can be tested without the web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ER diagram from my report. There are eight entities: Users, Student, Department, Faculty, Course, Enrollment, Attendance and Marks. The key idea is that a student is linked to courses through Enrollment records, and attendance and marks are recorded against an enrollment. Foreign keys, labelled FK, enforce referential integrity, which means an enrollment cannot point to a student or course that does not exist. The report gives detailed column tables for STUDENT and MARKS, for example reg_no is unique and score is between 0 and max_score. Possible question: Why use an Enrollment table? Answer: a student can take many courses and a course has many students, so the Enrollment table links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modules described in my report. Authentication controls who can log in and what they can see. Student management handles student records and ensures registration numbers are unique. Course and faculty management maintains departments, courses and faculty. Enrolment links students to courses and prevents duplicates and over-capacity. Attendance and Marks and Results compute percentages, totals and grades. Reports give attendance, result and enrolment summaries. I want to be clear that I am presenting these as the system's designed modules and my understanding of how they work; I do not have a working application to demonstrate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is from Figure 6.4 of my report and shows the intended workflow. Faculty select a course, mark attendance, and enter marks. The system first checks that the marks are within the valid range, from zero to the maximum score. If not, the entry is rejected and must be re-entered. If valid, the marks are saved and total and grade are computed. Finally the result is decided by checking two conditions: attendance of at least 75 percent and pass marks. The grade bands and rules on the right come from Table 5.3. The example, 82 out of 100 giving A+, is a conceptual example from the report's test case. Possible question: What happens if attendance is below 75 percent? Answer: according to the flowchart the result is shown as re-appear or shortage.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testing approach described in my report. There are five levels: unit tests with JUnit for things like grade calculation, integration tests, system tests with manual scripts, security tests and user acceptance. The table shows some of the test cases from Chapter 8 with their expected results. I want to be transparent: these are designed test cases and expected outcomes. I am not presenting executed results. Beginner-friendly explanation: a unit test checks one small method in isolation. Possible question: Why test grade boundaries? Answer: because boundary errors, such as a score of exactly 40 or 90, are a typical type of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learning outcomes listed in Chapter 10 of my report. On the technical side I learned core and advanced Java, database connectivity with JDBC and Hibernate, web development with Servlets, JSP and Spring Boot, security with Spring Security, testing with JUnit, and Git and Tomcat. On the design side I understood layered architecture, ER modelling, and why transactions matter: either the enrolment and seat-count update happen together or neither happens. Beyond technology I improved communication, teamwork and time management. Possible question: What was the biggest challenge? Answer: learning many technologies in a short time; I handled it by practising each concept immediately in small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in thirty days at Fantasy Solution I moved from Java fundamentals to understanding how a complete database-backed web application is designed, using the Student Management System as the project. I learned layered architecture, database design, security, testing and deployment concepts, and professional habits. The future enhancements listed are proposals from my report, not completed work: notifications, fee management, timetable, parent portal, analytics, online assessments, multi-campus support and a mobile app. Thank you for your time. I would be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Student Management System  |  Summer Internship Review  |  Deepan Raja G  810023205049</a:t>
            </a:r>
            <a:endParaRPr lang="en-US" sz="1000" dirty="0"/>
          </a:p>
        </p:txBody>
      </p:sp>
      <p:sp>
        <p:nvSpPr>
          <p:cNvPr id="3" name="Text 1"/>
          <p:cNvSpPr/>
          <p:nvPr>
            <p:ph idx="101" type="title" hasCustomPrompt="1"/>
          </p:nvPr>
        </p:nvSpPr>
        <p:spPr>
          <a:xfrm>
            <a:off x="548640" y="365760"/>
            <a:ext cx="1109167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645920"/>
            <a:ext cx="6858000" cy="6858000"/>
          </a:xfrm>
          <a:prstGeom prst="ellipse">
            <a:avLst/>
          </a:prstGeom>
          <a:solidFill>
            <a:schemeClr val="accent2">
              <a:alpha val="12000"/>
            </a:schemeClr>
          </a:solidFill>
          <a:ln w="12700">
            <a:solidFill>
              <a:schemeClr val="bg1">
                <a:alpha val="0"/>
              </a:schemeClr>
            </a:solidFill>
            <a:prstDash val="solid"/>
          </a:ln>
        </p:spPr>
      </p:sp>
      <p:sp>
        <p:nvSpPr>
          <p:cNvPr id="3" name="Shape 1"/>
          <p:cNvSpPr/>
          <p:nvPr/>
        </p:nvSpPr>
        <p:spPr>
          <a:xfrm>
            <a:off x="9418320" y="3566160"/>
            <a:ext cx="4572000" cy="4572000"/>
          </a:xfrm>
          <a:prstGeom prst="ellipse">
            <a:avLst/>
          </a:prstGeom>
          <a:solidFill>
            <a:schemeClr val="accent1">
              <a:alpha val="10000"/>
            </a:schemeClr>
          </a:solidFill>
          <a:ln w="12700">
            <a:solidFill>
              <a:schemeClr val="bg1">
                <a:alpha val="0"/>
              </a:schemeClr>
            </a:solidFill>
            <a:prstDash val="solid"/>
          </a:ln>
        </p:spPr>
      </p:sp>
      <p:sp>
        <p:nvSpPr>
          <p:cNvPr id="4" name="Shape 2"/>
          <p:cNvSpPr/>
          <p:nvPr/>
        </p:nvSpPr>
        <p:spPr>
          <a:xfrm>
            <a:off x="548640" y="502920"/>
            <a:ext cx="868680" cy="868680"/>
          </a:xfrm>
          <a:prstGeom prst="roundRect">
            <a:avLst>
              <a:gd name="adj" fmla="val 10526"/>
            </a:avLst>
          </a:prstGeom>
          <a:solidFill>
            <a:srgbClr val="FFFFFF"/>
          </a:solidFill>
          <a:ln w="9525">
            <a:solidFill>
              <a:schemeClr val="accent3"/>
            </a:solidFill>
            <a:prstDash val="solid"/>
          </a:ln>
        </p:spPr>
      </p:sp>
      <p:pic>
        <p:nvPicPr>
          <p:cNvPr id="5" name="Image 0" descr="img/p-000.png">    </p:cNvPr>
          <p:cNvPicPr>
            <a:picLocks noChangeAspect="1"/>
          </p:cNvPicPr>
          <p:nvPr/>
        </p:nvPicPr>
        <p:blipFill>
          <a:blip r:embed="rId1"/>
          <a:stretch>
            <a:fillRect/>
          </a:stretch>
        </p:blipFill>
        <p:spPr>
          <a:xfrm>
            <a:off x="612648" y="566928"/>
            <a:ext cx="740664" cy="749808"/>
          </a:xfrm>
          <a:prstGeom prst="rect">
            <a:avLst/>
          </a:prstGeom>
        </p:spPr>
      </p:pic>
      <p:sp>
        <p:nvSpPr>
          <p:cNvPr id="6" name="Text 3"/>
          <p:cNvSpPr txBox="1"/>
          <p:nvPr/>
        </p:nvSpPr>
        <p:spPr>
          <a:xfrm>
            <a:off x="1600200" y="594360"/>
            <a:ext cx="6400800" cy="731520"/>
          </a:xfrm>
          <a:prstGeom prst="rect">
            <a:avLst/>
          </a:prstGeom>
          <a:noFill/>
          <a:ln/>
        </p:spPr>
        <p:txBody>
          <a:bodyPr wrap="square" lIns="0" tIns="0" rIns="0" bIns="0" rtlCol="0" anchor="ctr"/>
          <a:lstStyle/>
          <a:p>
            <a:pPr indent="0" marL="0">
              <a:buNone/>
            </a:pPr>
            <a:r>
              <a:rPr lang="en-US" sz="1300" b="1" dirty="0">
                <a:solidFill>
                  <a:schemeClr val="tx2"/>
                </a:solidFill>
              </a:rPr>
              <a:t>UNIVERSITY COLLEGE OF ENGINEERING, BIT CAMPUS</a:t>
            </a:r>
            <a:endParaRPr lang="en-US" sz="1300" dirty="0"/>
          </a:p>
          <a:p>
            <a:pPr indent="0" marL="0">
              <a:buNone/>
            </a:pPr>
            <a:r>
              <a:rPr lang="en-US" sz="1300" dirty="0">
                <a:solidFill>
                  <a:schemeClr val="tx2"/>
                </a:solidFill>
              </a:rPr>
              <a:t>Anna University, Tiruchirappalli – 620 024</a:t>
            </a:r>
            <a:endParaRPr lang="en-US" sz="1300" dirty="0"/>
          </a:p>
        </p:txBody>
      </p:sp>
      <p:sp>
        <p:nvSpPr>
          <p:cNvPr id="7" name="Text 4"/>
          <p:cNvSpPr txBox="1"/>
          <p:nvPr/>
        </p:nvSpPr>
        <p:spPr>
          <a:xfrm>
            <a:off x="548640" y="1965960"/>
            <a:ext cx="7315200" cy="274320"/>
          </a:xfrm>
          <a:prstGeom prst="rect">
            <a:avLst/>
          </a:prstGeom>
          <a:noFill/>
          <a:ln/>
        </p:spPr>
        <p:txBody>
          <a:bodyPr wrap="square" lIns="0" tIns="0" rIns="0" bIns="0" rtlCol="0" anchor="t"/>
          <a:lstStyle/>
          <a:p>
            <a:pPr indent="0" marL="0">
              <a:buNone/>
            </a:pPr>
            <a:r>
              <a:rPr lang="en-US" sz="1300" b="1" spc="400" kern="0" dirty="0">
                <a:solidFill>
                  <a:schemeClr val="accent1"/>
                </a:solidFill>
              </a:rPr>
              <a:t>SUMMER INTERNSHIP REVIEW  |  IT3711</a:t>
            </a:r>
            <a:endParaRPr lang="en-US" sz="1300" dirty="0"/>
          </a:p>
        </p:txBody>
      </p:sp>
      <p:sp>
        <p:nvSpPr>
          <p:cNvPr id="8" name="Text 5"/>
          <p:cNvSpPr txBox="1"/>
          <p:nvPr/>
        </p:nvSpPr>
        <p:spPr>
          <a:xfrm>
            <a:off x="548640" y="2331720"/>
            <a:ext cx="8686800" cy="914400"/>
          </a:xfrm>
          <a:prstGeom prst="rect">
            <a:avLst/>
          </a:prstGeom>
          <a:noFill/>
          <a:ln/>
        </p:spPr>
        <p:txBody>
          <a:bodyPr wrap="square" lIns="0" tIns="0" rIns="0" bIns="0" rtlCol="0" anchor="ctr"/>
          <a:lstStyle/>
          <a:p>
            <a:pPr indent="0" marL="0">
              <a:buNone/>
            </a:pPr>
            <a:r>
              <a:rPr lang="en-US" sz="4800" b="1" dirty="0">
                <a:solidFill>
                  <a:schemeClr val="tx1"/>
                </a:solidFill>
              </a:rPr>
              <a:t>STUDENT MANAGEMENT SYSTEM</a:t>
            </a:r>
            <a:endParaRPr lang="en-US" sz="4800" dirty="0"/>
          </a:p>
        </p:txBody>
      </p:sp>
      <p:sp>
        <p:nvSpPr>
          <p:cNvPr id="9" name="Text 6"/>
          <p:cNvSpPr txBox="1"/>
          <p:nvPr/>
        </p:nvSpPr>
        <p:spPr>
          <a:xfrm>
            <a:off x="548640" y="3337560"/>
            <a:ext cx="7498080" cy="731520"/>
          </a:xfrm>
          <a:prstGeom prst="rect">
            <a:avLst/>
          </a:prstGeom>
          <a:noFill/>
          <a:ln/>
        </p:spPr>
        <p:txBody>
          <a:bodyPr wrap="square" lIns="0" tIns="0" rIns="0" bIns="0" rtlCol="0" anchor="t"/>
          <a:lstStyle/>
          <a:p>
            <a:pPr indent="0" marL="0">
              <a:buNone/>
            </a:pPr>
            <a:r>
              <a:rPr lang="en-US" sz="1800" dirty="0">
                <a:solidFill>
                  <a:schemeClr val="tx2"/>
                </a:solidFill>
              </a:rPr>
              <a:t>Learning Java enterprise development through the design of an academic records system</a:t>
            </a:r>
            <a:endParaRPr lang="en-US" sz="1800" dirty="0"/>
          </a:p>
        </p:txBody>
      </p:sp>
      <p:sp>
        <p:nvSpPr>
          <p:cNvPr id="10" name="Card 1"/>
          <p:cNvSpPr/>
          <p:nvPr/>
        </p:nvSpPr>
        <p:spPr>
          <a:xfrm>
            <a:off x="548640" y="4434840"/>
            <a:ext cx="6766560" cy="1554480"/>
          </a:xfrm>
          <a:prstGeom prst="roundRect">
            <a:avLst>
              <a:gd name="adj" fmla="val 4706"/>
            </a:avLst>
          </a:prstGeom>
          <a:solidFill>
            <a:schemeClr val="bg2"/>
          </a:solidFill>
          <a:ln w="9525">
            <a:solidFill>
              <a:schemeClr val="accent3"/>
            </a:solidFill>
            <a:prstDash val="solid"/>
          </a:ln>
        </p:spPr>
      </p:sp>
      <p:sp>
        <p:nvSpPr>
          <p:cNvPr id="11" name="Text 8"/>
          <p:cNvSpPr txBox="1"/>
          <p:nvPr/>
        </p:nvSpPr>
        <p:spPr>
          <a:xfrm>
            <a:off x="822960" y="4572000"/>
            <a:ext cx="6309360" cy="914400"/>
          </a:xfrm>
          <a:prstGeom prst="rect">
            <a:avLst/>
          </a:prstGeom>
          <a:noFill/>
          <a:ln/>
        </p:spPr>
        <p:txBody>
          <a:bodyPr wrap="square" lIns="0" tIns="0" rIns="0" bIns="0" rtlCol="0" anchor="t"/>
          <a:lstStyle/>
          <a:p>
            <a:pPr indent="0" marL="0">
              <a:buNone/>
            </a:pPr>
            <a:r>
              <a:rPr lang="en-US" sz="2000" b="1" dirty="0">
                <a:solidFill>
                  <a:schemeClr val="tx1"/>
                </a:solidFill>
              </a:rPr>
              <a:t>Deepan Raja G</a:t>
            </a:r>
            <a:endParaRPr lang="en-US" sz="1400" dirty="0"/>
          </a:p>
          <a:p>
            <a:pPr indent="0" marL="0">
              <a:buNone/>
            </a:pPr>
            <a:r>
              <a:rPr lang="en-US" sz="1400" b="1" dirty="0">
                <a:solidFill>
                  <a:schemeClr val="accent1"/>
                </a:solidFill>
              </a:rPr>
              <a:t>Register No. 810023205049</a:t>
            </a:r>
            <a:endParaRPr lang="en-US" sz="1400" dirty="0"/>
          </a:p>
          <a:p>
            <a:pPr indent="0" marL="0">
              <a:buNone/>
            </a:pPr>
            <a:r>
              <a:rPr lang="en-US" sz="1300" dirty="0">
                <a:solidFill>
                  <a:schemeClr val="tx2"/>
                </a:solidFill>
              </a:rPr>
              <a:t>B.Tech Information Technology  |  Seventh Semester</a:t>
            </a:r>
            <a:endParaRPr lang="en-US" sz="1400" dirty="0"/>
          </a:p>
        </p:txBody>
      </p:sp>
      <p:sp>
        <p:nvSpPr>
          <p:cNvPr id="12" name="Text 9"/>
          <p:cNvSpPr txBox="1"/>
          <p:nvPr/>
        </p:nvSpPr>
        <p:spPr>
          <a:xfrm>
            <a:off x="822960" y="5532120"/>
            <a:ext cx="6309360" cy="320040"/>
          </a:xfrm>
          <a:prstGeom prst="rect">
            <a:avLst/>
          </a:prstGeom>
          <a:noFill/>
          <a:ln/>
        </p:spPr>
        <p:txBody>
          <a:bodyPr wrap="square" lIns="0" tIns="0" rIns="0" bIns="0" rtlCol="0" anchor="t"/>
          <a:lstStyle/>
          <a:p>
            <a:pPr indent="0" marL="0">
              <a:buNone/>
            </a:pPr>
            <a:r>
              <a:rPr lang="en-US" sz="1300" dirty="0">
                <a:solidFill>
                  <a:schemeClr val="tx1"/>
                </a:solidFill>
              </a:rPr>
              <a:t>Internship: Fantasy Solution, Tiruchirappalli   |   01 June 2026 – 30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Internship Overview</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01  OVERVIEW</a:t>
            </a:r>
            <a:endParaRPr lang="en-US" sz="1100" dirty="0"/>
          </a:p>
        </p:txBody>
      </p:sp>
      <p:sp>
        <p:nvSpPr>
          <p:cNvPr id="4" name="Card 2"/>
          <p:cNvSpPr/>
          <p:nvPr/>
        </p:nvSpPr>
        <p:spPr>
          <a:xfrm>
            <a:off x="548640" y="1417320"/>
            <a:ext cx="5669280" cy="804672"/>
          </a:xfrm>
          <a:prstGeom prst="roundRect">
            <a:avLst>
              <a:gd name="adj" fmla="val 9091"/>
            </a:avLst>
          </a:prstGeom>
          <a:solidFill>
            <a:schemeClr val="bg2"/>
          </a:solidFill>
          <a:ln w="9525">
            <a:solidFill>
              <a:schemeClr val="accent3"/>
            </a:solidFill>
            <a:prstDash val="solid"/>
          </a:ln>
        </p:spPr>
      </p:sp>
      <p:sp>
        <p:nvSpPr>
          <p:cNvPr id="5" name="Shape 3"/>
          <p:cNvSpPr/>
          <p:nvPr/>
        </p:nvSpPr>
        <p:spPr>
          <a:xfrm>
            <a:off x="731520" y="1591056"/>
            <a:ext cx="457200" cy="457200"/>
          </a:xfrm>
          <a:prstGeom prst="ellipse">
            <a:avLst/>
          </a:prstGeom>
          <a:solidFill>
            <a:schemeClr val="accent5"/>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50392" y="1709928"/>
            <a:ext cx="219456" cy="219456"/>
          </a:xfrm>
          <a:prstGeom prst="rect">
            <a:avLst/>
          </a:prstGeom>
        </p:spPr>
      </p:pic>
      <p:sp>
        <p:nvSpPr>
          <p:cNvPr id="7" name="Text 4"/>
          <p:cNvSpPr txBox="1"/>
          <p:nvPr/>
        </p:nvSpPr>
        <p:spPr>
          <a:xfrm>
            <a:off x="1417320" y="1527048"/>
            <a:ext cx="4663440" cy="640080"/>
          </a:xfrm>
          <a:prstGeom prst="rect">
            <a:avLst/>
          </a:prstGeom>
          <a:noFill/>
          <a:ln/>
        </p:spPr>
        <p:txBody>
          <a:bodyPr wrap="square" lIns="0" tIns="0" rIns="0" bIns="0" rtlCol="0" anchor="ctr"/>
          <a:lstStyle/>
          <a:p>
            <a:pPr indent="0" marL="0">
              <a:buNone/>
            </a:pPr>
            <a:r>
              <a:rPr lang="en-US" sz="1000" b="1" spc="200" kern="0" dirty="0">
                <a:solidFill>
                  <a:schemeClr val="accent1"/>
                </a:solidFill>
              </a:rPr>
              <a:t>ORGANIZATION</a:t>
            </a:r>
            <a:endParaRPr lang="en-US" sz="1400" dirty="0"/>
          </a:p>
          <a:p>
            <a:pPr indent="0" marL="0">
              <a:buNone/>
            </a:pPr>
            <a:r>
              <a:rPr lang="en-US" sz="1400" dirty="0">
                <a:solidFill>
                  <a:schemeClr val="tx1"/>
                </a:solidFill>
              </a:rPr>
              <a:t>Fantasy Solution, Melapudur, Trichy – 620 001</a:t>
            </a:r>
            <a:endParaRPr lang="en-US" sz="1400" dirty="0"/>
          </a:p>
        </p:txBody>
      </p:sp>
      <p:sp>
        <p:nvSpPr>
          <p:cNvPr id="8" name="Card 3"/>
          <p:cNvSpPr/>
          <p:nvPr/>
        </p:nvSpPr>
        <p:spPr>
          <a:xfrm>
            <a:off x="548640" y="2350008"/>
            <a:ext cx="5669280" cy="804672"/>
          </a:xfrm>
          <a:prstGeom prst="roundRect">
            <a:avLst>
              <a:gd name="adj" fmla="val 9091"/>
            </a:avLst>
          </a:prstGeom>
          <a:solidFill>
            <a:schemeClr val="bg2"/>
          </a:solidFill>
          <a:ln w="9525">
            <a:solidFill>
              <a:schemeClr val="accent3"/>
            </a:solidFill>
            <a:prstDash val="solid"/>
          </a:ln>
        </p:spPr>
      </p:sp>
      <p:sp>
        <p:nvSpPr>
          <p:cNvPr id="9" name="Shape 6"/>
          <p:cNvSpPr/>
          <p:nvPr/>
        </p:nvSpPr>
        <p:spPr>
          <a:xfrm>
            <a:off x="731520" y="2523744"/>
            <a:ext cx="457200" cy="457200"/>
          </a:xfrm>
          <a:prstGeom prst="ellipse">
            <a:avLst/>
          </a:prstGeom>
          <a:solidFill>
            <a:schemeClr val="accent5"/>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850392" y="2642616"/>
            <a:ext cx="219456" cy="219456"/>
          </a:xfrm>
          <a:prstGeom prst="rect">
            <a:avLst/>
          </a:prstGeom>
        </p:spPr>
      </p:pic>
      <p:sp>
        <p:nvSpPr>
          <p:cNvPr id="11" name="Text 7"/>
          <p:cNvSpPr txBox="1"/>
          <p:nvPr/>
        </p:nvSpPr>
        <p:spPr>
          <a:xfrm>
            <a:off x="1417320" y="2459736"/>
            <a:ext cx="4663440" cy="640080"/>
          </a:xfrm>
          <a:prstGeom prst="rect">
            <a:avLst/>
          </a:prstGeom>
          <a:noFill/>
          <a:ln/>
        </p:spPr>
        <p:txBody>
          <a:bodyPr wrap="square" lIns="0" tIns="0" rIns="0" bIns="0" rtlCol="0" anchor="ctr"/>
          <a:lstStyle/>
          <a:p>
            <a:pPr indent="0" marL="0">
              <a:buNone/>
            </a:pPr>
            <a:r>
              <a:rPr lang="en-US" sz="1000" b="1" spc="200" kern="0" dirty="0">
                <a:solidFill>
                  <a:schemeClr val="accent1"/>
                </a:solidFill>
              </a:rPr>
              <a:t>DURATION</a:t>
            </a:r>
            <a:endParaRPr lang="en-US" sz="1400" dirty="0"/>
          </a:p>
          <a:p>
            <a:pPr indent="0" marL="0">
              <a:buNone/>
            </a:pPr>
            <a:r>
              <a:rPr lang="en-US" sz="1400" dirty="0">
                <a:solidFill>
                  <a:schemeClr val="tx1"/>
                </a:solidFill>
              </a:rPr>
              <a:t>01 June 2026 – 30 June 2026 (30 days)</a:t>
            </a:r>
            <a:endParaRPr lang="en-US" sz="1400" dirty="0"/>
          </a:p>
        </p:txBody>
      </p:sp>
      <p:sp>
        <p:nvSpPr>
          <p:cNvPr id="12" name="Card 4"/>
          <p:cNvSpPr/>
          <p:nvPr/>
        </p:nvSpPr>
        <p:spPr>
          <a:xfrm>
            <a:off x="548640" y="3282696"/>
            <a:ext cx="5669280" cy="804672"/>
          </a:xfrm>
          <a:prstGeom prst="roundRect">
            <a:avLst>
              <a:gd name="adj" fmla="val 9091"/>
            </a:avLst>
          </a:prstGeom>
          <a:solidFill>
            <a:schemeClr val="bg2"/>
          </a:solidFill>
          <a:ln w="9525">
            <a:solidFill>
              <a:schemeClr val="accent3"/>
            </a:solidFill>
            <a:prstDash val="solid"/>
          </a:ln>
        </p:spPr>
      </p:sp>
      <p:sp>
        <p:nvSpPr>
          <p:cNvPr id="13" name="Shape 9"/>
          <p:cNvSpPr/>
          <p:nvPr/>
        </p:nvSpPr>
        <p:spPr>
          <a:xfrm>
            <a:off x="731520" y="3456432"/>
            <a:ext cx="457200" cy="457200"/>
          </a:xfrm>
          <a:prstGeom prst="ellipse">
            <a:avLst/>
          </a:prstGeom>
          <a:solidFill>
            <a:schemeClr val="accent5"/>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850392" y="3575304"/>
            <a:ext cx="219456" cy="219456"/>
          </a:xfrm>
          <a:prstGeom prst="rect">
            <a:avLst/>
          </a:prstGeom>
        </p:spPr>
      </p:pic>
      <p:sp>
        <p:nvSpPr>
          <p:cNvPr id="15" name="Text 10"/>
          <p:cNvSpPr txBox="1"/>
          <p:nvPr/>
        </p:nvSpPr>
        <p:spPr>
          <a:xfrm>
            <a:off x="1417320" y="3392424"/>
            <a:ext cx="4663440" cy="640080"/>
          </a:xfrm>
          <a:prstGeom prst="rect">
            <a:avLst/>
          </a:prstGeom>
          <a:noFill/>
          <a:ln/>
        </p:spPr>
        <p:txBody>
          <a:bodyPr wrap="square" lIns="0" tIns="0" rIns="0" bIns="0" rtlCol="0" anchor="ctr"/>
          <a:lstStyle/>
          <a:p>
            <a:pPr indent="0" marL="0">
              <a:buNone/>
            </a:pPr>
            <a:r>
              <a:rPr lang="en-US" sz="1000" b="1" spc="200" kern="0" dirty="0">
                <a:solidFill>
                  <a:schemeClr val="accent1"/>
                </a:solidFill>
              </a:rPr>
              <a:t>DOMAIN</a:t>
            </a:r>
            <a:endParaRPr lang="en-US" sz="1400" dirty="0"/>
          </a:p>
          <a:p>
            <a:pPr indent="0" marL="0">
              <a:buNone/>
            </a:pPr>
            <a:r>
              <a:rPr lang="en-US" sz="1400" dirty="0">
                <a:solidFill>
                  <a:schemeClr val="tx1"/>
                </a:solidFill>
              </a:rPr>
              <a:t>Java enterprise application development</a:t>
            </a:r>
            <a:endParaRPr lang="en-US" sz="1400" dirty="0"/>
          </a:p>
        </p:txBody>
      </p:sp>
      <p:sp>
        <p:nvSpPr>
          <p:cNvPr id="16" name="Card 5"/>
          <p:cNvSpPr/>
          <p:nvPr/>
        </p:nvSpPr>
        <p:spPr>
          <a:xfrm>
            <a:off x="548640" y="4215384"/>
            <a:ext cx="5669280" cy="804672"/>
          </a:xfrm>
          <a:prstGeom prst="roundRect">
            <a:avLst>
              <a:gd name="adj" fmla="val 9091"/>
            </a:avLst>
          </a:prstGeom>
          <a:solidFill>
            <a:schemeClr val="bg2"/>
          </a:solidFill>
          <a:ln w="9525">
            <a:solidFill>
              <a:schemeClr val="accent3"/>
            </a:solidFill>
            <a:prstDash val="solid"/>
          </a:ln>
        </p:spPr>
      </p:sp>
      <p:sp>
        <p:nvSpPr>
          <p:cNvPr id="17" name="Shape 12"/>
          <p:cNvSpPr/>
          <p:nvPr/>
        </p:nvSpPr>
        <p:spPr>
          <a:xfrm>
            <a:off x="731520" y="4389120"/>
            <a:ext cx="457200" cy="457200"/>
          </a:xfrm>
          <a:prstGeom prst="ellipse">
            <a:avLst/>
          </a:prstGeom>
          <a:solidFill>
            <a:schemeClr val="accent5"/>
          </a:solidFill>
          <a:ln w="12700">
            <a:solidFill>
              <a:schemeClr val="accent1"/>
            </a:solidFill>
            <a:prstDash val="solid"/>
          </a:ln>
        </p:spPr>
      </p:sp>
      <p:pic>
        <p:nvPicPr>
          <p:cNvPr id="18" name="Image 3" descr="preencoded.png">    </p:cNvPr>
          <p:cNvPicPr>
            <a:picLocks noChangeAspect="1"/>
          </p:cNvPicPr>
          <p:nvPr/>
        </p:nvPicPr>
        <p:blipFill>
          <a:blip r:embed="rId4"/>
          <a:stretch>
            <a:fillRect/>
          </a:stretch>
        </p:blipFill>
        <p:spPr>
          <a:xfrm>
            <a:off x="850392" y="4507992"/>
            <a:ext cx="219456" cy="219456"/>
          </a:xfrm>
          <a:prstGeom prst="rect">
            <a:avLst/>
          </a:prstGeom>
        </p:spPr>
      </p:pic>
      <p:sp>
        <p:nvSpPr>
          <p:cNvPr id="19" name="Text 13"/>
          <p:cNvSpPr txBox="1"/>
          <p:nvPr/>
        </p:nvSpPr>
        <p:spPr>
          <a:xfrm>
            <a:off x="1417320" y="4325112"/>
            <a:ext cx="4663440" cy="640080"/>
          </a:xfrm>
          <a:prstGeom prst="rect">
            <a:avLst/>
          </a:prstGeom>
          <a:noFill/>
          <a:ln/>
        </p:spPr>
        <p:txBody>
          <a:bodyPr wrap="square" lIns="0" tIns="0" rIns="0" bIns="0" rtlCol="0" anchor="ctr"/>
          <a:lstStyle/>
          <a:p>
            <a:pPr indent="0" marL="0">
              <a:buNone/>
            </a:pPr>
            <a:r>
              <a:rPr lang="en-US" sz="1000" b="1" spc="200" kern="0" dirty="0">
                <a:solidFill>
                  <a:schemeClr val="accent1"/>
                </a:solidFill>
              </a:rPr>
              <a:t>PROJECT TITLE</a:t>
            </a:r>
            <a:endParaRPr lang="en-US" sz="1400" dirty="0"/>
          </a:p>
          <a:p>
            <a:pPr indent="0" marL="0">
              <a:buNone/>
            </a:pPr>
            <a:r>
              <a:rPr lang="en-US" sz="1400" dirty="0">
                <a:solidFill>
                  <a:schemeClr val="tx1"/>
                </a:solidFill>
              </a:rPr>
              <a:t>Student Management System</a:t>
            </a:r>
            <a:endParaRPr lang="en-US" sz="1400" dirty="0"/>
          </a:p>
        </p:txBody>
      </p:sp>
      <p:sp>
        <p:nvSpPr>
          <p:cNvPr id="20" name="Card 6"/>
          <p:cNvSpPr/>
          <p:nvPr/>
        </p:nvSpPr>
        <p:spPr>
          <a:xfrm>
            <a:off x="548640" y="5148072"/>
            <a:ext cx="5669280" cy="804672"/>
          </a:xfrm>
          <a:prstGeom prst="roundRect">
            <a:avLst>
              <a:gd name="adj" fmla="val 9091"/>
            </a:avLst>
          </a:prstGeom>
          <a:solidFill>
            <a:schemeClr val="bg2"/>
          </a:solidFill>
          <a:ln w="9525">
            <a:solidFill>
              <a:schemeClr val="accent3"/>
            </a:solidFill>
            <a:prstDash val="solid"/>
          </a:ln>
        </p:spPr>
      </p:sp>
      <p:sp>
        <p:nvSpPr>
          <p:cNvPr id="21" name="Shape 15"/>
          <p:cNvSpPr/>
          <p:nvPr/>
        </p:nvSpPr>
        <p:spPr>
          <a:xfrm>
            <a:off x="731520" y="5321808"/>
            <a:ext cx="457200" cy="457200"/>
          </a:xfrm>
          <a:prstGeom prst="ellipse">
            <a:avLst/>
          </a:prstGeom>
          <a:solidFill>
            <a:schemeClr val="accent5"/>
          </a:solidFill>
          <a:ln w="12700">
            <a:solidFill>
              <a:schemeClr val="accent1"/>
            </a:solidFill>
            <a:prstDash val="solid"/>
          </a:ln>
        </p:spPr>
      </p:sp>
      <p:pic>
        <p:nvPicPr>
          <p:cNvPr id="22" name="Image 4" descr="preencoded.png">    </p:cNvPr>
          <p:cNvPicPr>
            <a:picLocks noChangeAspect="1"/>
          </p:cNvPicPr>
          <p:nvPr/>
        </p:nvPicPr>
        <p:blipFill>
          <a:blip r:embed="rId5"/>
          <a:stretch>
            <a:fillRect/>
          </a:stretch>
        </p:blipFill>
        <p:spPr>
          <a:xfrm>
            <a:off x="850392" y="5440680"/>
            <a:ext cx="219456" cy="219456"/>
          </a:xfrm>
          <a:prstGeom prst="rect">
            <a:avLst/>
          </a:prstGeom>
        </p:spPr>
      </p:pic>
      <p:sp>
        <p:nvSpPr>
          <p:cNvPr id="23" name="Text 16"/>
          <p:cNvSpPr txBox="1"/>
          <p:nvPr/>
        </p:nvSpPr>
        <p:spPr>
          <a:xfrm>
            <a:off x="1417320" y="5257800"/>
            <a:ext cx="4663440" cy="640080"/>
          </a:xfrm>
          <a:prstGeom prst="rect">
            <a:avLst/>
          </a:prstGeom>
          <a:noFill/>
          <a:ln/>
        </p:spPr>
        <p:txBody>
          <a:bodyPr wrap="square" lIns="0" tIns="0" rIns="0" bIns="0" rtlCol="0" anchor="ctr"/>
          <a:lstStyle/>
          <a:p>
            <a:pPr indent="0" marL="0">
              <a:buNone/>
            </a:pPr>
            <a:r>
              <a:rPr lang="en-US" sz="1000" b="1" spc="200" kern="0" dirty="0">
                <a:solidFill>
                  <a:schemeClr val="accent1"/>
                </a:solidFill>
              </a:rPr>
              <a:t>INDUSTRIAL EXPERT</a:t>
            </a:r>
            <a:endParaRPr lang="en-US" sz="1400" dirty="0"/>
          </a:p>
          <a:p>
            <a:pPr indent="0" marL="0">
              <a:buNone/>
            </a:pPr>
            <a:r>
              <a:rPr lang="en-US" sz="1400" dirty="0">
                <a:solidFill>
                  <a:schemeClr val="tx1"/>
                </a:solidFill>
              </a:rPr>
              <a:t>Mr. Bragatheesh, Software Developer (MCA)</a:t>
            </a:r>
            <a:endParaRPr lang="en-US" sz="1400" dirty="0"/>
          </a:p>
        </p:txBody>
      </p:sp>
      <p:sp>
        <p:nvSpPr>
          <p:cNvPr id="24" name="Card 7"/>
          <p:cNvSpPr/>
          <p:nvPr/>
        </p:nvSpPr>
        <p:spPr>
          <a:xfrm>
            <a:off x="6583680" y="1417320"/>
            <a:ext cx="5056632" cy="4572000"/>
          </a:xfrm>
          <a:prstGeom prst="roundRect">
            <a:avLst>
              <a:gd name="adj" fmla="val 1600"/>
            </a:avLst>
          </a:prstGeom>
          <a:solidFill>
            <a:schemeClr val="accent5"/>
          </a:solidFill>
          <a:ln w="9525">
            <a:solidFill>
              <a:schemeClr val="accent3"/>
            </a:solidFill>
            <a:prstDash val="solid"/>
          </a:ln>
        </p:spPr>
      </p:sp>
      <p:sp>
        <p:nvSpPr>
          <p:cNvPr id="25" name="Text 18"/>
          <p:cNvSpPr txBox="1"/>
          <p:nvPr/>
        </p:nvSpPr>
        <p:spPr>
          <a:xfrm>
            <a:off x="6903720" y="1600200"/>
            <a:ext cx="4480560" cy="365760"/>
          </a:xfrm>
          <a:prstGeom prst="rect">
            <a:avLst/>
          </a:prstGeom>
          <a:noFill/>
          <a:ln/>
        </p:spPr>
        <p:txBody>
          <a:bodyPr wrap="square" lIns="0" tIns="0" rIns="0" bIns="0" rtlCol="0" anchor="t"/>
          <a:lstStyle/>
          <a:p>
            <a:pPr indent="0" marL="0">
              <a:buNone/>
            </a:pPr>
            <a:r>
              <a:rPr lang="en-US" sz="2000" b="1" dirty="0">
                <a:solidFill>
                  <a:schemeClr val="accent1"/>
                </a:solidFill>
              </a:rPr>
              <a:t>Learning Objectives</a:t>
            </a:r>
            <a:endParaRPr lang="en-US" sz="2000" dirty="0"/>
          </a:p>
        </p:txBody>
      </p:sp>
      <p:sp>
        <p:nvSpPr>
          <p:cNvPr id="26" name="Text 19"/>
          <p:cNvSpPr txBox="1"/>
          <p:nvPr/>
        </p:nvSpPr>
        <p:spPr>
          <a:xfrm>
            <a:off x="6903720" y="2057400"/>
            <a:ext cx="4434840" cy="3840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How a professional software team plans, builds, tests and delivers applications</a:t>
            </a:r>
            <a:endParaRPr lang="en-US" sz="1400" dirty="0"/>
          </a:p>
          <a:p>
            <a:pPr marL="177800" indent="-177800">
              <a:spcAft>
                <a:spcPts val="600"/>
              </a:spcAft>
              <a:buSzPct val="100000"/>
              <a:buChar char="•"/>
            </a:pPr>
            <a:r>
              <a:rPr lang="en-US" sz="1400" dirty="0">
                <a:solidFill>
                  <a:schemeClr val="tx1"/>
                </a:solidFill>
              </a:rPr>
              <a:t>Strengthen core and advanced Java: OOP, collections, multithreading, JDBC</a:t>
            </a:r>
            <a:endParaRPr lang="en-US" sz="1400" dirty="0"/>
          </a:p>
          <a:p>
            <a:pPr marL="177800" indent="-177800">
              <a:spcAft>
                <a:spcPts val="600"/>
              </a:spcAft>
              <a:buSzPct val="100000"/>
              <a:buChar char="•"/>
            </a:pPr>
            <a:r>
              <a:rPr lang="en-US" sz="1400" dirty="0">
                <a:solidFill>
                  <a:schemeClr val="tx1"/>
                </a:solidFill>
              </a:rPr>
              <a:t>Hands-on with Servlets, JSP, Spring Boot, Hibernate and Spring Security</a:t>
            </a:r>
            <a:endParaRPr lang="en-US" sz="1400" dirty="0"/>
          </a:p>
          <a:p>
            <a:pPr marL="177800" indent="-177800">
              <a:spcAft>
                <a:spcPts val="600"/>
              </a:spcAft>
              <a:buSzPct val="100000"/>
              <a:buChar char="•"/>
            </a:pPr>
            <a:r>
              <a:rPr lang="en-US" sz="1400" dirty="0">
                <a:solidFill>
                  <a:schemeClr val="tx1"/>
                </a:solidFill>
              </a:rPr>
              <a:t>Apply them to a project: analysis, design, implementation, testing</a:t>
            </a:r>
            <a:endParaRPr lang="en-US" sz="1400" dirty="0"/>
          </a:p>
          <a:p>
            <a:pPr marL="177800" indent="-177800">
              <a:spcAft>
                <a:spcPts val="600"/>
              </a:spcAft>
              <a:buSzPct val="100000"/>
              <a:buChar char="•"/>
            </a:pPr>
            <a:r>
              <a:rPr lang="en-US" sz="1400" dirty="0">
                <a:solidFill>
                  <a:schemeClr val="tx1"/>
                </a:solidFill>
              </a:rPr>
              <a:t>Build professional habits: documentation, version control, code review</a:t>
            </a:r>
            <a:endParaRPr lang="en-US" sz="14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Organization Profile: Fantasy Solution</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02  ORGANIZATION</a:t>
            </a:r>
            <a:endParaRPr lang="en-US" sz="1100" dirty="0"/>
          </a:p>
        </p:txBody>
      </p:sp>
      <p:sp>
        <p:nvSpPr>
          <p:cNvPr id="4" name="Card 8"/>
          <p:cNvSpPr/>
          <p:nvPr/>
        </p:nvSpPr>
        <p:spPr>
          <a:xfrm>
            <a:off x="548640" y="1417320"/>
            <a:ext cx="5394960" cy="2148840"/>
          </a:xfrm>
          <a:prstGeom prst="roundRect">
            <a:avLst>
              <a:gd name="adj" fmla="val 3404"/>
            </a:avLst>
          </a:prstGeom>
          <a:solidFill>
            <a:schemeClr val="bg2"/>
          </a:solidFill>
          <a:ln w="9525">
            <a:solidFill>
              <a:schemeClr val="accent3"/>
            </a:solidFill>
            <a:prstDash val="solid"/>
          </a:ln>
        </p:spPr>
      </p:sp>
      <p:sp>
        <p:nvSpPr>
          <p:cNvPr id="5" name="Text 3"/>
          <p:cNvSpPr txBox="1"/>
          <p:nvPr/>
        </p:nvSpPr>
        <p:spPr>
          <a:xfrm>
            <a:off x="822960" y="1554480"/>
            <a:ext cx="4572000" cy="320040"/>
          </a:xfrm>
          <a:prstGeom prst="rect">
            <a:avLst/>
          </a:prstGeom>
          <a:noFill/>
          <a:ln/>
        </p:spPr>
        <p:txBody>
          <a:bodyPr wrap="square" lIns="0" tIns="0" rIns="0" bIns="0" rtlCol="0" anchor="t"/>
          <a:lstStyle/>
          <a:p>
            <a:pPr indent="0" marL="0">
              <a:buNone/>
            </a:pPr>
            <a:r>
              <a:rPr lang="en-US" sz="1800" b="1" dirty="0">
                <a:solidFill>
                  <a:schemeClr val="accent1"/>
                </a:solidFill>
              </a:rPr>
              <a:t>About</a:t>
            </a:r>
            <a:endParaRPr lang="en-US" sz="1800" dirty="0"/>
          </a:p>
        </p:txBody>
      </p:sp>
      <p:sp>
        <p:nvSpPr>
          <p:cNvPr id="6" name="Text 4"/>
          <p:cNvSpPr txBox="1"/>
          <p:nvPr/>
        </p:nvSpPr>
        <p:spPr>
          <a:xfrm>
            <a:off x="822960" y="1965960"/>
            <a:ext cx="4846320"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IT solution and service provider for businesses, institutions and individuals</a:t>
            </a:r>
            <a:endParaRPr lang="en-US" sz="1400" dirty="0"/>
          </a:p>
          <a:p>
            <a:pPr marL="177800" indent="-177800">
              <a:spcAft>
                <a:spcPts val="600"/>
              </a:spcAft>
              <a:buSzPct val="100000"/>
              <a:buChar char="•"/>
            </a:pPr>
            <a:r>
              <a:rPr lang="en-US" sz="1400" dirty="0">
                <a:solidFill>
                  <a:schemeClr val="tx1"/>
                </a:solidFill>
              </a:rPr>
              <a:t>Portfolio: real-time projects, web design, web hosting, software development, training</a:t>
            </a:r>
            <a:endParaRPr lang="en-US" sz="1400" dirty="0"/>
          </a:p>
          <a:p>
            <a:pPr marL="177800" indent="-177800">
              <a:spcAft>
                <a:spcPts val="600"/>
              </a:spcAft>
              <a:buSzPct val="100000"/>
              <a:buChar char="•"/>
            </a:pPr>
            <a:r>
              <a:rPr lang="en-US" sz="1400" dirty="0">
                <a:solidFill>
                  <a:schemeClr val="tx1"/>
                </a:solidFill>
              </a:rPr>
              <a:t>Brand commitment: “Beyond Technology”</a:t>
            </a:r>
            <a:endParaRPr lang="en-US" sz="1400" dirty="0"/>
          </a:p>
        </p:txBody>
      </p:sp>
      <p:sp>
        <p:nvSpPr>
          <p:cNvPr id="7" name="Card 9"/>
          <p:cNvSpPr/>
          <p:nvPr/>
        </p:nvSpPr>
        <p:spPr>
          <a:xfrm>
            <a:off x="548640" y="3749040"/>
            <a:ext cx="5394960" cy="2240280"/>
          </a:xfrm>
          <a:prstGeom prst="roundRect">
            <a:avLst>
              <a:gd name="adj" fmla="val 3265"/>
            </a:avLst>
          </a:prstGeom>
          <a:solidFill>
            <a:schemeClr val="bg2"/>
          </a:solidFill>
          <a:ln w="9525">
            <a:solidFill>
              <a:schemeClr val="accent3"/>
            </a:solidFill>
            <a:prstDash val="solid"/>
          </a:ln>
        </p:spPr>
      </p:sp>
      <p:sp>
        <p:nvSpPr>
          <p:cNvPr id="8" name="Text 6"/>
          <p:cNvSpPr txBox="1"/>
          <p:nvPr/>
        </p:nvSpPr>
        <p:spPr>
          <a:xfrm>
            <a:off x="822960" y="3886200"/>
            <a:ext cx="4572000" cy="320040"/>
          </a:xfrm>
          <a:prstGeom prst="rect">
            <a:avLst/>
          </a:prstGeom>
          <a:noFill/>
          <a:ln/>
        </p:spPr>
        <p:txBody>
          <a:bodyPr wrap="square" lIns="0" tIns="0" rIns="0" bIns="0" rtlCol="0" anchor="t"/>
          <a:lstStyle/>
          <a:p>
            <a:pPr indent="0" marL="0">
              <a:buNone/>
            </a:pPr>
            <a:r>
              <a:rPr lang="en-US" sz="1800" b="1" dirty="0">
                <a:solidFill>
                  <a:schemeClr val="accent1"/>
                </a:solidFill>
              </a:rPr>
              <a:t>Services Offered</a:t>
            </a:r>
            <a:endParaRPr lang="en-US" sz="1800" dirty="0"/>
          </a:p>
        </p:txBody>
      </p:sp>
      <p:sp>
        <p:nvSpPr>
          <p:cNvPr id="9" name="Text 7"/>
          <p:cNvSpPr txBox="1"/>
          <p:nvPr/>
        </p:nvSpPr>
        <p:spPr>
          <a:xfrm>
            <a:off x="822960" y="4297680"/>
            <a:ext cx="4846320"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Application development and maintenance</a:t>
            </a:r>
            <a:endParaRPr lang="en-US" sz="1400" dirty="0"/>
          </a:p>
          <a:p>
            <a:pPr marL="177800" indent="-177800">
              <a:spcAft>
                <a:spcPts val="600"/>
              </a:spcAft>
              <a:buSzPct val="100000"/>
              <a:buChar char="•"/>
            </a:pPr>
            <a:r>
              <a:rPr lang="en-US" sz="1400" dirty="0">
                <a:solidFill>
                  <a:schemeClr val="tx1"/>
                </a:solidFill>
              </a:rPr>
              <a:t>Website design, development and hosting</a:t>
            </a:r>
            <a:endParaRPr lang="en-US" sz="1400" dirty="0"/>
          </a:p>
          <a:p>
            <a:pPr marL="177800" indent="-177800">
              <a:spcAft>
                <a:spcPts val="600"/>
              </a:spcAft>
              <a:buSzPct val="100000"/>
              <a:buChar char="•"/>
            </a:pPr>
            <a:r>
              <a:rPr lang="en-US" sz="1400" dirty="0">
                <a:solidFill>
                  <a:schemeClr val="tx1"/>
                </a:solidFill>
              </a:rPr>
              <a:t>Android mobile application development</a:t>
            </a:r>
            <a:endParaRPr lang="en-US" sz="1400" dirty="0"/>
          </a:p>
          <a:p>
            <a:pPr marL="177800" indent="-177800">
              <a:spcAft>
                <a:spcPts val="600"/>
              </a:spcAft>
              <a:buSzPct val="100000"/>
              <a:buChar char="•"/>
            </a:pPr>
            <a:r>
              <a:rPr lang="en-US" sz="1400" dirty="0">
                <a:solidFill>
                  <a:schemeClr val="tx1"/>
                </a:solidFill>
              </a:rPr>
              <a:t>ERP consulting, testing, IT education and training</a:t>
            </a:r>
            <a:endParaRPr lang="en-US" sz="1400" dirty="0"/>
          </a:p>
        </p:txBody>
      </p:sp>
      <p:sp>
        <p:nvSpPr>
          <p:cNvPr id="10" name="Card 10"/>
          <p:cNvSpPr/>
          <p:nvPr/>
        </p:nvSpPr>
        <p:spPr>
          <a:xfrm>
            <a:off x="6217920" y="1417320"/>
            <a:ext cx="5422392" cy="2834640"/>
          </a:xfrm>
          <a:prstGeom prst="roundRect">
            <a:avLst>
              <a:gd name="adj" fmla="val 2581"/>
            </a:avLst>
          </a:prstGeom>
          <a:solidFill>
            <a:schemeClr val="accent5"/>
          </a:solidFill>
          <a:ln w="9525">
            <a:solidFill>
              <a:schemeClr val="accent3"/>
            </a:solidFill>
            <a:prstDash val="solid"/>
          </a:ln>
        </p:spPr>
      </p:sp>
      <p:sp>
        <p:nvSpPr>
          <p:cNvPr id="11" name="Text 9"/>
          <p:cNvSpPr txBox="1"/>
          <p:nvPr/>
        </p:nvSpPr>
        <p:spPr>
          <a:xfrm>
            <a:off x="6492240" y="1554480"/>
            <a:ext cx="4572000" cy="320040"/>
          </a:xfrm>
          <a:prstGeom prst="rect">
            <a:avLst/>
          </a:prstGeom>
          <a:noFill/>
          <a:ln/>
        </p:spPr>
        <p:txBody>
          <a:bodyPr wrap="square" lIns="0" tIns="0" rIns="0" bIns="0" rtlCol="0" anchor="t"/>
          <a:lstStyle/>
          <a:p>
            <a:pPr indent="0" marL="0">
              <a:buNone/>
            </a:pPr>
            <a:r>
              <a:rPr lang="en-US" sz="1800" b="1" dirty="0">
                <a:solidFill>
                  <a:schemeClr val="accent1"/>
                </a:solidFill>
              </a:rPr>
              <a:t>Technology Expertise</a:t>
            </a:r>
            <a:endParaRPr lang="en-US" sz="1800" dirty="0"/>
          </a:p>
        </p:txBody>
      </p:sp>
      <p:sp>
        <p:nvSpPr>
          <p:cNvPr id="12" name="Text 10"/>
          <p:cNvSpPr txBox="1"/>
          <p:nvPr/>
        </p:nvSpPr>
        <p:spPr>
          <a:xfrm>
            <a:off x="6492240" y="2011680"/>
            <a:ext cx="1371600" cy="365760"/>
          </a:xfrm>
          <a:prstGeom prst="rect">
            <a:avLst/>
          </a:prstGeom>
          <a:noFill/>
          <a:ln/>
        </p:spPr>
        <p:txBody>
          <a:bodyPr wrap="square" lIns="0" tIns="0" rIns="0" bIns="0" rtlCol="0" anchor="ctr"/>
          <a:lstStyle/>
          <a:p>
            <a:pPr indent="0" marL="0">
              <a:buNone/>
            </a:pPr>
            <a:r>
              <a:rPr lang="en-US" sz="1400" b="1" dirty="0">
                <a:solidFill>
                  <a:schemeClr val="tx1"/>
                </a:solidFill>
              </a:rPr>
              <a:t>Software</a:t>
            </a:r>
            <a:endParaRPr lang="en-US" sz="1400" dirty="0"/>
          </a:p>
        </p:txBody>
      </p:sp>
      <p:sp>
        <p:nvSpPr>
          <p:cNvPr id="13" name="Text 11"/>
          <p:cNvSpPr txBox="1"/>
          <p:nvPr/>
        </p:nvSpPr>
        <p:spPr>
          <a:xfrm>
            <a:off x="7863840" y="2011680"/>
            <a:ext cx="3657600" cy="365760"/>
          </a:xfrm>
          <a:prstGeom prst="rect">
            <a:avLst/>
          </a:prstGeom>
          <a:noFill/>
          <a:ln/>
        </p:spPr>
        <p:txBody>
          <a:bodyPr wrap="square" lIns="0" tIns="0" rIns="0" bIns="0" rtlCol="0" anchor="ctr"/>
          <a:lstStyle/>
          <a:p>
            <a:pPr indent="0" marL="0">
              <a:buNone/>
            </a:pPr>
            <a:r>
              <a:rPr lang="en-US" sz="1400" dirty="0">
                <a:solidFill>
                  <a:schemeClr val="tx2"/>
                </a:solidFill>
              </a:rPr>
              <a:t>.NET, PHP, Java</a:t>
            </a:r>
            <a:endParaRPr lang="en-US" sz="1400" dirty="0"/>
          </a:p>
        </p:txBody>
      </p:sp>
      <p:sp>
        <p:nvSpPr>
          <p:cNvPr id="14" name="Text 12"/>
          <p:cNvSpPr txBox="1"/>
          <p:nvPr/>
        </p:nvSpPr>
        <p:spPr>
          <a:xfrm>
            <a:off x="6492240" y="2441448"/>
            <a:ext cx="1371600" cy="365760"/>
          </a:xfrm>
          <a:prstGeom prst="rect">
            <a:avLst/>
          </a:prstGeom>
          <a:noFill/>
          <a:ln/>
        </p:spPr>
        <p:txBody>
          <a:bodyPr wrap="square" lIns="0" tIns="0" rIns="0" bIns="0" rtlCol="0" anchor="ctr"/>
          <a:lstStyle/>
          <a:p>
            <a:pPr indent="0" marL="0">
              <a:buNone/>
            </a:pPr>
            <a:r>
              <a:rPr lang="en-US" sz="1400" b="1" dirty="0">
                <a:solidFill>
                  <a:schemeClr val="tx1"/>
                </a:solidFill>
              </a:rPr>
              <a:t>Web</a:t>
            </a:r>
            <a:endParaRPr lang="en-US" sz="1400" dirty="0"/>
          </a:p>
        </p:txBody>
      </p:sp>
      <p:sp>
        <p:nvSpPr>
          <p:cNvPr id="15" name="Text 13"/>
          <p:cNvSpPr txBox="1"/>
          <p:nvPr/>
        </p:nvSpPr>
        <p:spPr>
          <a:xfrm>
            <a:off x="7863840" y="2441448"/>
            <a:ext cx="3657600" cy="365760"/>
          </a:xfrm>
          <a:prstGeom prst="rect">
            <a:avLst/>
          </a:prstGeom>
          <a:noFill/>
          <a:ln/>
        </p:spPr>
        <p:txBody>
          <a:bodyPr wrap="square" lIns="0" tIns="0" rIns="0" bIns="0" rtlCol="0" anchor="ctr"/>
          <a:lstStyle/>
          <a:p>
            <a:pPr indent="0" marL="0">
              <a:buNone/>
            </a:pPr>
            <a:r>
              <a:rPr lang="en-US" sz="1400" dirty="0">
                <a:solidFill>
                  <a:schemeClr val="tx2"/>
                </a:solidFill>
              </a:rPr>
              <a:t>Design, CMS, hosting</a:t>
            </a:r>
            <a:endParaRPr lang="en-US" sz="1400" dirty="0"/>
          </a:p>
        </p:txBody>
      </p:sp>
      <p:sp>
        <p:nvSpPr>
          <p:cNvPr id="16" name="Text 14"/>
          <p:cNvSpPr txBox="1"/>
          <p:nvPr/>
        </p:nvSpPr>
        <p:spPr>
          <a:xfrm>
            <a:off x="6492240" y="2871216"/>
            <a:ext cx="1371600" cy="365760"/>
          </a:xfrm>
          <a:prstGeom prst="rect">
            <a:avLst/>
          </a:prstGeom>
          <a:noFill/>
          <a:ln/>
        </p:spPr>
        <p:txBody>
          <a:bodyPr wrap="square" lIns="0" tIns="0" rIns="0" bIns="0" rtlCol="0" anchor="ctr"/>
          <a:lstStyle/>
          <a:p>
            <a:pPr indent="0" marL="0">
              <a:buNone/>
            </a:pPr>
            <a:r>
              <a:rPr lang="en-US" sz="1400" b="1" dirty="0">
                <a:solidFill>
                  <a:schemeClr val="tx1"/>
                </a:solidFill>
              </a:rPr>
              <a:t>Mobile</a:t>
            </a:r>
            <a:endParaRPr lang="en-US" sz="1400" dirty="0"/>
          </a:p>
        </p:txBody>
      </p:sp>
      <p:sp>
        <p:nvSpPr>
          <p:cNvPr id="17" name="Text 15"/>
          <p:cNvSpPr txBox="1"/>
          <p:nvPr/>
        </p:nvSpPr>
        <p:spPr>
          <a:xfrm>
            <a:off x="7863840" y="2871216"/>
            <a:ext cx="3657600" cy="365760"/>
          </a:xfrm>
          <a:prstGeom prst="rect">
            <a:avLst/>
          </a:prstGeom>
          <a:noFill/>
          <a:ln/>
        </p:spPr>
        <p:txBody>
          <a:bodyPr wrap="square" lIns="0" tIns="0" rIns="0" bIns="0" rtlCol="0" anchor="ctr"/>
          <a:lstStyle/>
          <a:p>
            <a:pPr indent="0" marL="0">
              <a:buNone/>
            </a:pPr>
            <a:r>
              <a:rPr lang="en-US" sz="1400" dirty="0">
                <a:solidFill>
                  <a:schemeClr val="tx2"/>
                </a:solidFill>
              </a:rPr>
              <a:t>Android</a:t>
            </a:r>
            <a:endParaRPr lang="en-US" sz="1400" dirty="0"/>
          </a:p>
        </p:txBody>
      </p:sp>
      <p:sp>
        <p:nvSpPr>
          <p:cNvPr id="18" name="Text 16"/>
          <p:cNvSpPr txBox="1"/>
          <p:nvPr/>
        </p:nvSpPr>
        <p:spPr>
          <a:xfrm>
            <a:off x="6492240" y="3300984"/>
            <a:ext cx="1371600" cy="365760"/>
          </a:xfrm>
          <a:prstGeom prst="rect">
            <a:avLst/>
          </a:prstGeom>
          <a:noFill/>
          <a:ln/>
        </p:spPr>
        <p:txBody>
          <a:bodyPr wrap="square" lIns="0" tIns="0" rIns="0" bIns="0" rtlCol="0" anchor="ctr"/>
          <a:lstStyle/>
          <a:p>
            <a:pPr indent="0" marL="0">
              <a:buNone/>
            </a:pPr>
            <a:r>
              <a:rPr lang="en-US" sz="1400" b="1" dirty="0">
                <a:solidFill>
                  <a:schemeClr val="tx1"/>
                </a:solidFill>
              </a:rPr>
              <a:t>Data</a:t>
            </a:r>
            <a:endParaRPr lang="en-US" sz="1400" dirty="0"/>
          </a:p>
        </p:txBody>
      </p:sp>
      <p:sp>
        <p:nvSpPr>
          <p:cNvPr id="19" name="Text 17"/>
          <p:cNvSpPr txBox="1"/>
          <p:nvPr/>
        </p:nvSpPr>
        <p:spPr>
          <a:xfrm>
            <a:off x="7863840" y="3300984"/>
            <a:ext cx="3657600" cy="365760"/>
          </a:xfrm>
          <a:prstGeom prst="rect">
            <a:avLst/>
          </a:prstGeom>
          <a:noFill/>
          <a:ln/>
        </p:spPr>
        <p:txBody>
          <a:bodyPr wrap="square" lIns="0" tIns="0" rIns="0" bIns="0" rtlCol="0" anchor="ctr"/>
          <a:lstStyle/>
          <a:p>
            <a:pPr indent="0" marL="0">
              <a:buNone/>
            </a:pPr>
            <a:r>
              <a:rPr lang="en-US" sz="1400" dirty="0">
                <a:solidFill>
                  <a:schemeClr val="tx2"/>
                </a:solidFill>
              </a:rPr>
              <a:t>R and Python, data mining</a:t>
            </a:r>
            <a:endParaRPr lang="en-US" sz="1400" dirty="0"/>
          </a:p>
        </p:txBody>
      </p:sp>
      <p:sp>
        <p:nvSpPr>
          <p:cNvPr id="20" name="Text 18"/>
          <p:cNvSpPr txBox="1"/>
          <p:nvPr/>
        </p:nvSpPr>
        <p:spPr>
          <a:xfrm>
            <a:off x="6492240" y="3730752"/>
            <a:ext cx="1371600" cy="365760"/>
          </a:xfrm>
          <a:prstGeom prst="rect">
            <a:avLst/>
          </a:prstGeom>
          <a:noFill/>
          <a:ln/>
        </p:spPr>
        <p:txBody>
          <a:bodyPr wrap="square" lIns="0" tIns="0" rIns="0" bIns="0" rtlCol="0" anchor="ctr"/>
          <a:lstStyle/>
          <a:p>
            <a:pPr indent="0" marL="0">
              <a:buNone/>
            </a:pPr>
            <a:r>
              <a:rPr lang="en-US" sz="1400" b="1" dirty="0">
                <a:solidFill>
                  <a:schemeClr val="tx1"/>
                </a:solidFill>
              </a:rPr>
              <a:t>Research</a:t>
            </a:r>
            <a:endParaRPr lang="en-US" sz="1400" dirty="0"/>
          </a:p>
        </p:txBody>
      </p:sp>
      <p:sp>
        <p:nvSpPr>
          <p:cNvPr id="21" name="Text 19"/>
          <p:cNvSpPr txBox="1"/>
          <p:nvPr/>
        </p:nvSpPr>
        <p:spPr>
          <a:xfrm>
            <a:off x="7863840" y="3730752"/>
            <a:ext cx="3657600" cy="365760"/>
          </a:xfrm>
          <a:prstGeom prst="rect">
            <a:avLst/>
          </a:prstGeom>
          <a:noFill/>
          <a:ln/>
        </p:spPr>
        <p:txBody>
          <a:bodyPr wrap="square" lIns="0" tIns="0" rIns="0" bIns="0" rtlCol="0" anchor="ctr"/>
          <a:lstStyle/>
          <a:p>
            <a:pPr indent="0" marL="0">
              <a:buNone/>
            </a:pPr>
            <a:r>
              <a:rPr lang="en-US" sz="1400" dirty="0">
                <a:solidFill>
                  <a:schemeClr val="tx2"/>
                </a:solidFill>
              </a:rPr>
              <a:t>MATLAB, NS2</a:t>
            </a:r>
            <a:endParaRPr lang="en-US" sz="1400" dirty="0"/>
          </a:p>
        </p:txBody>
      </p:sp>
      <p:sp>
        <p:nvSpPr>
          <p:cNvPr id="22" name="Card 11"/>
          <p:cNvSpPr/>
          <p:nvPr/>
        </p:nvSpPr>
        <p:spPr>
          <a:xfrm>
            <a:off x="6217920" y="4434840"/>
            <a:ext cx="5422392" cy="1554480"/>
          </a:xfrm>
          <a:prstGeom prst="roundRect">
            <a:avLst>
              <a:gd name="adj" fmla="val 4706"/>
            </a:avLst>
          </a:prstGeom>
          <a:solidFill>
            <a:schemeClr val="bg2"/>
          </a:solidFill>
          <a:ln w="9525">
            <a:solidFill>
              <a:schemeClr val="accent3"/>
            </a:solidFill>
            <a:prstDash val="solid"/>
          </a:ln>
        </p:spPr>
      </p:sp>
      <p:sp>
        <p:nvSpPr>
          <p:cNvPr id="23" name="Shape 21"/>
          <p:cNvSpPr/>
          <p:nvPr/>
        </p:nvSpPr>
        <p:spPr>
          <a:xfrm>
            <a:off x="6446520" y="4663440"/>
            <a:ext cx="502920" cy="502920"/>
          </a:xfrm>
          <a:prstGeom prst="ellipse">
            <a:avLst/>
          </a:prstGeom>
          <a:solidFill>
            <a:schemeClr val="accent5"/>
          </a:solidFill>
          <a:ln w="12700">
            <a:solidFill>
              <a:schemeClr val="accent1"/>
            </a:solidFill>
            <a:prstDash val="solid"/>
          </a:ln>
        </p:spPr>
      </p:sp>
      <p:pic>
        <p:nvPicPr>
          <p:cNvPr id="24" name="Image 0" descr="preencoded.png">    </p:cNvPr>
          <p:cNvPicPr>
            <a:picLocks noChangeAspect="1"/>
          </p:cNvPicPr>
          <p:nvPr/>
        </p:nvPicPr>
        <p:blipFill>
          <a:blip r:embed="rId1"/>
          <a:stretch>
            <a:fillRect/>
          </a:stretch>
        </p:blipFill>
        <p:spPr>
          <a:xfrm>
            <a:off x="6577279" y="4794199"/>
            <a:ext cx="241402" cy="241402"/>
          </a:xfrm>
          <a:prstGeom prst="rect">
            <a:avLst/>
          </a:prstGeom>
        </p:spPr>
      </p:pic>
      <p:sp>
        <p:nvSpPr>
          <p:cNvPr id="25" name="Text 22"/>
          <p:cNvSpPr txBox="1"/>
          <p:nvPr/>
        </p:nvSpPr>
        <p:spPr>
          <a:xfrm>
            <a:off x="7132320" y="4572000"/>
            <a:ext cx="4389120" cy="320040"/>
          </a:xfrm>
          <a:prstGeom prst="rect">
            <a:avLst/>
          </a:prstGeom>
          <a:noFill/>
          <a:ln/>
        </p:spPr>
        <p:txBody>
          <a:bodyPr wrap="square" lIns="0" tIns="0" rIns="0" bIns="0" rtlCol="0" anchor="t"/>
          <a:lstStyle/>
          <a:p>
            <a:pPr indent="0" marL="0">
              <a:buNone/>
            </a:pPr>
            <a:r>
              <a:rPr lang="en-US" sz="1600" b="1" dirty="0">
                <a:solidFill>
                  <a:schemeClr val="tx1"/>
                </a:solidFill>
              </a:rPr>
              <a:t>Learning Environment</a:t>
            </a:r>
            <a:endParaRPr lang="en-US" sz="1600" dirty="0"/>
          </a:p>
        </p:txBody>
      </p:sp>
      <p:sp>
        <p:nvSpPr>
          <p:cNvPr id="26" name="Text 23"/>
          <p:cNvSpPr txBox="1"/>
          <p:nvPr/>
        </p:nvSpPr>
        <p:spPr>
          <a:xfrm>
            <a:off x="7132320" y="4937760"/>
            <a:ext cx="4297680" cy="1005840"/>
          </a:xfrm>
          <a:prstGeom prst="rect">
            <a:avLst/>
          </a:prstGeom>
          <a:noFill/>
          <a:ln/>
        </p:spPr>
        <p:txBody>
          <a:bodyPr wrap="square" lIns="0" tIns="0" rIns="0" bIns="0" rtlCol="0" anchor="t"/>
          <a:lstStyle/>
          <a:p>
            <a:pPr indent="0" marL="0">
              <a:buNone/>
            </a:pPr>
            <a:r>
              <a:rPr lang="en-US" sz="1300" dirty="0">
                <a:solidFill>
                  <a:schemeClr val="tx2"/>
                </a:solidFill>
              </a:rPr>
              <a:t>Orientation, collaborative team, approachable senior developers, open feedback and quick doubt resolution.</a:t>
            </a:r>
            <a:endParaRPr lang="en-US" sz="13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Project Introduction</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03  PROJECT</a:t>
            </a:r>
            <a:endParaRPr lang="en-US" sz="1100" dirty="0"/>
          </a:p>
        </p:txBody>
      </p:sp>
      <p:sp>
        <p:nvSpPr>
          <p:cNvPr id="4" name="Card 12"/>
          <p:cNvSpPr/>
          <p:nvPr/>
        </p:nvSpPr>
        <p:spPr>
          <a:xfrm>
            <a:off x="548640" y="1417320"/>
            <a:ext cx="6492240" cy="1920240"/>
          </a:xfrm>
          <a:prstGeom prst="roundRect">
            <a:avLst>
              <a:gd name="adj" fmla="val 3810"/>
            </a:avLst>
          </a:prstGeom>
          <a:solidFill>
            <a:schemeClr val="accent5"/>
          </a:solidFill>
          <a:ln w="9525">
            <a:solidFill>
              <a:schemeClr val="accent3"/>
            </a:solidFill>
            <a:prstDash val="solid"/>
          </a:ln>
        </p:spPr>
      </p:sp>
      <p:sp>
        <p:nvSpPr>
          <p:cNvPr id="5" name="Text 3"/>
          <p:cNvSpPr txBox="1"/>
          <p:nvPr/>
        </p:nvSpPr>
        <p:spPr>
          <a:xfrm>
            <a:off x="822960" y="1554480"/>
            <a:ext cx="5943600" cy="365760"/>
          </a:xfrm>
          <a:prstGeom prst="rect">
            <a:avLst/>
          </a:prstGeom>
          <a:noFill/>
          <a:ln/>
        </p:spPr>
        <p:txBody>
          <a:bodyPr wrap="square" lIns="0" tIns="0" rIns="0" bIns="0" rtlCol="0" anchor="t"/>
          <a:lstStyle/>
          <a:p>
            <a:pPr indent="0" marL="0">
              <a:buNone/>
            </a:pPr>
            <a:r>
              <a:rPr lang="en-US" sz="1800" b="1" dirty="0">
                <a:solidFill>
                  <a:schemeClr val="accent1"/>
                </a:solidFill>
              </a:rPr>
              <a:t>What is a Student Management System?</a:t>
            </a:r>
            <a:endParaRPr lang="en-US" sz="1800" dirty="0"/>
          </a:p>
        </p:txBody>
      </p:sp>
      <p:sp>
        <p:nvSpPr>
          <p:cNvPr id="6" name="Text 4"/>
          <p:cNvSpPr txBox="1"/>
          <p:nvPr/>
        </p:nvSpPr>
        <p:spPr>
          <a:xfrm>
            <a:off x="822960" y="2011680"/>
            <a:ext cx="5943600" cy="1234440"/>
          </a:xfrm>
          <a:prstGeom prst="rect">
            <a:avLst/>
          </a:prstGeom>
          <a:noFill/>
          <a:ln/>
        </p:spPr>
        <p:txBody>
          <a:bodyPr wrap="square" lIns="0" tIns="0" rIns="0" bIns="0" rtlCol="0" anchor="t"/>
          <a:lstStyle/>
          <a:p>
            <a:pPr indent="0" marL="0">
              <a:buNone/>
            </a:pPr>
            <a:r>
              <a:rPr lang="en-US" sz="1500" dirty="0">
                <a:solidFill>
                  <a:schemeClr val="tx1"/>
                </a:solidFill>
              </a:rPr>
              <a:t>A software application that automates the academic activities of an institution: admission records, course enrolment, attendance, assessment, grading and reporting.</a:t>
            </a:r>
            <a:endParaRPr lang="en-US" sz="1500" dirty="0"/>
          </a:p>
        </p:txBody>
      </p:sp>
      <p:sp>
        <p:nvSpPr>
          <p:cNvPr id="7" name="Card 13"/>
          <p:cNvSpPr/>
          <p:nvPr/>
        </p:nvSpPr>
        <p:spPr>
          <a:xfrm>
            <a:off x="548640" y="3520440"/>
            <a:ext cx="6492240" cy="2468880"/>
          </a:xfrm>
          <a:prstGeom prst="roundRect">
            <a:avLst>
              <a:gd name="adj" fmla="val 2963"/>
            </a:avLst>
          </a:prstGeom>
          <a:solidFill>
            <a:schemeClr val="bg2"/>
          </a:solidFill>
          <a:ln w="9525">
            <a:solidFill>
              <a:schemeClr val="accent3"/>
            </a:solidFill>
            <a:prstDash val="solid"/>
          </a:ln>
        </p:spPr>
      </p:sp>
      <p:sp>
        <p:nvSpPr>
          <p:cNvPr id="8" name="Text 6"/>
          <p:cNvSpPr txBox="1"/>
          <p:nvPr/>
        </p:nvSpPr>
        <p:spPr>
          <a:xfrm>
            <a:off x="822960" y="3657600"/>
            <a:ext cx="5943600" cy="365760"/>
          </a:xfrm>
          <a:prstGeom prst="rect">
            <a:avLst/>
          </a:prstGeom>
          <a:noFill/>
          <a:ln/>
        </p:spPr>
        <p:txBody>
          <a:bodyPr wrap="square" lIns="0" tIns="0" rIns="0" bIns="0" rtlCol="0" anchor="t"/>
          <a:lstStyle/>
          <a:p>
            <a:pPr indent="0" marL="0">
              <a:buNone/>
            </a:pPr>
            <a:r>
              <a:rPr lang="en-US" sz="1800" b="1" dirty="0">
                <a:solidFill>
                  <a:schemeClr val="accent1"/>
                </a:solidFill>
              </a:rPr>
              <a:t>Purpose of the project</a:t>
            </a:r>
            <a:endParaRPr lang="en-US" sz="1800" dirty="0"/>
          </a:p>
        </p:txBody>
      </p:sp>
      <p:sp>
        <p:nvSpPr>
          <p:cNvPr id="9" name="Text 7"/>
          <p:cNvSpPr txBox="1"/>
          <p:nvPr/>
        </p:nvSpPr>
        <p:spPr>
          <a:xfrm>
            <a:off x="822960" y="4069080"/>
            <a:ext cx="594360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Design a system using the Java stack studied in training</a:t>
            </a:r>
            <a:endParaRPr lang="en-US" sz="1400" dirty="0"/>
          </a:p>
          <a:p>
            <a:pPr marL="177800" indent="-177800">
              <a:spcAft>
                <a:spcPts val="600"/>
              </a:spcAft>
              <a:buSzPct val="100000"/>
              <a:buChar char="•"/>
            </a:pPr>
            <a:r>
              <a:rPr lang="en-US" sz="1400" dirty="0">
                <a:solidFill>
                  <a:schemeClr val="tx1"/>
                </a:solidFill>
              </a:rPr>
              <a:t>Follow a complete software development life cycle</a:t>
            </a:r>
            <a:endParaRPr lang="en-US" sz="1400" dirty="0"/>
          </a:p>
          <a:p>
            <a:pPr marL="177800" indent="-177800">
              <a:spcAft>
                <a:spcPts val="600"/>
              </a:spcAft>
              <a:buSzPct val="100000"/>
              <a:buChar char="•"/>
            </a:pPr>
            <a:r>
              <a:rPr lang="en-US" sz="1400" dirty="0">
                <a:solidFill>
                  <a:schemeClr val="tx1"/>
                </a:solidFill>
              </a:rPr>
              <a:t>Replace paper registers and spreadsheets with an integrated digital workflow</a:t>
            </a:r>
            <a:endParaRPr lang="en-US" sz="1400" dirty="0"/>
          </a:p>
          <a:p>
            <a:pPr marL="177800" indent="-177800">
              <a:spcAft>
                <a:spcPts val="600"/>
              </a:spcAft>
              <a:buSzPct val="100000"/>
              <a:buChar char="•"/>
            </a:pPr>
            <a:r>
              <a:rPr lang="en-US" sz="1400" dirty="0">
                <a:solidFill>
                  <a:schemeClr val="tx1"/>
                </a:solidFill>
              </a:rPr>
              <a:t>Use a problem simple to understand yet rich enough to need careful design</a:t>
            </a:r>
            <a:endParaRPr lang="en-US" sz="1400" dirty="0"/>
          </a:p>
        </p:txBody>
      </p:sp>
      <p:sp>
        <p:nvSpPr>
          <p:cNvPr id="10" name="Text 8"/>
          <p:cNvSpPr txBox="1"/>
          <p:nvPr/>
        </p:nvSpPr>
        <p:spPr>
          <a:xfrm>
            <a:off x="7498080" y="1417320"/>
            <a:ext cx="41148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INTENDED USERS</a:t>
            </a:r>
            <a:endParaRPr lang="en-US" sz="1100" dirty="0"/>
          </a:p>
        </p:txBody>
      </p:sp>
      <p:sp>
        <p:nvSpPr>
          <p:cNvPr id="11" name="Card 14"/>
          <p:cNvSpPr/>
          <p:nvPr/>
        </p:nvSpPr>
        <p:spPr>
          <a:xfrm>
            <a:off x="7498080" y="1783080"/>
            <a:ext cx="4142232" cy="1280160"/>
          </a:xfrm>
          <a:prstGeom prst="roundRect">
            <a:avLst>
              <a:gd name="adj" fmla="val 5714"/>
            </a:avLst>
          </a:prstGeom>
          <a:solidFill>
            <a:schemeClr val="bg2"/>
          </a:solidFill>
          <a:ln w="9525">
            <a:solidFill>
              <a:schemeClr val="accent3"/>
            </a:solidFill>
            <a:prstDash val="solid"/>
          </a:ln>
        </p:spPr>
      </p:sp>
      <p:sp>
        <p:nvSpPr>
          <p:cNvPr id="12" name="Shape 10"/>
          <p:cNvSpPr/>
          <p:nvPr/>
        </p:nvSpPr>
        <p:spPr>
          <a:xfrm>
            <a:off x="7726680" y="2148840"/>
            <a:ext cx="548640" cy="548640"/>
          </a:xfrm>
          <a:prstGeom prst="ellipse">
            <a:avLst/>
          </a:prstGeom>
          <a:solidFill>
            <a:schemeClr val="accent5"/>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7869326" y="2291486"/>
            <a:ext cx="263347" cy="263347"/>
          </a:xfrm>
          <a:prstGeom prst="rect">
            <a:avLst/>
          </a:prstGeom>
        </p:spPr>
      </p:pic>
      <p:sp>
        <p:nvSpPr>
          <p:cNvPr id="14" name="Text 11"/>
          <p:cNvSpPr txBox="1"/>
          <p:nvPr/>
        </p:nvSpPr>
        <p:spPr>
          <a:xfrm>
            <a:off x="8458200" y="1920240"/>
            <a:ext cx="3063240" cy="1005840"/>
          </a:xfrm>
          <a:prstGeom prst="rect">
            <a:avLst/>
          </a:prstGeom>
          <a:noFill/>
          <a:ln/>
        </p:spPr>
        <p:txBody>
          <a:bodyPr wrap="square" lIns="0" tIns="0" rIns="0" bIns="0" rtlCol="0" anchor="ctr"/>
          <a:lstStyle/>
          <a:p>
            <a:pPr indent="0" marL="0">
              <a:buNone/>
            </a:pPr>
            <a:r>
              <a:rPr lang="en-US" sz="1600" b="1" dirty="0">
                <a:solidFill>
                  <a:schemeClr val="tx1"/>
                </a:solidFill>
              </a:rPr>
              <a:t>Administrator</a:t>
            </a:r>
            <a:endParaRPr lang="en-US" sz="1400" dirty="0"/>
          </a:p>
          <a:p>
            <a:pPr indent="0" marL="0">
              <a:buNone/>
            </a:pPr>
            <a:r>
              <a:rPr lang="en-US" sz="1200" dirty="0">
                <a:solidFill>
                  <a:schemeClr val="tx2"/>
                </a:solidFill>
              </a:rPr>
              <a:t>Manages students, faculty, courses, enrolment, reports</a:t>
            </a:r>
            <a:endParaRPr lang="en-US" sz="1400" dirty="0"/>
          </a:p>
        </p:txBody>
      </p:sp>
      <p:sp>
        <p:nvSpPr>
          <p:cNvPr id="15" name="Card 15"/>
          <p:cNvSpPr/>
          <p:nvPr/>
        </p:nvSpPr>
        <p:spPr>
          <a:xfrm>
            <a:off x="7498080" y="3200400"/>
            <a:ext cx="4142232" cy="1280160"/>
          </a:xfrm>
          <a:prstGeom prst="roundRect">
            <a:avLst>
              <a:gd name="adj" fmla="val 5714"/>
            </a:avLst>
          </a:prstGeom>
          <a:solidFill>
            <a:schemeClr val="bg2"/>
          </a:solidFill>
          <a:ln w="9525">
            <a:solidFill>
              <a:schemeClr val="accent3"/>
            </a:solidFill>
            <a:prstDash val="solid"/>
          </a:ln>
        </p:spPr>
      </p:sp>
      <p:sp>
        <p:nvSpPr>
          <p:cNvPr id="16" name="Shape 13"/>
          <p:cNvSpPr/>
          <p:nvPr/>
        </p:nvSpPr>
        <p:spPr>
          <a:xfrm>
            <a:off x="7726680" y="3566160"/>
            <a:ext cx="548640" cy="548640"/>
          </a:xfrm>
          <a:prstGeom prst="ellipse">
            <a:avLst/>
          </a:prstGeom>
          <a:solidFill>
            <a:schemeClr val="accent5"/>
          </a:solidFill>
          <a:ln w="12700">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7869326" y="3708806"/>
            <a:ext cx="263347" cy="263347"/>
          </a:xfrm>
          <a:prstGeom prst="rect">
            <a:avLst/>
          </a:prstGeom>
        </p:spPr>
      </p:pic>
      <p:sp>
        <p:nvSpPr>
          <p:cNvPr id="18" name="Text 14"/>
          <p:cNvSpPr txBox="1"/>
          <p:nvPr/>
        </p:nvSpPr>
        <p:spPr>
          <a:xfrm>
            <a:off x="8458200" y="3337560"/>
            <a:ext cx="3063240" cy="1005840"/>
          </a:xfrm>
          <a:prstGeom prst="rect">
            <a:avLst/>
          </a:prstGeom>
          <a:noFill/>
          <a:ln/>
        </p:spPr>
        <p:txBody>
          <a:bodyPr wrap="square" lIns="0" tIns="0" rIns="0" bIns="0" rtlCol="0" anchor="ctr"/>
          <a:lstStyle/>
          <a:p>
            <a:pPr indent="0" marL="0">
              <a:buNone/>
            </a:pPr>
            <a:r>
              <a:rPr lang="en-US" sz="1600" b="1" dirty="0">
                <a:solidFill>
                  <a:schemeClr val="tx1"/>
                </a:solidFill>
              </a:rPr>
              <a:t>Faculty</a:t>
            </a:r>
            <a:endParaRPr lang="en-US" sz="1400" dirty="0"/>
          </a:p>
          <a:p>
            <a:pPr indent="0" marL="0">
              <a:buNone/>
            </a:pPr>
            <a:r>
              <a:rPr lang="en-US" sz="1200" dirty="0">
                <a:solidFill>
                  <a:schemeClr val="tx2"/>
                </a:solidFill>
              </a:rPr>
              <a:t>Marks attendance, enters marks, views reports</a:t>
            </a:r>
            <a:endParaRPr lang="en-US" sz="1400" dirty="0"/>
          </a:p>
        </p:txBody>
      </p:sp>
      <p:sp>
        <p:nvSpPr>
          <p:cNvPr id="19" name="Card 16"/>
          <p:cNvSpPr/>
          <p:nvPr/>
        </p:nvSpPr>
        <p:spPr>
          <a:xfrm>
            <a:off x="7498080" y="4617720"/>
            <a:ext cx="4142232" cy="1280160"/>
          </a:xfrm>
          <a:prstGeom prst="roundRect">
            <a:avLst>
              <a:gd name="adj" fmla="val 5714"/>
            </a:avLst>
          </a:prstGeom>
          <a:solidFill>
            <a:schemeClr val="bg2"/>
          </a:solidFill>
          <a:ln w="9525">
            <a:solidFill>
              <a:schemeClr val="accent3"/>
            </a:solidFill>
            <a:prstDash val="solid"/>
          </a:ln>
        </p:spPr>
      </p:sp>
      <p:sp>
        <p:nvSpPr>
          <p:cNvPr id="20" name="Shape 16"/>
          <p:cNvSpPr/>
          <p:nvPr/>
        </p:nvSpPr>
        <p:spPr>
          <a:xfrm>
            <a:off x="7726680" y="4983480"/>
            <a:ext cx="548640" cy="548640"/>
          </a:xfrm>
          <a:prstGeom prst="ellipse">
            <a:avLst/>
          </a:prstGeom>
          <a:solidFill>
            <a:schemeClr val="accent5"/>
          </a:solidFill>
          <a:ln w="12700">
            <a:solidFill>
              <a:schemeClr val="accent1"/>
            </a:solidFill>
            <a:prstDash val="solid"/>
          </a:ln>
        </p:spPr>
      </p:sp>
      <p:pic>
        <p:nvPicPr>
          <p:cNvPr id="21" name="Image 2" descr="preencoded.png">    </p:cNvPr>
          <p:cNvPicPr>
            <a:picLocks noChangeAspect="1"/>
          </p:cNvPicPr>
          <p:nvPr/>
        </p:nvPicPr>
        <p:blipFill>
          <a:blip r:embed="rId3"/>
          <a:stretch>
            <a:fillRect/>
          </a:stretch>
        </p:blipFill>
        <p:spPr>
          <a:xfrm>
            <a:off x="7869326" y="5126126"/>
            <a:ext cx="263347" cy="263347"/>
          </a:xfrm>
          <a:prstGeom prst="rect">
            <a:avLst/>
          </a:prstGeom>
        </p:spPr>
      </p:pic>
      <p:sp>
        <p:nvSpPr>
          <p:cNvPr id="22" name="Text 17"/>
          <p:cNvSpPr txBox="1"/>
          <p:nvPr/>
        </p:nvSpPr>
        <p:spPr>
          <a:xfrm>
            <a:off x="8458200" y="4754880"/>
            <a:ext cx="3063240" cy="1005840"/>
          </a:xfrm>
          <a:prstGeom prst="rect">
            <a:avLst/>
          </a:prstGeom>
          <a:noFill/>
          <a:ln/>
        </p:spPr>
        <p:txBody>
          <a:bodyPr wrap="square" lIns="0" tIns="0" rIns="0" bIns="0" rtlCol="0" anchor="ctr"/>
          <a:lstStyle/>
          <a:p>
            <a:pPr indent="0" marL="0">
              <a:buNone/>
            </a:pPr>
            <a:r>
              <a:rPr lang="en-US" sz="1600" b="1" dirty="0">
                <a:solidFill>
                  <a:schemeClr val="tx1"/>
                </a:solidFill>
              </a:rPr>
              <a:t>Student</a:t>
            </a:r>
            <a:endParaRPr lang="en-US" sz="1400" dirty="0"/>
          </a:p>
          <a:p>
            <a:pPr indent="0" marL="0">
              <a:buNone/>
            </a:pPr>
            <a:r>
              <a:rPr lang="en-US" sz="1200" dirty="0">
                <a:solidFill>
                  <a:schemeClr val="tx2"/>
                </a:solidFill>
              </a:rPr>
              <a:t>Views own profile, attendance and results</a:t>
            </a:r>
            <a:endParaRPr lang="en-US" sz="14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04  PROBLEM</a:t>
            </a:r>
            <a:endParaRPr lang="en-US" sz="1100" dirty="0"/>
          </a:p>
        </p:txBody>
      </p:sp>
      <p:sp>
        <p:nvSpPr>
          <p:cNvPr id="4" name="Text 2"/>
          <p:cNvSpPr txBox="1"/>
          <p:nvPr/>
        </p:nvSpPr>
        <p:spPr>
          <a:xfrm>
            <a:off x="548640" y="1371600"/>
            <a:ext cx="6400800" cy="274320"/>
          </a:xfrm>
          <a:prstGeom prst="rect">
            <a:avLst/>
          </a:prstGeom>
          <a:noFill/>
          <a:ln/>
        </p:spPr>
        <p:txBody>
          <a:bodyPr wrap="square" lIns="0" tIns="0" rIns="0" bIns="0" rtlCol="0" anchor="t"/>
          <a:lstStyle/>
          <a:p>
            <a:pPr indent="0" marL="0">
              <a:buNone/>
            </a:pPr>
            <a:r>
              <a:rPr lang="en-US" sz="1100" b="1" spc="200" kern="0" dirty="0">
                <a:solidFill>
                  <a:schemeClr val="accent4"/>
                </a:solidFill>
              </a:rPr>
              <a:t>EXISTING PROCESS: PAPER REGISTERS AND SPREADSHEETS</a:t>
            </a:r>
            <a:endParaRPr lang="en-US" sz="1100" dirty="0"/>
          </a:p>
        </p:txBody>
      </p:sp>
      <p:sp>
        <p:nvSpPr>
          <p:cNvPr id="5" name="Card 17"/>
          <p:cNvSpPr/>
          <p:nvPr/>
        </p:nvSpPr>
        <p:spPr>
          <a:xfrm>
            <a:off x="548640" y="1737360"/>
            <a:ext cx="3063240" cy="1097280"/>
          </a:xfrm>
          <a:prstGeom prst="roundRect">
            <a:avLst>
              <a:gd name="adj" fmla="val 6667"/>
            </a:avLst>
          </a:prstGeom>
          <a:solidFill>
            <a:schemeClr val="bg2"/>
          </a:solidFill>
          <a:ln w="9525">
            <a:solidFill>
              <a:schemeClr val="accent3"/>
            </a:solidFill>
            <a:prstDash val="solid"/>
          </a:ln>
        </p:spPr>
      </p:sp>
      <p:sp>
        <p:nvSpPr>
          <p:cNvPr id="6" name="Text 4"/>
          <p:cNvSpPr txBox="1"/>
          <p:nvPr/>
        </p:nvSpPr>
        <p:spPr>
          <a:xfrm>
            <a:off x="731520" y="1828800"/>
            <a:ext cx="2697480" cy="914400"/>
          </a:xfrm>
          <a:prstGeom prst="rect">
            <a:avLst/>
          </a:prstGeom>
          <a:noFill/>
          <a:ln/>
        </p:spPr>
        <p:txBody>
          <a:bodyPr wrap="square" lIns="0" tIns="0" rIns="0" bIns="0" rtlCol="0" anchor="ctr"/>
          <a:lstStyle/>
          <a:p>
            <a:pPr indent="0" marL="0">
              <a:buNone/>
            </a:pPr>
            <a:r>
              <a:rPr lang="en-US" sz="1500" b="1" dirty="0">
                <a:solidFill>
                  <a:schemeClr val="tx1"/>
                </a:solidFill>
              </a:rPr>
              <a:t>Manual records</a:t>
            </a:r>
            <a:endParaRPr lang="en-US" sz="1400" dirty="0"/>
          </a:p>
          <a:p>
            <a:pPr indent="0" marL="0">
              <a:buNone/>
            </a:pPr>
            <a:r>
              <a:rPr lang="en-US" sz="1200" dirty="0">
                <a:solidFill>
                  <a:schemeClr val="tx2"/>
                </a:solidFill>
              </a:rPr>
              <a:t>Slow to search, easy to lose</a:t>
            </a:r>
            <a:endParaRPr lang="en-US" sz="1400" dirty="0"/>
          </a:p>
        </p:txBody>
      </p:sp>
      <p:sp>
        <p:nvSpPr>
          <p:cNvPr id="7" name="Card 18"/>
          <p:cNvSpPr/>
          <p:nvPr/>
        </p:nvSpPr>
        <p:spPr>
          <a:xfrm>
            <a:off x="3794760" y="1737360"/>
            <a:ext cx="3063240" cy="1097280"/>
          </a:xfrm>
          <a:prstGeom prst="roundRect">
            <a:avLst>
              <a:gd name="adj" fmla="val 6667"/>
            </a:avLst>
          </a:prstGeom>
          <a:solidFill>
            <a:schemeClr val="bg2"/>
          </a:solidFill>
          <a:ln w="9525">
            <a:solidFill>
              <a:schemeClr val="accent3"/>
            </a:solidFill>
            <a:prstDash val="solid"/>
          </a:ln>
        </p:spPr>
      </p:sp>
      <p:sp>
        <p:nvSpPr>
          <p:cNvPr id="8" name="Text 6"/>
          <p:cNvSpPr txBox="1"/>
          <p:nvPr/>
        </p:nvSpPr>
        <p:spPr>
          <a:xfrm>
            <a:off x="3977640" y="1828800"/>
            <a:ext cx="2697480" cy="914400"/>
          </a:xfrm>
          <a:prstGeom prst="rect">
            <a:avLst/>
          </a:prstGeom>
          <a:noFill/>
          <a:ln/>
        </p:spPr>
        <p:txBody>
          <a:bodyPr wrap="square" lIns="0" tIns="0" rIns="0" bIns="0" rtlCol="0" anchor="ctr"/>
          <a:lstStyle/>
          <a:p>
            <a:pPr indent="0" marL="0">
              <a:buNone/>
            </a:pPr>
            <a:r>
              <a:rPr lang="en-US" sz="1500" b="1" dirty="0">
                <a:solidFill>
                  <a:schemeClr val="tx1"/>
                </a:solidFill>
              </a:rPr>
              <a:t>Scattered data</a:t>
            </a:r>
            <a:endParaRPr lang="en-US" sz="1400" dirty="0"/>
          </a:p>
          <a:p>
            <a:pPr indent="0" marL="0">
              <a:buNone/>
            </a:pPr>
            <a:r>
              <a:rPr lang="en-US" sz="1200" dirty="0">
                <a:solidFill>
                  <a:schemeClr val="tx2"/>
                </a:solidFill>
              </a:rPr>
              <a:t>Hard to assemble a full student profile</a:t>
            </a:r>
            <a:endParaRPr lang="en-US" sz="1400" dirty="0"/>
          </a:p>
        </p:txBody>
      </p:sp>
      <p:sp>
        <p:nvSpPr>
          <p:cNvPr id="9" name="Card 19"/>
          <p:cNvSpPr/>
          <p:nvPr/>
        </p:nvSpPr>
        <p:spPr>
          <a:xfrm>
            <a:off x="548640" y="2971800"/>
            <a:ext cx="3063240" cy="1097280"/>
          </a:xfrm>
          <a:prstGeom prst="roundRect">
            <a:avLst>
              <a:gd name="adj" fmla="val 6667"/>
            </a:avLst>
          </a:prstGeom>
          <a:solidFill>
            <a:schemeClr val="bg2"/>
          </a:solidFill>
          <a:ln w="9525">
            <a:solidFill>
              <a:schemeClr val="accent3"/>
            </a:solidFill>
            <a:prstDash val="solid"/>
          </a:ln>
        </p:spPr>
      </p:sp>
      <p:sp>
        <p:nvSpPr>
          <p:cNvPr id="10" name="Text 8"/>
          <p:cNvSpPr txBox="1"/>
          <p:nvPr/>
        </p:nvSpPr>
        <p:spPr>
          <a:xfrm>
            <a:off x="731520" y="3063240"/>
            <a:ext cx="2697480" cy="914400"/>
          </a:xfrm>
          <a:prstGeom prst="rect">
            <a:avLst/>
          </a:prstGeom>
          <a:noFill/>
          <a:ln/>
        </p:spPr>
        <p:txBody>
          <a:bodyPr wrap="square" lIns="0" tIns="0" rIns="0" bIns="0" rtlCol="0" anchor="ctr"/>
          <a:lstStyle/>
          <a:p>
            <a:pPr indent="0" marL="0">
              <a:buNone/>
            </a:pPr>
            <a:r>
              <a:rPr lang="en-US" sz="1500" b="1" dirty="0">
                <a:solidFill>
                  <a:schemeClr val="tx1"/>
                </a:solidFill>
              </a:rPr>
              <a:t>Error-prone calculation</a:t>
            </a:r>
            <a:endParaRPr lang="en-US" sz="1400" dirty="0"/>
          </a:p>
          <a:p>
            <a:pPr indent="0" marL="0">
              <a:buNone/>
            </a:pPr>
            <a:r>
              <a:rPr lang="en-US" sz="1200" dirty="0">
                <a:solidFill>
                  <a:schemeClr val="tx2"/>
                </a:solidFill>
              </a:rPr>
              <a:t>Totals, grades, attendance % by hand</a:t>
            </a:r>
            <a:endParaRPr lang="en-US" sz="1400" dirty="0"/>
          </a:p>
        </p:txBody>
      </p:sp>
      <p:sp>
        <p:nvSpPr>
          <p:cNvPr id="11" name="Card 20"/>
          <p:cNvSpPr/>
          <p:nvPr/>
        </p:nvSpPr>
        <p:spPr>
          <a:xfrm>
            <a:off x="3794760" y="2971800"/>
            <a:ext cx="3063240" cy="1097280"/>
          </a:xfrm>
          <a:prstGeom prst="roundRect">
            <a:avLst>
              <a:gd name="adj" fmla="val 6667"/>
            </a:avLst>
          </a:prstGeom>
          <a:solidFill>
            <a:schemeClr val="bg2"/>
          </a:solidFill>
          <a:ln w="9525">
            <a:solidFill>
              <a:schemeClr val="accent3"/>
            </a:solidFill>
            <a:prstDash val="solid"/>
          </a:ln>
        </p:spPr>
      </p:sp>
      <p:sp>
        <p:nvSpPr>
          <p:cNvPr id="12" name="Text 10"/>
          <p:cNvSpPr txBox="1"/>
          <p:nvPr/>
        </p:nvSpPr>
        <p:spPr>
          <a:xfrm>
            <a:off x="3977640" y="3063240"/>
            <a:ext cx="2697480" cy="914400"/>
          </a:xfrm>
          <a:prstGeom prst="rect">
            <a:avLst/>
          </a:prstGeom>
          <a:noFill/>
          <a:ln/>
        </p:spPr>
        <p:txBody>
          <a:bodyPr wrap="square" lIns="0" tIns="0" rIns="0" bIns="0" rtlCol="0" anchor="ctr"/>
          <a:lstStyle/>
          <a:p>
            <a:pPr indent="0" marL="0">
              <a:buNone/>
            </a:pPr>
            <a:r>
              <a:rPr lang="en-US" sz="1500" b="1" dirty="0">
                <a:solidFill>
                  <a:schemeClr val="tx1"/>
                </a:solidFill>
              </a:rPr>
              <a:t>Delayed information</a:t>
            </a:r>
            <a:endParaRPr lang="en-US" sz="1400" dirty="0"/>
          </a:p>
          <a:p>
            <a:pPr indent="0" marL="0">
              <a:buNone/>
            </a:pPr>
            <a:r>
              <a:rPr lang="en-US" sz="1200" dirty="0">
                <a:solidFill>
                  <a:schemeClr val="tx2"/>
                </a:solidFill>
              </a:rPr>
              <a:t>Students learn of shortage or results late</a:t>
            </a:r>
            <a:endParaRPr lang="en-US" sz="1400" dirty="0"/>
          </a:p>
        </p:txBody>
      </p:sp>
      <p:sp>
        <p:nvSpPr>
          <p:cNvPr id="13" name="Card 21"/>
          <p:cNvSpPr/>
          <p:nvPr/>
        </p:nvSpPr>
        <p:spPr>
          <a:xfrm>
            <a:off x="548640" y="4206240"/>
            <a:ext cx="3063240" cy="1097280"/>
          </a:xfrm>
          <a:prstGeom prst="roundRect">
            <a:avLst>
              <a:gd name="adj" fmla="val 6667"/>
            </a:avLst>
          </a:prstGeom>
          <a:solidFill>
            <a:schemeClr val="bg2"/>
          </a:solidFill>
          <a:ln w="9525">
            <a:solidFill>
              <a:schemeClr val="accent3"/>
            </a:solidFill>
            <a:prstDash val="solid"/>
          </a:ln>
        </p:spPr>
      </p:sp>
      <p:sp>
        <p:nvSpPr>
          <p:cNvPr id="14" name="Text 12"/>
          <p:cNvSpPr txBox="1"/>
          <p:nvPr/>
        </p:nvSpPr>
        <p:spPr>
          <a:xfrm>
            <a:off x="731520" y="4297680"/>
            <a:ext cx="2697480" cy="914400"/>
          </a:xfrm>
          <a:prstGeom prst="rect">
            <a:avLst/>
          </a:prstGeom>
          <a:noFill/>
          <a:ln/>
        </p:spPr>
        <p:txBody>
          <a:bodyPr wrap="square" lIns="0" tIns="0" rIns="0" bIns="0" rtlCol="0" anchor="ctr"/>
          <a:lstStyle/>
          <a:p>
            <a:pPr indent="0" marL="0">
              <a:buNone/>
            </a:pPr>
            <a:r>
              <a:rPr lang="en-US" sz="1500" b="1" dirty="0">
                <a:solidFill>
                  <a:schemeClr val="tx1"/>
                </a:solidFill>
              </a:rPr>
              <a:t>Limited reporting</a:t>
            </a:r>
            <a:endParaRPr lang="en-US" sz="1400" dirty="0"/>
          </a:p>
          <a:p>
            <a:pPr indent="0" marL="0">
              <a:buNone/>
            </a:pPr>
            <a:r>
              <a:rPr lang="en-US" sz="1200" dirty="0">
                <a:solidFill>
                  <a:schemeClr val="tx2"/>
                </a:solidFill>
              </a:rPr>
              <a:t>Class-wise statistics take hours</a:t>
            </a:r>
            <a:endParaRPr lang="en-US" sz="1400" dirty="0"/>
          </a:p>
        </p:txBody>
      </p:sp>
      <p:sp>
        <p:nvSpPr>
          <p:cNvPr id="15" name="Card 22"/>
          <p:cNvSpPr/>
          <p:nvPr/>
        </p:nvSpPr>
        <p:spPr>
          <a:xfrm>
            <a:off x="3794760" y="4206240"/>
            <a:ext cx="3063240" cy="1097280"/>
          </a:xfrm>
          <a:prstGeom prst="roundRect">
            <a:avLst>
              <a:gd name="adj" fmla="val 6667"/>
            </a:avLst>
          </a:prstGeom>
          <a:solidFill>
            <a:schemeClr val="bg2"/>
          </a:solidFill>
          <a:ln w="9525">
            <a:solidFill>
              <a:schemeClr val="accent3"/>
            </a:solidFill>
            <a:prstDash val="solid"/>
          </a:ln>
        </p:spPr>
      </p:sp>
      <p:sp>
        <p:nvSpPr>
          <p:cNvPr id="16" name="Text 14"/>
          <p:cNvSpPr txBox="1"/>
          <p:nvPr/>
        </p:nvSpPr>
        <p:spPr>
          <a:xfrm>
            <a:off x="3977640" y="4297680"/>
            <a:ext cx="2697480" cy="914400"/>
          </a:xfrm>
          <a:prstGeom prst="rect">
            <a:avLst/>
          </a:prstGeom>
          <a:noFill/>
          <a:ln/>
        </p:spPr>
        <p:txBody>
          <a:bodyPr wrap="square" lIns="0" tIns="0" rIns="0" bIns="0" rtlCol="0" anchor="ctr"/>
          <a:lstStyle/>
          <a:p>
            <a:pPr indent="0" marL="0">
              <a:buNone/>
            </a:pPr>
            <a:r>
              <a:rPr lang="en-US" sz="1500" b="1" dirty="0">
                <a:solidFill>
                  <a:schemeClr val="tx1"/>
                </a:solidFill>
              </a:rPr>
              <a:t>Weak access control</a:t>
            </a:r>
            <a:endParaRPr lang="en-US" sz="1400" dirty="0"/>
          </a:p>
          <a:p>
            <a:pPr indent="0" marL="0">
              <a:buNone/>
            </a:pPr>
            <a:r>
              <a:rPr lang="en-US" sz="1200" dirty="0">
                <a:solidFill>
                  <a:schemeClr val="tx2"/>
                </a:solidFill>
              </a:rPr>
              <a:t>Anyone with the register can alter entries</a:t>
            </a:r>
            <a:endParaRPr lang="en-US" sz="1400" dirty="0"/>
          </a:p>
        </p:txBody>
      </p:sp>
      <p:sp>
        <p:nvSpPr>
          <p:cNvPr id="17" name="Card 23"/>
          <p:cNvSpPr/>
          <p:nvPr/>
        </p:nvSpPr>
        <p:spPr>
          <a:xfrm>
            <a:off x="7269480" y="1371600"/>
            <a:ext cx="4370832" cy="4617720"/>
          </a:xfrm>
          <a:prstGeom prst="roundRect">
            <a:avLst>
              <a:gd name="adj" fmla="val 1674"/>
            </a:avLst>
          </a:prstGeom>
          <a:solidFill>
            <a:schemeClr val="accent5"/>
          </a:solidFill>
          <a:ln w="9525">
            <a:solidFill>
              <a:schemeClr val="accent1"/>
            </a:solidFill>
            <a:prstDash val="solid"/>
          </a:ln>
        </p:spPr>
      </p:sp>
      <p:sp>
        <p:nvSpPr>
          <p:cNvPr id="18" name="Text 16"/>
          <p:cNvSpPr txBox="1"/>
          <p:nvPr/>
        </p:nvSpPr>
        <p:spPr>
          <a:xfrm>
            <a:off x="7589520" y="1600200"/>
            <a:ext cx="3657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PROPOSED SYSTEM</a:t>
            </a:r>
            <a:endParaRPr lang="en-US" sz="1100" dirty="0"/>
          </a:p>
        </p:txBody>
      </p:sp>
      <p:sp>
        <p:nvSpPr>
          <p:cNvPr id="19" name="Text 17"/>
          <p:cNvSpPr txBox="1"/>
          <p:nvPr/>
        </p:nvSpPr>
        <p:spPr>
          <a:xfrm>
            <a:off x="7589520" y="1965960"/>
            <a:ext cx="3749040" cy="1371600"/>
          </a:xfrm>
          <a:prstGeom prst="rect">
            <a:avLst/>
          </a:prstGeom>
          <a:noFill/>
          <a:ln/>
        </p:spPr>
        <p:txBody>
          <a:bodyPr wrap="square" lIns="0" tIns="0" rIns="0" bIns="0" rtlCol="0" anchor="t"/>
          <a:lstStyle/>
          <a:p>
            <a:pPr indent="0" marL="0">
              <a:buNone/>
            </a:pPr>
            <a:r>
              <a:rPr lang="en-US" sz="1500" dirty="0">
                <a:solidFill>
                  <a:schemeClr val="tx1"/>
                </a:solidFill>
              </a:rPr>
              <a:t>A secure, easy-to-use, reliable web-based system that replaces manual record keeping with an integrated digital workflow.</a:t>
            </a:r>
            <a:endParaRPr lang="en-US" sz="1500" dirty="0"/>
          </a:p>
        </p:txBody>
      </p:sp>
      <p:sp>
        <p:nvSpPr>
          <p:cNvPr id="20" name="Text 18"/>
          <p:cNvSpPr txBox="1"/>
          <p:nvPr/>
        </p:nvSpPr>
        <p:spPr>
          <a:xfrm>
            <a:off x="7589520" y="3383280"/>
            <a:ext cx="3749040" cy="24688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Central relational database</a:t>
            </a:r>
            <a:endParaRPr lang="en-US" sz="1400" dirty="0"/>
          </a:p>
          <a:p>
            <a:pPr marL="177800" indent="-177800">
              <a:spcAft>
                <a:spcPts val="600"/>
              </a:spcAft>
              <a:buSzPct val="100000"/>
              <a:buChar char="•"/>
            </a:pPr>
            <a:r>
              <a:rPr lang="en-US" sz="1300" dirty="0">
                <a:solidFill>
                  <a:schemeClr val="tx1"/>
                </a:solidFill>
              </a:rPr>
              <a:t>Role-based web interface</a:t>
            </a:r>
            <a:endParaRPr lang="en-US" sz="1400" dirty="0"/>
          </a:p>
          <a:p>
            <a:pPr marL="177800" indent="-177800">
              <a:spcAft>
                <a:spcPts val="600"/>
              </a:spcAft>
              <a:buSzPct val="100000"/>
              <a:buChar char="•"/>
            </a:pPr>
            <a:r>
              <a:rPr lang="en-US" sz="1300" dirty="0">
                <a:solidFill>
                  <a:schemeClr val="tx1"/>
                </a:solidFill>
              </a:rPr>
              <a:t>Enrolment, attendance and marks update records immediately</a:t>
            </a:r>
            <a:endParaRPr lang="en-US" sz="1400" dirty="0"/>
          </a:p>
          <a:p>
            <a:pPr marL="177800" indent="-177800">
              <a:spcAft>
                <a:spcPts val="600"/>
              </a:spcAft>
              <a:buSzPct val="100000"/>
              <a:buChar char="•"/>
            </a:pPr>
            <a:r>
              <a:rPr lang="en-US" sz="1300" dirty="0">
                <a:solidFill>
                  <a:schemeClr val="tx1"/>
                </a:solidFill>
              </a:rPr>
              <a:t>Percentages and grades computed by the system</a:t>
            </a:r>
            <a:endParaRPr lang="en-US" sz="1400" dirty="0"/>
          </a:p>
          <a:p>
            <a:pPr marL="177800" indent="-177800">
              <a:spcAft>
                <a:spcPts val="600"/>
              </a:spcAft>
              <a:buSzPct val="100000"/>
              <a:buChar char="•"/>
            </a:pPr>
            <a:r>
              <a:rPr lang="en-US" sz="1300" dirty="0">
                <a:solidFill>
                  <a:schemeClr val="tx1"/>
                </a:solidFill>
              </a:rPr>
              <a:t>Reports generated on demand</a:t>
            </a:r>
            <a:endParaRPr lang="en-US" sz="14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Project Objectives and Scope</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05  OBJECTIVES</a:t>
            </a:r>
            <a:endParaRPr lang="en-US" sz="1100" dirty="0"/>
          </a:p>
        </p:txBody>
      </p:sp>
      <p:sp>
        <p:nvSpPr>
          <p:cNvPr id="4" name="Card 24"/>
          <p:cNvSpPr/>
          <p:nvPr/>
        </p:nvSpPr>
        <p:spPr>
          <a:xfrm>
            <a:off x="548640" y="1417320"/>
            <a:ext cx="5577840" cy="4572000"/>
          </a:xfrm>
          <a:prstGeom prst="roundRect">
            <a:avLst>
              <a:gd name="adj" fmla="val 1600"/>
            </a:avLst>
          </a:prstGeom>
          <a:solidFill>
            <a:schemeClr val="bg2"/>
          </a:solidFill>
          <a:ln w="9525">
            <a:solidFill>
              <a:schemeClr val="accent3"/>
            </a:solidFill>
            <a:prstDash val="solid"/>
          </a:ln>
        </p:spPr>
      </p:sp>
      <p:sp>
        <p:nvSpPr>
          <p:cNvPr id="5" name="Text 3"/>
          <p:cNvSpPr txBox="1"/>
          <p:nvPr/>
        </p:nvSpPr>
        <p:spPr>
          <a:xfrm>
            <a:off x="822960" y="1572768"/>
            <a:ext cx="4572000" cy="365760"/>
          </a:xfrm>
          <a:prstGeom prst="rect">
            <a:avLst/>
          </a:prstGeom>
          <a:noFill/>
          <a:ln/>
        </p:spPr>
        <p:txBody>
          <a:bodyPr wrap="square" lIns="0" tIns="0" rIns="0" bIns="0" rtlCol="0" anchor="t"/>
          <a:lstStyle/>
          <a:p>
            <a:pPr indent="0" marL="0">
              <a:buNone/>
            </a:pPr>
            <a:r>
              <a:rPr lang="en-US" sz="2000" b="1" dirty="0">
                <a:solidFill>
                  <a:schemeClr val="accent1"/>
                </a:solidFill>
              </a:rPr>
              <a:t>Objectives</a:t>
            </a:r>
            <a:endParaRPr lang="en-US" sz="2000" dirty="0"/>
          </a:p>
        </p:txBody>
      </p:sp>
      <p:sp>
        <p:nvSpPr>
          <p:cNvPr id="6" name="Text 4"/>
          <p:cNvSpPr txBox="1"/>
          <p:nvPr/>
        </p:nvSpPr>
        <p:spPr>
          <a:xfrm>
            <a:off x="822960" y="2057400"/>
            <a:ext cx="5074920" cy="3840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Searchable records of students, faculty, departments and courses</a:t>
            </a:r>
            <a:endParaRPr lang="en-US" sz="1400" dirty="0"/>
          </a:p>
          <a:p>
            <a:pPr marL="177800" indent="-177800">
              <a:spcAft>
                <a:spcPts val="600"/>
              </a:spcAft>
              <a:buSzPct val="100000"/>
              <a:buChar char="•"/>
            </a:pPr>
            <a:r>
              <a:rPr lang="en-US" sz="1400" dirty="0">
                <a:solidFill>
                  <a:schemeClr val="tx1"/>
                </a:solidFill>
              </a:rPr>
              <a:t>Automate enrolment with duplicate and seat-capacity checks</a:t>
            </a:r>
            <a:endParaRPr lang="en-US" sz="1400" dirty="0"/>
          </a:p>
          <a:p>
            <a:pPr marL="177800" indent="-177800">
              <a:spcAft>
                <a:spcPts val="600"/>
              </a:spcAft>
              <a:buSzPct val="100000"/>
              <a:buChar char="•"/>
            </a:pPr>
            <a:r>
              <a:rPr lang="en-US" sz="1400" dirty="0">
                <a:solidFill>
                  <a:schemeClr val="tx1"/>
                </a:solidFill>
              </a:rPr>
              <a:t>Session-wise attendance with automatic percentage</a:t>
            </a:r>
            <a:endParaRPr lang="en-US" sz="1400" dirty="0"/>
          </a:p>
          <a:p>
            <a:pPr marL="177800" indent="-177800">
              <a:spcAft>
                <a:spcPts val="600"/>
              </a:spcAft>
              <a:buSzPct val="100000"/>
              <a:buChar char="•"/>
            </a:pPr>
            <a:r>
              <a:rPr lang="en-US" sz="1400" dirty="0">
                <a:solidFill>
                  <a:schemeClr val="tx1"/>
                </a:solidFill>
              </a:rPr>
              <a:t>Marks, totals, grades and pass/fail from configurable rules</a:t>
            </a:r>
            <a:endParaRPr lang="en-US" sz="1400" dirty="0"/>
          </a:p>
          <a:p>
            <a:pPr marL="177800" indent="-177800">
              <a:spcAft>
                <a:spcPts val="600"/>
              </a:spcAft>
              <a:buSzPct val="100000"/>
              <a:buChar char="•"/>
            </a:pPr>
            <a:r>
              <a:rPr lang="en-US" sz="1400" dirty="0">
                <a:solidFill>
                  <a:schemeClr val="tx1"/>
                </a:solidFill>
              </a:rPr>
              <a:t>Secure role-based access for admin, faculty and student</a:t>
            </a:r>
            <a:endParaRPr lang="en-US" sz="1400" dirty="0"/>
          </a:p>
          <a:p>
            <a:pPr marL="177800" indent="-177800">
              <a:spcAft>
                <a:spcPts val="600"/>
              </a:spcAft>
              <a:buSzPct val="100000"/>
              <a:buChar char="•"/>
            </a:pPr>
            <a:r>
              <a:rPr lang="en-US" sz="1400" dirty="0">
                <a:solidFill>
                  <a:schemeClr val="tx1"/>
                </a:solidFill>
              </a:rPr>
              <a:t>Reports on attendance, results and enrolment</a:t>
            </a:r>
            <a:endParaRPr lang="en-US" sz="1400" dirty="0"/>
          </a:p>
        </p:txBody>
      </p:sp>
      <p:sp>
        <p:nvSpPr>
          <p:cNvPr id="7" name="Card 25"/>
          <p:cNvSpPr/>
          <p:nvPr/>
        </p:nvSpPr>
        <p:spPr>
          <a:xfrm>
            <a:off x="6400800" y="1417320"/>
            <a:ext cx="5239512" cy="2423160"/>
          </a:xfrm>
          <a:prstGeom prst="roundRect">
            <a:avLst>
              <a:gd name="adj" fmla="val 3019"/>
            </a:avLst>
          </a:prstGeom>
          <a:solidFill>
            <a:schemeClr val="accent5"/>
          </a:solidFill>
          <a:ln w="9525">
            <a:solidFill>
              <a:schemeClr val="accent3"/>
            </a:solidFill>
            <a:prstDash val="solid"/>
          </a:ln>
        </p:spPr>
      </p:sp>
      <p:sp>
        <p:nvSpPr>
          <p:cNvPr id="8" name="Shape 6"/>
          <p:cNvSpPr/>
          <p:nvPr/>
        </p:nvSpPr>
        <p:spPr>
          <a:xfrm>
            <a:off x="6675120" y="1600200"/>
            <a:ext cx="457200" cy="457200"/>
          </a:xfrm>
          <a:prstGeom prst="ellipse">
            <a:avLst/>
          </a:prstGeom>
          <a:solidFill>
            <a:schemeClr val="accent5"/>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6793992" y="1719072"/>
            <a:ext cx="219456" cy="219456"/>
          </a:xfrm>
          <a:prstGeom prst="rect">
            <a:avLst/>
          </a:prstGeom>
        </p:spPr>
      </p:pic>
      <p:sp>
        <p:nvSpPr>
          <p:cNvPr id="10" name="Text 7"/>
          <p:cNvSpPr txBox="1"/>
          <p:nvPr/>
        </p:nvSpPr>
        <p:spPr>
          <a:xfrm>
            <a:off x="7315200" y="1645920"/>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In Scope</a:t>
            </a:r>
            <a:endParaRPr lang="en-US" sz="1800" dirty="0"/>
          </a:p>
        </p:txBody>
      </p:sp>
      <p:sp>
        <p:nvSpPr>
          <p:cNvPr id="11" name="Text 8"/>
          <p:cNvSpPr txBox="1"/>
          <p:nvPr/>
        </p:nvSpPr>
        <p:spPr>
          <a:xfrm>
            <a:off x="6675120" y="2240280"/>
            <a:ext cx="4663440" cy="1463040"/>
          </a:xfrm>
          <a:prstGeom prst="rect">
            <a:avLst/>
          </a:prstGeom>
          <a:noFill/>
          <a:ln/>
        </p:spPr>
        <p:txBody>
          <a:bodyPr wrap="square" lIns="0" tIns="0" rIns="0" bIns="0" rtlCol="0" anchor="t"/>
          <a:lstStyle/>
          <a:p>
            <a:pPr indent="0" marL="0">
              <a:buNone/>
            </a:pPr>
            <a:r>
              <a:rPr lang="en-US" sz="1400" dirty="0">
                <a:solidFill>
                  <a:schemeClr val="tx1"/>
                </a:solidFill>
              </a:rPr>
              <a:t>Single institution: student and faculty management, course administration, enrolment, attendance, marks and results, reporting.</a:t>
            </a:r>
            <a:endParaRPr lang="en-US" sz="1400" dirty="0"/>
          </a:p>
        </p:txBody>
      </p:sp>
      <p:sp>
        <p:nvSpPr>
          <p:cNvPr id="12" name="Card 26"/>
          <p:cNvSpPr/>
          <p:nvPr/>
        </p:nvSpPr>
        <p:spPr>
          <a:xfrm>
            <a:off x="6400800" y="4023360"/>
            <a:ext cx="5239512" cy="1965960"/>
          </a:xfrm>
          <a:prstGeom prst="roundRect">
            <a:avLst>
              <a:gd name="adj" fmla="val 3721"/>
            </a:avLst>
          </a:prstGeom>
          <a:solidFill>
            <a:schemeClr val="bg2"/>
          </a:solidFill>
          <a:ln w="9525">
            <a:solidFill>
              <a:schemeClr val="accent3"/>
            </a:solidFill>
            <a:prstDash val="solid"/>
          </a:ln>
        </p:spPr>
      </p:sp>
      <p:sp>
        <p:nvSpPr>
          <p:cNvPr id="13" name="Shape 10"/>
          <p:cNvSpPr/>
          <p:nvPr/>
        </p:nvSpPr>
        <p:spPr>
          <a:xfrm>
            <a:off x="6675120" y="4206240"/>
            <a:ext cx="457200" cy="457200"/>
          </a:xfrm>
          <a:prstGeom prst="ellipse">
            <a:avLst/>
          </a:prstGeom>
          <a:solidFill>
            <a:schemeClr val="accent5"/>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6793992" y="4325112"/>
            <a:ext cx="219456" cy="219456"/>
          </a:xfrm>
          <a:prstGeom prst="rect">
            <a:avLst/>
          </a:prstGeom>
        </p:spPr>
      </p:pic>
      <p:sp>
        <p:nvSpPr>
          <p:cNvPr id="15" name="Text 11"/>
          <p:cNvSpPr txBox="1"/>
          <p:nvPr/>
        </p:nvSpPr>
        <p:spPr>
          <a:xfrm>
            <a:off x="7315200" y="4251960"/>
            <a:ext cx="4114800" cy="365760"/>
          </a:xfrm>
          <a:prstGeom prst="rect">
            <a:avLst/>
          </a:prstGeom>
          <a:noFill/>
          <a:ln/>
        </p:spPr>
        <p:txBody>
          <a:bodyPr wrap="square" lIns="0" tIns="0" rIns="0" bIns="0" rtlCol="0" anchor="t"/>
          <a:lstStyle/>
          <a:p>
            <a:pPr indent="0" marL="0">
              <a:buNone/>
            </a:pPr>
            <a:r>
              <a:rPr lang="en-US" sz="1800" b="1" dirty="0">
                <a:solidFill>
                  <a:schemeClr val="accent4"/>
                </a:solidFill>
              </a:rPr>
              <a:t>Out of Scope (future work)</a:t>
            </a:r>
            <a:endParaRPr lang="en-US" sz="1800" dirty="0"/>
          </a:p>
        </p:txBody>
      </p:sp>
      <p:sp>
        <p:nvSpPr>
          <p:cNvPr id="16" name="Text 12"/>
          <p:cNvSpPr txBox="1"/>
          <p:nvPr/>
        </p:nvSpPr>
        <p:spPr>
          <a:xfrm>
            <a:off x="6675120" y="4846320"/>
            <a:ext cx="4663440" cy="1005840"/>
          </a:xfrm>
          <a:prstGeom prst="rect">
            <a:avLst/>
          </a:prstGeom>
          <a:noFill/>
          <a:ln/>
        </p:spPr>
        <p:txBody>
          <a:bodyPr wrap="square" lIns="0" tIns="0" rIns="0" bIns="0" rtlCol="0" anchor="t"/>
          <a:lstStyle/>
          <a:p>
            <a:pPr indent="0" marL="0">
              <a:buNone/>
            </a:pPr>
            <a:r>
              <a:rPr lang="en-US" sz="1400" dirty="0">
                <a:solidFill>
                  <a:schemeClr val="tx1"/>
                </a:solidFill>
              </a:rPr>
              <a:t>Fee collection, online examinations, multi-campus synchronisation.</a:t>
            </a:r>
            <a:endParaRPr lang="en-US" sz="14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Technologies Used</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06  TECHNOLOGY</a:t>
            </a:r>
            <a:endParaRPr lang="en-US" sz="1100" dirty="0"/>
          </a:p>
        </p:txBody>
      </p:sp>
      <p:sp>
        <p:nvSpPr>
          <p:cNvPr id="4" name="Card 27"/>
          <p:cNvSpPr/>
          <p:nvPr/>
        </p:nvSpPr>
        <p:spPr>
          <a:xfrm>
            <a:off x="548640" y="1463040"/>
            <a:ext cx="3593592" cy="2148840"/>
          </a:xfrm>
          <a:prstGeom prst="roundRect">
            <a:avLst>
              <a:gd name="adj" fmla="val 3404"/>
            </a:avLst>
          </a:prstGeom>
          <a:solidFill>
            <a:schemeClr val="bg2"/>
          </a:solidFill>
          <a:ln w="9525">
            <a:solidFill>
              <a:schemeClr val="accent3"/>
            </a:solidFill>
            <a:prstDash val="solid"/>
          </a:ln>
        </p:spPr>
      </p:sp>
      <p:sp>
        <p:nvSpPr>
          <p:cNvPr id="5" name="Shape 3"/>
          <p:cNvSpPr/>
          <p:nvPr/>
        </p:nvSpPr>
        <p:spPr>
          <a:xfrm>
            <a:off x="777240" y="1691640"/>
            <a:ext cx="548640" cy="548640"/>
          </a:xfrm>
          <a:prstGeom prst="ellipse">
            <a:avLst/>
          </a:prstGeom>
          <a:solidFill>
            <a:schemeClr val="accent5"/>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19886" y="1834286"/>
            <a:ext cx="263347" cy="263347"/>
          </a:xfrm>
          <a:prstGeom prst="rect">
            <a:avLst/>
          </a:prstGeom>
        </p:spPr>
      </p:pic>
      <p:sp>
        <p:nvSpPr>
          <p:cNvPr id="7" name="Text 4"/>
          <p:cNvSpPr txBox="1"/>
          <p:nvPr/>
        </p:nvSpPr>
        <p:spPr>
          <a:xfrm>
            <a:off x="1463040" y="1737360"/>
            <a:ext cx="25603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PROGRAMMING LANGUAGE</a:t>
            </a:r>
            <a:endParaRPr lang="en-US" sz="1000" dirty="0"/>
          </a:p>
        </p:txBody>
      </p:sp>
      <p:sp>
        <p:nvSpPr>
          <p:cNvPr id="8" name="Text 5"/>
          <p:cNvSpPr txBox="1"/>
          <p:nvPr/>
        </p:nvSpPr>
        <p:spPr>
          <a:xfrm>
            <a:off x="1463040" y="1965960"/>
            <a:ext cx="2560320" cy="548640"/>
          </a:xfrm>
          <a:prstGeom prst="rect">
            <a:avLst/>
          </a:prstGeom>
          <a:noFill/>
          <a:ln/>
        </p:spPr>
        <p:txBody>
          <a:bodyPr wrap="square" lIns="0" tIns="0" rIns="0" bIns="0" rtlCol="0" anchor="t"/>
          <a:lstStyle/>
          <a:p>
            <a:pPr indent="0" marL="0">
              <a:buNone/>
            </a:pPr>
            <a:r>
              <a:rPr lang="en-US" sz="1500" b="1" dirty="0">
                <a:solidFill>
                  <a:schemeClr val="tx1"/>
                </a:solidFill>
              </a:rPr>
              <a:t>Java (JDK 17+)</a:t>
            </a:r>
            <a:endParaRPr lang="en-US" sz="1500" dirty="0"/>
          </a:p>
        </p:txBody>
      </p:sp>
      <p:sp>
        <p:nvSpPr>
          <p:cNvPr id="9" name="Text 6"/>
          <p:cNvSpPr txBox="1"/>
          <p:nvPr/>
        </p:nvSpPr>
        <p:spPr>
          <a:xfrm>
            <a:off x="777240" y="2651760"/>
            <a:ext cx="3154680" cy="822960"/>
          </a:xfrm>
          <a:prstGeom prst="rect">
            <a:avLst/>
          </a:prstGeom>
          <a:noFill/>
          <a:ln/>
        </p:spPr>
        <p:txBody>
          <a:bodyPr wrap="square" lIns="0" tIns="0" rIns="0" bIns="0" rtlCol="0" anchor="t"/>
          <a:lstStyle/>
          <a:p>
            <a:pPr indent="0" marL="0">
              <a:buNone/>
            </a:pPr>
            <a:r>
              <a:rPr lang="en-US" sz="1300" dirty="0">
                <a:solidFill>
                  <a:schemeClr val="tx2"/>
                </a:solidFill>
              </a:rPr>
              <a:t>Domain model and business logic using OOP</a:t>
            </a:r>
            <a:endParaRPr lang="en-US" sz="1300" dirty="0"/>
          </a:p>
        </p:txBody>
      </p:sp>
      <p:sp>
        <p:nvSpPr>
          <p:cNvPr id="10" name="Card 28"/>
          <p:cNvSpPr/>
          <p:nvPr/>
        </p:nvSpPr>
        <p:spPr>
          <a:xfrm>
            <a:off x="4297680" y="1463040"/>
            <a:ext cx="3593592" cy="2148840"/>
          </a:xfrm>
          <a:prstGeom prst="roundRect">
            <a:avLst>
              <a:gd name="adj" fmla="val 3404"/>
            </a:avLst>
          </a:prstGeom>
          <a:solidFill>
            <a:schemeClr val="bg2"/>
          </a:solidFill>
          <a:ln w="9525">
            <a:solidFill>
              <a:schemeClr val="accent3"/>
            </a:solidFill>
            <a:prstDash val="solid"/>
          </a:ln>
        </p:spPr>
      </p:sp>
      <p:sp>
        <p:nvSpPr>
          <p:cNvPr id="11" name="Shape 8"/>
          <p:cNvSpPr/>
          <p:nvPr/>
        </p:nvSpPr>
        <p:spPr>
          <a:xfrm>
            <a:off x="4526280" y="1691640"/>
            <a:ext cx="548640" cy="548640"/>
          </a:xfrm>
          <a:prstGeom prst="ellipse">
            <a:avLst/>
          </a:prstGeom>
          <a:solidFill>
            <a:schemeClr val="accent5"/>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4668926" y="1834286"/>
            <a:ext cx="263347" cy="263347"/>
          </a:xfrm>
          <a:prstGeom prst="rect">
            <a:avLst/>
          </a:prstGeom>
        </p:spPr>
      </p:pic>
      <p:sp>
        <p:nvSpPr>
          <p:cNvPr id="13" name="Text 9"/>
          <p:cNvSpPr txBox="1"/>
          <p:nvPr/>
        </p:nvSpPr>
        <p:spPr>
          <a:xfrm>
            <a:off x="5212080" y="1737360"/>
            <a:ext cx="25603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BACKEND FRAMEWORK</a:t>
            </a:r>
            <a:endParaRPr lang="en-US" sz="1000" dirty="0"/>
          </a:p>
        </p:txBody>
      </p:sp>
      <p:sp>
        <p:nvSpPr>
          <p:cNvPr id="14" name="Text 10"/>
          <p:cNvSpPr txBox="1"/>
          <p:nvPr/>
        </p:nvSpPr>
        <p:spPr>
          <a:xfrm>
            <a:off x="5212080" y="1965960"/>
            <a:ext cx="2560320" cy="548640"/>
          </a:xfrm>
          <a:prstGeom prst="rect">
            <a:avLst/>
          </a:prstGeom>
          <a:noFill/>
          <a:ln/>
        </p:spPr>
        <p:txBody>
          <a:bodyPr wrap="square" lIns="0" tIns="0" rIns="0" bIns="0" rtlCol="0" anchor="t"/>
          <a:lstStyle/>
          <a:p>
            <a:pPr indent="0" marL="0">
              <a:buNone/>
            </a:pPr>
            <a:r>
              <a:rPr lang="en-US" sz="1500" b="1" dirty="0">
                <a:solidFill>
                  <a:schemeClr val="tx1"/>
                </a:solidFill>
              </a:rPr>
              <a:t>Spring Boot / Spring MVC</a:t>
            </a:r>
            <a:endParaRPr lang="en-US" sz="1500" dirty="0"/>
          </a:p>
        </p:txBody>
      </p:sp>
      <p:sp>
        <p:nvSpPr>
          <p:cNvPr id="15" name="Text 11"/>
          <p:cNvSpPr txBox="1"/>
          <p:nvPr/>
        </p:nvSpPr>
        <p:spPr>
          <a:xfrm>
            <a:off x="4526280" y="2651760"/>
            <a:ext cx="3154680" cy="822960"/>
          </a:xfrm>
          <a:prstGeom prst="rect">
            <a:avLst/>
          </a:prstGeom>
          <a:noFill/>
          <a:ln/>
        </p:spPr>
        <p:txBody>
          <a:bodyPr wrap="square" lIns="0" tIns="0" rIns="0" bIns="0" rtlCol="0" anchor="t"/>
          <a:lstStyle/>
          <a:p>
            <a:pPr indent="0" marL="0">
              <a:buNone/>
            </a:pPr>
            <a:r>
              <a:rPr lang="en-US" sz="1300" dirty="0">
                <a:solidFill>
                  <a:schemeClr val="tx2"/>
                </a:solidFill>
              </a:rPr>
              <a:t>Controllers, services, configuration, REST support</a:t>
            </a:r>
            <a:endParaRPr lang="en-US" sz="1300" dirty="0"/>
          </a:p>
        </p:txBody>
      </p:sp>
      <p:sp>
        <p:nvSpPr>
          <p:cNvPr id="16" name="Card 29"/>
          <p:cNvSpPr/>
          <p:nvPr/>
        </p:nvSpPr>
        <p:spPr>
          <a:xfrm>
            <a:off x="8046720" y="1463040"/>
            <a:ext cx="3593592" cy="2148840"/>
          </a:xfrm>
          <a:prstGeom prst="roundRect">
            <a:avLst>
              <a:gd name="adj" fmla="val 3404"/>
            </a:avLst>
          </a:prstGeom>
          <a:solidFill>
            <a:schemeClr val="bg2"/>
          </a:solidFill>
          <a:ln w="9525">
            <a:solidFill>
              <a:schemeClr val="accent3"/>
            </a:solidFill>
            <a:prstDash val="solid"/>
          </a:ln>
        </p:spPr>
      </p:sp>
      <p:sp>
        <p:nvSpPr>
          <p:cNvPr id="17" name="Shape 13"/>
          <p:cNvSpPr/>
          <p:nvPr/>
        </p:nvSpPr>
        <p:spPr>
          <a:xfrm>
            <a:off x="8275320" y="1691640"/>
            <a:ext cx="548640" cy="548640"/>
          </a:xfrm>
          <a:prstGeom prst="ellipse">
            <a:avLst/>
          </a:prstGeom>
          <a:solidFill>
            <a:schemeClr val="accent5"/>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8417966" y="1834286"/>
            <a:ext cx="263347" cy="263347"/>
          </a:xfrm>
          <a:prstGeom prst="rect">
            <a:avLst/>
          </a:prstGeom>
        </p:spPr>
      </p:pic>
      <p:sp>
        <p:nvSpPr>
          <p:cNvPr id="19" name="Text 14"/>
          <p:cNvSpPr txBox="1"/>
          <p:nvPr/>
        </p:nvSpPr>
        <p:spPr>
          <a:xfrm>
            <a:off x="8961120" y="1737360"/>
            <a:ext cx="25603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FRONTEND</a:t>
            </a:r>
            <a:endParaRPr lang="en-US" sz="1000" dirty="0"/>
          </a:p>
        </p:txBody>
      </p:sp>
      <p:sp>
        <p:nvSpPr>
          <p:cNvPr id="20" name="Text 15"/>
          <p:cNvSpPr txBox="1"/>
          <p:nvPr/>
        </p:nvSpPr>
        <p:spPr>
          <a:xfrm>
            <a:off x="8961120" y="1965960"/>
            <a:ext cx="2560320" cy="548640"/>
          </a:xfrm>
          <a:prstGeom prst="rect">
            <a:avLst/>
          </a:prstGeom>
          <a:noFill/>
          <a:ln/>
        </p:spPr>
        <p:txBody>
          <a:bodyPr wrap="square" lIns="0" tIns="0" rIns="0" bIns="0" rtlCol="0" anchor="t"/>
          <a:lstStyle/>
          <a:p>
            <a:pPr indent="0" marL="0">
              <a:buNone/>
            </a:pPr>
            <a:r>
              <a:rPr lang="en-US" sz="1500" b="1" dirty="0">
                <a:solidFill>
                  <a:schemeClr val="tx1"/>
                </a:solidFill>
              </a:rPr>
              <a:t>HTML, CSS, JavaScript, JSP</a:t>
            </a:r>
            <a:endParaRPr lang="en-US" sz="1500" dirty="0"/>
          </a:p>
        </p:txBody>
      </p:sp>
      <p:sp>
        <p:nvSpPr>
          <p:cNvPr id="21" name="Text 16"/>
          <p:cNvSpPr txBox="1"/>
          <p:nvPr/>
        </p:nvSpPr>
        <p:spPr>
          <a:xfrm>
            <a:off x="8275320" y="2651760"/>
            <a:ext cx="3154680" cy="822960"/>
          </a:xfrm>
          <a:prstGeom prst="rect">
            <a:avLst/>
          </a:prstGeom>
          <a:noFill/>
          <a:ln/>
        </p:spPr>
        <p:txBody>
          <a:bodyPr wrap="square" lIns="0" tIns="0" rIns="0" bIns="0" rtlCol="0" anchor="t"/>
          <a:lstStyle/>
          <a:p>
            <a:pPr indent="0" marL="0">
              <a:buNone/>
            </a:pPr>
            <a:r>
              <a:rPr lang="en-US" sz="1300" dirty="0">
                <a:solidFill>
                  <a:schemeClr val="tx2"/>
                </a:solidFill>
              </a:rPr>
              <a:t>Web pages and form handling</a:t>
            </a:r>
            <a:endParaRPr lang="en-US" sz="1300" dirty="0"/>
          </a:p>
        </p:txBody>
      </p:sp>
      <p:sp>
        <p:nvSpPr>
          <p:cNvPr id="22" name="Card 30"/>
          <p:cNvSpPr/>
          <p:nvPr/>
        </p:nvSpPr>
        <p:spPr>
          <a:xfrm>
            <a:off x="548640" y="3794760"/>
            <a:ext cx="3593592" cy="2148840"/>
          </a:xfrm>
          <a:prstGeom prst="roundRect">
            <a:avLst>
              <a:gd name="adj" fmla="val 3404"/>
            </a:avLst>
          </a:prstGeom>
          <a:solidFill>
            <a:schemeClr val="bg2"/>
          </a:solidFill>
          <a:ln w="9525">
            <a:solidFill>
              <a:schemeClr val="accent3"/>
            </a:solidFill>
            <a:prstDash val="solid"/>
          </a:ln>
        </p:spPr>
      </p:sp>
      <p:sp>
        <p:nvSpPr>
          <p:cNvPr id="23" name="Shape 18"/>
          <p:cNvSpPr/>
          <p:nvPr/>
        </p:nvSpPr>
        <p:spPr>
          <a:xfrm>
            <a:off x="777240" y="4023360"/>
            <a:ext cx="548640" cy="548640"/>
          </a:xfrm>
          <a:prstGeom prst="ellipse">
            <a:avLst/>
          </a:prstGeom>
          <a:solidFill>
            <a:schemeClr val="accent5"/>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919886" y="4166006"/>
            <a:ext cx="263347" cy="263347"/>
          </a:xfrm>
          <a:prstGeom prst="rect">
            <a:avLst/>
          </a:prstGeom>
        </p:spPr>
      </p:pic>
      <p:sp>
        <p:nvSpPr>
          <p:cNvPr id="25" name="Text 19"/>
          <p:cNvSpPr txBox="1"/>
          <p:nvPr/>
        </p:nvSpPr>
        <p:spPr>
          <a:xfrm>
            <a:off x="1463040" y="4069080"/>
            <a:ext cx="25603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DATABASE</a:t>
            </a:r>
            <a:endParaRPr lang="en-US" sz="1000" dirty="0"/>
          </a:p>
        </p:txBody>
      </p:sp>
      <p:sp>
        <p:nvSpPr>
          <p:cNvPr id="26" name="Text 20"/>
          <p:cNvSpPr txBox="1"/>
          <p:nvPr/>
        </p:nvSpPr>
        <p:spPr>
          <a:xfrm>
            <a:off x="1463040" y="4297680"/>
            <a:ext cx="2560320" cy="548640"/>
          </a:xfrm>
          <a:prstGeom prst="rect">
            <a:avLst/>
          </a:prstGeom>
          <a:noFill/>
          <a:ln/>
        </p:spPr>
        <p:txBody>
          <a:bodyPr wrap="square" lIns="0" tIns="0" rIns="0" bIns="0" rtlCol="0" anchor="t"/>
          <a:lstStyle/>
          <a:p>
            <a:pPr indent="0" marL="0">
              <a:buNone/>
            </a:pPr>
            <a:r>
              <a:rPr lang="en-US" sz="1500" b="1" dirty="0">
                <a:solidFill>
                  <a:schemeClr val="tx1"/>
                </a:solidFill>
              </a:rPr>
              <a:t>MySQL 8</a:t>
            </a:r>
            <a:endParaRPr lang="en-US" sz="1500" dirty="0"/>
          </a:p>
        </p:txBody>
      </p:sp>
      <p:sp>
        <p:nvSpPr>
          <p:cNvPr id="27" name="Text 21"/>
          <p:cNvSpPr txBox="1"/>
          <p:nvPr/>
        </p:nvSpPr>
        <p:spPr>
          <a:xfrm>
            <a:off x="777240" y="4983480"/>
            <a:ext cx="3154680" cy="822960"/>
          </a:xfrm>
          <a:prstGeom prst="rect">
            <a:avLst/>
          </a:prstGeom>
          <a:noFill/>
          <a:ln/>
        </p:spPr>
        <p:txBody>
          <a:bodyPr wrap="square" lIns="0" tIns="0" rIns="0" bIns="0" rtlCol="0" anchor="t"/>
          <a:lstStyle/>
          <a:p>
            <a:pPr indent="0" marL="0">
              <a:buNone/>
            </a:pPr>
            <a:r>
              <a:rPr lang="en-US" sz="1300" dirty="0">
                <a:solidFill>
                  <a:schemeClr val="tx2"/>
                </a:solidFill>
              </a:rPr>
              <a:t>Central relational data store</a:t>
            </a:r>
            <a:endParaRPr lang="en-US" sz="1300" dirty="0"/>
          </a:p>
        </p:txBody>
      </p:sp>
      <p:sp>
        <p:nvSpPr>
          <p:cNvPr id="28" name="Card 31"/>
          <p:cNvSpPr/>
          <p:nvPr/>
        </p:nvSpPr>
        <p:spPr>
          <a:xfrm>
            <a:off x="4297680" y="3794760"/>
            <a:ext cx="3593592" cy="2148840"/>
          </a:xfrm>
          <a:prstGeom prst="roundRect">
            <a:avLst>
              <a:gd name="adj" fmla="val 3404"/>
            </a:avLst>
          </a:prstGeom>
          <a:solidFill>
            <a:schemeClr val="bg2"/>
          </a:solidFill>
          <a:ln w="9525">
            <a:solidFill>
              <a:schemeClr val="accent3"/>
            </a:solidFill>
            <a:prstDash val="solid"/>
          </a:ln>
        </p:spPr>
      </p:sp>
      <p:sp>
        <p:nvSpPr>
          <p:cNvPr id="29" name="Shape 23"/>
          <p:cNvSpPr/>
          <p:nvPr/>
        </p:nvSpPr>
        <p:spPr>
          <a:xfrm>
            <a:off x="4526280" y="4023360"/>
            <a:ext cx="548640" cy="548640"/>
          </a:xfrm>
          <a:prstGeom prst="ellipse">
            <a:avLst/>
          </a:prstGeom>
          <a:solidFill>
            <a:schemeClr val="accent5"/>
          </a:solidFill>
          <a:ln w="12700">
            <a:solidFill>
              <a:schemeClr val="accent1"/>
            </a:solidFill>
            <a:prstDash val="solid"/>
          </a:ln>
        </p:spPr>
      </p:sp>
      <p:pic>
        <p:nvPicPr>
          <p:cNvPr id="30" name="Image 4" descr="preencoded.png">    </p:cNvPr>
          <p:cNvPicPr>
            <a:picLocks noChangeAspect="1"/>
          </p:cNvPicPr>
          <p:nvPr/>
        </p:nvPicPr>
        <p:blipFill>
          <a:blip r:embed="rId5"/>
          <a:stretch>
            <a:fillRect/>
          </a:stretch>
        </p:blipFill>
        <p:spPr>
          <a:xfrm>
            <a:off x="4668926" y="4166006"/>
            <a:ext cx="263347" cy="263347"/>
          </a:xfrm>
          <a:prstGeom prst="rect">
            <a:avLst/>
          </a:prstGeom>
        </p:spPr>
      </p:pic>
      <p:sp>
        <p:nvSpPr>
          <p:cNvPr id="31" name="Text 24"/>
          <p:cNvSpPr txBox="1"/>
          <p:nvPr/>
        </p:nvSpPr>
        <p:spPr>
          <a:xfrm>
            <a:off x="5212080" y="4069080"/>
            <a:ext cx="25603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ORM FRAMEWORK</a:t>
            </a:r>
            <a:endParaRPr lang="en-US" sz="1000" dirty="0"/>
          </a:p>
        </p:txBody>
      </p:sp>
      <p:sp>
        <p:nvSpPr>
          <p:cNvPr id="32" name="Text 25"/>
          <p:cNvSpPr txBox="1"/>
          <p:nvPr/>
        </p:nvSpPr>
        <p:spPr>
          <a:xfrm>
            <a:off x="5212080" y="4297680"/>
            <a:ext cx="2560320" cy="548640"/>
          </a:xfrm>
          <a:prstGeom prst="rect">
            <a:avLst/>
          </a:prstGeom>
          <a:noFill/>
          <a:ln/>
        </p:spPr>
        <p:txBody>
          <a:bodyPr wrap="square" lIns="0" tIns="0" rIns="0" bIns="0" rtlCol="0" anchor="t"/>
          <a:lstStyle/>
          <a:p>
            <a:pPr indent="0" marL="0">
              <a:buNone/>
            </a:pPr>
            <a:r>
              <a:rPr lang="en-US" sz="1500" b="1" dirty="0">
                <a:solidFill>
                  <a:schemeClr val="tx1"/>
                </a:solidFill>
              </a:rPr>
              <a:t>Hibernate / JPA</a:t>
            </a:r>
            <a:endParaRPr lang="en-US" sz="1500" dirty="0"/>
          </a:p>
        </p:txBody>
      </p:sp>
      <p:sp>
        <p:nvSpPr>
          <p:cNvPr id="33" name="Text 26"/>
          <p:cNvSpPr txBox="1"/>
          <p:nvPr/>
        </p:nvSpPr>
        <p:spPr>
          <a:xfrm>
            <a:off x="4526280" y="4983480"/>
            <a:ext cx="3154680" cy="822960"/>
          </a:xfrm>
          <a:prstGeom prst="rect">
            <a:avLst/>
          </a:prstGeom>
          <a:noFill/>
          <a:ln/>
        </p:spPr>
        <p:txBody>
          <a:bodyPr wrap="square" lIns="0" tIns="0" rIns="0" bIns="0" rtlCol="0" anchor="t"/>
          <a:lstStyle/>
          <a:p>
            <a:pPr indent="0" marL="0">
              <a:buNone/>
            </a:pPr>
            <a:r>
              <a:rPr lang="en-US" sz="1300" dirty="0">
                <a:solidFill>
                  <a:schemeClr val="tx2"/>
                </a:solidFill>
              </a:rPr>
              <a:t>Maps entities to MySQL tables</a:t>
            </a:r>
            <a:endParaRPr lang="en-US" sz="1300" dirty="0"/>
          </a:p>
        </p:txBody>
      </p:sp>
      <p:sp>
        <p:nvSpPr>
          <p:cNvPr id="34" name="Card 32"/>
          <p:cNvSpPr/>
          <p:nvPr/>
        </p:nvSpPr>
        <p:spPr>
          <a:xfrm>
            <a:off x="8046720" y="3794760"/>
            <a:ext cx="3593592" cy="2148840"/>
          </a:xfrm>
          <a:prstGeom prst="roundRect">
            <a:avLst>
              <a:gd name="adj" fmla="val 3404"/>
            </a:avLst>
          </a:prstGeom>
          <a:solidFill>
            <a:schemeClr val="bg2"/>
          </a:solidFill>
          <a:ln w="9525">
            <a:solidFill>
              <a:schemeClr val="accent3"/>
            </a:solidFill>
            <a:prstDash val="solid"/>
          </a:ln>
        </p:spPr>
      </p:sp>
      <p:sp>
        <p:nvSpPr>
          <p:cNvPr id="35" name="Shape 28"/>
          <p:cNvSpPr/>
          <p:nvPr/>
        </p:nvSpPr>
        <p:spPr>
          <a:xfrm>
            <a:off x="8275320" y="4023360"/>
            <a:ext cx="548640" cy="548640"/>
          </a:xfrm>
          <a:prstGeom prst="ellipse">
            <a:avLst/>
          </a:prstGeom>
          <a:solidFill>
            <a:schemeClr val="accent5"/>
          </a:solidFill>
          <a:ln w="12700">
            <a:solidFill>
              <a:schemeClr val="accent1"/>
            </a:solidFill>
            <a:prstDash val="solid"/>
          </a:ln>
        </p:spPr>
      </p:sp>
      <p:pic>
        <p:nvPicPr>
          <p:cNvPr id="36" name="Image 5" descr="preencoded.png">    </p:cNvPr>
          <p:cNvPicPr>
            <a:picLocks noChangeAspect="1"/>
          </p:cNvPicPr>
          <p:nvPr/>
        </p:nvPicPr>
        <p:blipFill>
          <a:blip r:embed="rId6"/>
          <a:stretch>
            <a:fillRect/>
          </a:stretch>
        </p:blipFill>
        <p:spPr>
          <a:xfrm>
            <a:off x="8417966" y="4166006"/>
            <a:ext cx="263347" cy="263347"/>
          </a:xfrm>
          <a:prstGeom prst="rect">
            <a:avLst/>
          </a:prstGeom>
        </p:spPr>
      </p:pic>
      <p:sp>
        <p:nvSpPr>
          <p:cNvPr id="37" name="Text 29"/>
          <p:cNvSpPr txBox="1"/>
          <p:nvPr/>
        </p:nvSpPr>
        <p:spPr>
          <a:xfrm>
            <a:off x="8961120" y="4069080"/>
            <a:ext cx="25603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SECURITY</a:t>
            </a:r>
            <a:endParaRPr lang="en-US" sz="1000" dirty="0"/>
          </a:p>
        </p:txBody>
      </p:sp>
      <p:sp>
        <p:nvSpPr>
          <p:cNvPr id="38" name="Text 30"/>
          <p:cNvSpPr txBox="1"/>
          <p:nvPr/>
        </p:nvSpPr>
        <p:spPr>
          <a:xfrm>
            <a:off x="8961120" y="4297680"/>
            <a:ext cx="2560320" cy="548640"/>
          </a:xfrm>
          <a:prstGeom prst="rect">
            <a:avLst/>
          </a:prstGeom>
          <a:noFill/>
          <a:ln/>
        </p:spPr>
        <p:txBody>
          <a:bodyPr wrap="square" lIns="0" tIns="0" rIns="0" bIns="0" rtlCol="0" anchor="t"/>
          <a:lstStyle/>
          <a:p>
            <a:pPr indent="0" marL="0">
              <a:buNone/>
            </a:pPr>
            <a:r>
              <a:rPr lang="en-US" sz="1500" b="1" dirty="0">
                <a:solidFill>
                  <a:schemeClr val="tx1"/>
                </a:solidFill>
              </a:rPr>
              <a:t>Spring Security</a:t>
            </a:r>
            <a:endParaRPr lang="en-US" sz="1500" dirty="0"/>
          </a:p>
        </p:txBody>
      </p:sp>
      <p:sp>
        <p:nvSpPr>
          <p:cNvPr id="39" name="Text 31"/>
          <p:cNvSpPr txBox="1"/>
          <p:nvPr/>
        </p:nvSpPr>
        <p:spPr>
          <a:xfrm>
            <a:off x="8275320" y="4983480"/>
            <a:ext cx="3154680" cy="822960"/>
          </a:xfrm>
          <a:prstGeom prst="rect">
            <a:avLst/>
          </a:prstGeom>
          <a:noFill/>
          <a:ln/>
        </p:spPr>
        <p:txBody>
          <a:bodyPr wrap="square" lIns="0" tIns="0" rIns="0" bIns="0" rtlCol="0" anchor="t"/>
          <a:lstStyle/>
          <a:p>
            <a:pPr indent="0" marL="0">
              <a:buNone/>
            </a:pPr>
            <a:r>
              <a:rPr lang="en-US" sz="1300" dirty="0">
                <a:solidFill>
                  <a:schemeClr val="tx2"/>
                </a:solidFill>
              </a:rPr>
              <a:t>Authentication and role-based authorisation</a:t>
            </a:r>
            <a:endParaRPr lang="en-US" sz="13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Development Tools and Technology Stack</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07  TOOLS</a:t>
            </a:r>
            <a:endParaRPr lang="en-US" sz="1100" dirty="0"/>
          </a:p>
        </p:txBody>
      </p:sp>
      <p:sp>
        <p:nvSpPr>
          <p:cNvPr id="4" name="Shape 2"/>
          <p:cNvSpPr/>
          <p:nvPr/>
        </p:nvSpPr>
        <p:spPr>
          <a:xfrm>
            <a:off x="548640" y="1463040"/>
            <a:ext cx="5852160" cy="777240"/>
          </a:xfrm>
          <a:prstGeom prst="roundRect">
            <a:avLst>
              <a:gd name="adj" fmla="val 9412"/>
            </a:avLst>
          </a:prstGeom>
          <a:solidFill>
            <a:schemeClr val="accent5"/>
          </a:solidFill>
          <a:ln w="12700">
            <a:solidFill>
              <a:schemeClr val="accent1"/>
            </a:solidFill>
            <a:prstDash val="solid"/>
          </a:ln>
        </p:spPr>
      </p:sp>
      <p:sp>
        <p:nvSpPr>
          <p:cNvPr id="5" name="Text 3"/>
          <p:cNvSpPr txBox="1"/>
          <p:nvPr/>
        </p:nvSpPr>
        <p:spPr>
          <a:xfrm>
            <a:off x="621792" y="1463040"/>
            <a:ext cx="5705856" cy="777240"/>
          </a:xfrm>
          <a:prstGeom prst="rect">
            <a:avLst/>
          </a:prstGeom>
          <a:noFill/>
          <a:ln/>
        </p:spPr>
        <p:txBody>
          <a:bodyPr wrap="square" lIns="0" tIns="0" rIns="0" bIns="0" rtlCol="0" anchor="ctr"/>
          <a:lstStyle/>
          <a:p>
            <a:pPr algn="ctr" indent="0" marL="0">
              <a:buNone/>
            </a:pPr>
            <a:r>
              <a:rPr lang="en-US" sz="1400" b="1" dirty="0">
                <a:solidFill>
                  <a:schemeClr val="tx1"/>
                </a:solidFill>
              </a:rPr>
              <a:t>Presentation</a:t>
            </a:r>
            <a:endParaRPr lang="en-US" sz="1400" dirty="0"/>
          </a:p>
          <a:p>
            <a:pPr algn="ctr" indent="0" marL="0">
              <a:buNone/>
            </a:pPr>
            <a:r>
              <a:rPr lang="en-US" sz="1100" dirty="0">
                <a:solidFill>
                  <a:schemeClr val="tx2"/>
                </a:solidFill>
              </a:rPr>
              <a:t>HTML · CSS · JavaScript · JSP</a:t>
            </a:r>
            <a:endParaRPr lang="en-US" sz="1400" dirty="0"/>
          </a:p>
        </p:txBody>
      </p:sp>
      <p:sp>
        <p:nvSpPr>
          <p:cNvPr id="6" name="Shape 4"/>
          <p:cNvSpPr/>
          <p:nvPr/>
        </p:nvSpPr>
        <p:spPr>
          <a:xfrm>
            <a:off x="3474720" y="2240280"/>
            <a:ext cx="0" cy="182880"/>
          </a:xfrm>
          <a:prstGeom prst="line">
            <a:avLst/>
          </a:prstGeom>
          <a:noFill/>
          <a:ln w="19050">
            <a:solidFill>
              <a:schemeClr val="accent1"/>
            </a:solidFill>
            <a:prstDash val="solid"/>
            <a:tailEnd type="triangle"/>
          </a:ln>
        </p:spPr>
      </p:sp>
      <p:sp>
        <p:nvSpPr>
          <p:cNvPr id="7" name="Shape 5"/>
          <p:cNvSpPr/>
          <p:nvPr/>
        </p:nvSpPr>
        <p:spPr>
          <a:xfrm>
            <a:off x="548640" y="2423160"/>
            <a:ext cx="5852160" cy="777240"/>
          </a:xfrm>
          <a:prstGeom prst="roundRect">
            <a:avLst>
              <a:gd name="adj" fmla="val 9412"/>
            </a:avLst>
          </a:prstGeom>
          <a:solidFill>
            <a:schemeClr val="accent5"/>
          </a:solidFill>
          <a:ln w="12700">
            <a:solidFill>
              <a:schemeClr val="accent1"/>
            </a:solidFill>
            <a:prstDash val="solid"/>
          </a:ln>
        </p:spPr>
      </p:sp>
      <p:sp>
        <p:nvSpPr>
          <p:cNvPr id="8" name="Text 6"/>
          <p:cNvSpPr txBox="1"/>
          <p:nvPr/>
        </p:nvSpPr>
        <p:spPr>
          <a:xfrm>
            <a:off x="621792" y="2423160"/>
            <a:ext cx="5705856" cy="777240"/>
          </a:xfrm>
          <a:prstGeom prst="rect">
            <a:avLst/>
          </a:prstGeom>
          <a:noFill/>
          <a:ln/>
        </p:spPr>
        <p:txBody>
          <a:bodyPr wrap="square" lIns="0" tIns="0" rIns="0" bIns="0" rtlCol="0" anchor="ctr"/>
          <a:lstStyle/>
          <a:p>
            <a:pPr algn="ctr" indent="0" marL="0">
              <a:buNone/>
            </a:pPr>
            <a:r>
              <a:rPr lang="en-US" sz="1400" b="1" dirty="0">
                <a:solidFill>
                  <a:schemeClr val="tx1"/>
                </a:solidFill>
              </a:rPr>
              <a:t>Application</a:t>
            </a:r>
            <a:endParaRPr lang="en-US" sz="1400" dirty="0"/>
          </a:p>
          <a:p>
            <a:pPr algn="ctr" indent="0" marL="0">
              <a:buNone/>
            </a:pPr>
            <a:r>
              <a:rPr lang="en-US" sz="1100" dirty="0">
                <a:solidFill>
                  <a:schemeClr val="tx2"/>
                </a:solidFill>
              </a:rPr>
              <a:t>Spring Boot · Spring MVC · Spring Security</a:t>
            </a:r>
            <a:endParaRPr lang="en-US" sz="1400" dirty="0"/>
          </a:p>
        </p:txBody>
      </p:sp>
      <p:sp>
        <p:nvSpPr>
          <p:cNvPr id="9" name="Shape 7"/>
          <p:cNvSpPr/>
          <p:nvPr/>
        </p:nvSpPr>
        <p:spPr>
          <a:xfrm>
            <a:off x="3474720" y="3200400"/>
            <a:ext cx="0" cy="182880"/>
          </a:xfrm>
          <a:prstGeom prst="line">
            <a:avLst/>
          </a:prstGeom>
          <a:noFill/>
          <a:ln w="19050">
            <a:solidFill>
              <a:schemeClr val="accent1"/>
            </a:solidFill>
            <a:prstDash val="solid"/>
            <a:tailEnd type="triangle"/>
          </a:ln>
        </p:spPr>
      </p:sp>
      <p:sp>
        <p:nvSpPr>
          <p:cNvPr id="10" name="Shape 8"/>
          <p:cNvSpPr/>
          <p:nvPr/>
        </p:nvSpPr>
        <p:spPr>
          <a:xfrm>
            <a:off x="548640" y="3383280"/>
            <a:ext cx="5852160" cy="777240"/>
          </a:xfrm>
          <a:prstGeom prst="roundRect">
            <a:avLst>
              <a:gd name="adj" fmla="val 9412"/>
            </a:avLst>
          </a:prstGeom>
          <a:solidFill>
            <a:schemeClr val="accent5"/>
          </a:solidFill>
          <a:ln w="12700">
            <a:solidFill>
              <a:schemeClr val="accent1"/>
            </a:solidFill>
            <a:prstDash val="solid"/>
          </a:ln>
        </p:spPr>
      </p:sp>
      <p:sp>
        <p:nvSpPr>
          <p:cNvPr id="11" name="Text 9"/>
          <p:cNvSpPr txBox="1"/>
          <p:nvPr/>
        </p:nvSpPr>
        <p:spPr>
          <a:xfrm>
            <a:off x="621792" y="3383280"/>
            <a:ext cx="5705856" cy="777240"/>
          </a:xfrm>
          <a:prstGeom prst="rect">
            <a:avLst/>
          </a:prstGeom>
          <a:noFill/>
          <a:ln/>
        </p:spPr>
        <p:txBody>
          <a:bodyPr wrap="square" lIns="0" tIns="0" rIns="0" bIns="0" rtlCol="0" anchor="ctr"/>
          <a:lstStyle/>
          <a:p>
            <a:pPr algn="ctr" indent="0" marL="0">
              <a:buNone/>
            </a:pPr>
            <a:r>
              <a:rPr lang="en-US" sz="1400" b="1" dirty="0">
                <a:solidFill>
                  <a:schemeClr val="tx1"/>
                </a:solidFill>
              </a:rPr>
              <a:t>Persistence</a:t>
            </a:r>
            <a:endParaRPr lang="en-US" sz="1400" dirty="0"/>
          </a:p>
          <a:p>
            <a:pPr algn="ctr" indent="0" marL="0">
              <a:buNone/>
            </a:pPr>
            <a:r>
              <a:rPr lang="en-US" sz="1100" dirty="0">
                <a:solidFill>
                  <a:schemeClr val="tx2"/>
                </a:solidFill>
              </a:rPr>
              <a:t>Hibernate · JPA</a:t>
            </a:r>
            <a:endParaRPr lang="en-US" sz="1400" dirty="0"/>
          </a:p>
        </p:txBody>
      </p:sp>
      <p:sp>
        <p:nvSpPr>
          <p:cNvPr id="12" name="Shape 10"/>
          <p:cNvSpPr/>
          <p:nvPr/>
        </p:nvSpPr>
        <p:spPr>
          <a:xfrm>
            <a:off x="3474720" y="4160520"/>
            <a:ext cx="0" cy="182880"/>
          </a:xfrm>
          <a:prstGeom prst="line">
            <a:avLst/>
          </a:prstGeom>
          <a:noFill/>
          <a:ln w="19050">
            <a:solidFill>
              <a:schemeClr val="accent1"/>
            </a:solidFill>
            <a:prstDash val="solid"/>
            <a:tailEnd type="triangle"/>
          </a:ln>
        </p:spPr>
      </p:sp>
      <p:sp>
        <p:nvSpPr>
          <p:cNvPr id="13" name="Shape 11"/>
          <p:cNvSpPr/>
          <p:nvPr/>
        </p:nvSpPr>
        <p:spPr>
          <a:xfrm>
            <a:off x="548640" y="4343400"/>
            <a:ext cx="5852160" cy="777240"/>
          </a:xfrm>
          <a:prstGeom prst="roundRect">
            <a:avLst>
              <a:gd name="adj" fmla="val 9412"/>
            </a:avLst>
          </a:prstGeom>
          <a:solidFill>
            <a:schemeClr val="accent3"/>
          </a:solidFill>
          <a:ln w="12700">
            <a:solidFill>
              <a:schemeClr val="accent1"/>
            </a:solidFill>
            <a:prstDash val="solid"/>
          </a:ln>
        </p:spPr>
      </p:sp>
      <p:sp>
        <p:nvSpPr>
          <p:cNvPr id="14" name="Text 12"/>
          <p:cNvSpPr txBox="1"/>
          <p:nvPr/>
        </p:nvSpPr>
        <p:spPr>
          <a:xfrm>
            <a:off x="621792" y="4343400"/>
            <a:ext cx="5705856" cy="777240"/>
          </a:xfrm>
          <a:prstGeom prst="rect">
            <a:avLst/>
          </a:prstGeom>
          <a:noFill/>
          <a:ln/>
        </p:spPr>
        <p:txBody>
          <a:bodyPr wrap="square" lIns="0" tIns="0" rIns="0" bIns="0" rtlCol="0" anchor="ctr"/>
          <a:lstStyle/>
          <a:p>
            <a:pPr algn="ctr" indent="0" marL="0">
              <a:buNone/>
            </a:pPr>
            <a:r>
              <a:rPr lang="en-US" sz="1400" b="1" dirty="0">
                <a:solidFill>
                  <a:schemeClr val="tx1"/>
                </a:solidFill>
              </a:rPr>
              <a:t>Database</a:t>
            </a:r>
            <a:endParaRPr lang="en-US" sz="1400" dirty="0"/>
          </a:p>
          <a:p>
            <a:pPr algn="ctr" indent="0" marL="0">
              <a:buNone/>
            </a:pPr>
            <a:r>
              <a:rPr lang="en-US" sz="1100" dirty="0">
                <a:solidFill>
                  <a:schemeClr val="tx2"/>
                </a:solidFill>
              </a:rPr>
              <a:t>MySQL 8</a:t>
            </a:r>
            <a:endParaRPr lang="en-US" sz="1400" dirty="0"/>
          </a:p>
        </p:txBody>
      </p:sp>
      <p:sp>
        <p:nvSpPr>
          <p:cNvPr id="15" name="Shape 13"/>
          <p:cNvSpPr/>
          <p:nvPr/>
        </p:nvSpPr>
        <p:spPr>
          <a:xfrm>
            <a:off x="548640" y="5349240"/>
            <a:ext cx="5852160" cy="548640"/>
          </a:xfrm>
          <a:prstGeom prst="roundRect">
            <a:avLst>
              <a:gd name="adj" fmla="val 13333"/>
            </a:avLst>
          </a:prstGeom>
          <a:solidFill>
            <a:schemeClr val="bg2"/>
          </a:solidFill>
          <a:ln w="12700">
            <a:solidFill>
              <a:schemeClr val="accent3"/>
            </a:solidFill>
            <a:prstDash val="solid"/>
          </a:ln>
        </p:spPr>
      </p:sp>
      <p:sp>
        <p:nvSpPr>
          <p:cNvPr id="16" name="Text 14"/>
          <p:cNvSpPr txBox="1"/>
          <p:nvPr/>
        </p:nvSpPr>
        <p:spPr>
          <a:xfrm>
            <a:off x="621792" y="5349240"/>
            <a:ext cx="5705856" cy="548640"/>
          </a:xfrm>
          <a:prstGeom prst="rect">
            <a:avLst/>
          </a:prstGeom>
          <a:noFill/>
          <a:ln/>
        </p:spPr>
        <p:txBody>
          <a:bodyPr wrap="square" lIns="0" tIns="0" rIns="0" bIns="0" rtlCol="0" anchor="ctr"/>
          <a:lstStyle/>
          <a:p>
            <a:pPr algn="ctr" indent="0" marL="0">
              <a:buNone/>
            </a:pPr>
            <a:r>
              <a:rPr lang="en-US" sz="1300" b="1" dirty="0">
                <a:solidFill>
                  <a:schemeClr val="tx1"/>
                </a:solidFill>
              </a:rPr>
              <a:t>Build and runtime:  JDK 17  ·  Maven  ·  Apache Tomcat</a:t>
            </a:r>
            <a:endParaRPr lang="en-US" sz="1400" dirty="0"/>
          </a:p>
        </p:txBody>
      </p:sp>
      <p:sp>
        <p:nvSpPr>
          <p:cNvPr id="17" name="Text 15"/>
          <p:cNvSpPr txBox="1"/>
          <p:nvPr/>
        </p:nvSpPr>
        <p:spPr>
          <a:xfrm>
            <a:off x="6766560" y="1371600"/>
            <a:ext cx="45720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ROLE OF EACH TOOL</a:t>
            </a:r>
            <a:endParaRPr lang="en-US" sz="1100" dirty="0"/>
          </a:p>
        </p:txBody>
      </p:sp>
      <p:sp>
        <p:nvSpPr>
          <p:cNvPr id="18" name="Card 33"/>
          <p:cNvSpPr/>
          <p:nvPr/>
        </p:nvSpPr>
        <p:spPr>
          <a:xfrm>
            <a:off x="6766560" y="1737360"/>
            <a:ext cx="4873752" cy="594360"/>
          </a:xfrm>
          <a:prstGeom prst="roundRect">
            <a:avLst>
              <a:gd name="adj" fmla="val 12308"/>
            </a:avLst>
          </a:prstGeom>
          <a:solidFill>
            <a:schemeClr val="bg2"/>
          </a:solidFill>
          <a:ln w="9525">
            <a:solidFill>
              <a:schemeClr val="accent3"/>
            </a:solidFill>
            <a:prstDash val="solid"/>
          </a:ln>
        </p:spPr>
      </p:sp>
      <p:sp>
        <p:nvSpPr>
          <p:cNvPr id="19" name="Text 17"/>
          <p:cNvSpPr txBox="1"/>
          <p:nvPr/>
        </p:nvSpPr>
        <p:spPr>
          <a:xfrm>
            <a:off x="6995160" y="1737360"/>
            <a:ext cx="1737360" cy="594360"/>
          </a:xfrm>
          <a:prstGeom prst="rect">
            <a:avLst/>
          </a:prstGeom>
          <a:noFill/>
          <a:ln/>
        </p:spPr>
        <p:txBody>
          <a:bodyPr wrap="square" lIns="0" tIns="0" rIns="0" bIns="0" rtlCol="0" anchor="ctr"/>
          <a:lstStyle/>
          <a:p>
            <a:pPr indent="0" marL="0">
              <a:buNone/>
            </a:pPr>
            <a:r>
              <a:rPr lang="en-US" sz="1400" b="1" dirty="0">
                <a:solidFill>
                  <a:schemeClr val="tx1"/>
                </a:solidFill>
              </a:rPr>
              <a:t>Eclipse IDE</a:t>
            </a:r>
            <a:endParaRPr lang="en-US" sz="1400" dirty="0"/>
          </a:p>
        </p:txBody>
      </p:sp>
      <p:sp>
        <p:nvSpPr>
          <p:cNvPr id="20" name="Text 18"/>
          <p:cNvSpPr txBox="1"/>
          <p:nvPr/>
        </p:nvSpPr>
        <p:spPr>
          <a:xfrm>
            <a:off x="8732520" y="1737360"/>
            <a:ext cx="2834640" cy="594360"/>
          </a:xfrm>
          <a:prstGeom prst="rect">
            <a:avLst/>
          </a:prstGeom>
          <a:noFill/>
          <a:ln/>
        </p:spPr>
        <p:txBody>
          <a:bodyPr wrap="square" lIns="0" tIns="0" rIns="0" bIns="0" rtlCol="0" anchor="ctr"/>
          <a:lstStyle/>
          <a:p>
            <a:pPr indent="0" marL="0">
              <a:buNone/>
            </a:pPr>
            <a:r>
              <a:rPr lang="en-US" sz="1300" dirty="0">
                <a:solidFill>
                  <a:schemeClr val="tx2"/>
                </a:solidFill>
              </a:rPr>
              <a:t>Coding, debugging</a:t>
            </a:r>
            <a:endParaRPr lang="en-US" sz="1300" dirty="0"/>
          </a:p>
        </p:txBody>
      </p:sp>
      <p:sp>
        <p:nvSpPr>
          <p:cNvPr id="21" name="Card 34"/>
          <p:cNvSpPr/>
          <p:nvPr/>
        </p:nvSpPr>
        <p:spPr>
          <a:xfrm>
            <a:off x="6766560" y="2441448"/>
            <a:ext cx="4873752" cy="594360"/>
          </a:xfrm>
          <a:prstGeom prst="roundRect">
            <a:avLst>
              <a:gd name="adj" fmla="val 12308"/>
            </a:avLst>
          </a:prstGeom>
          <a:solidFill>
            <a:schemeClr val="bg2"/>
          </a:solidFill>
          <a:ln w="9525">
            <a:solidFill>
              <a:schemeClr val="accent3"/>
            </a:solidFill>
            <a:prstDash val="solid"/>
          </a:ln>
        </p:spPr>
      </p:sp>
      <p:sp>
        <p:nvSpPr>
          <p:cNvPr id="22" name="Text 20"/>
          <p:cNvSpPr txBox="1"/>
          <p:nvPr/>
        </p:nvSpPr>
        <p:spPr>
          <a:xfrm>
            <a:off x="6995160" y="2441448"/>
            <a:ext cx="1737360" cy="594360"/>
          </a:xfrm>
          <a:prstGeom prst="rect">
            <a:avLst/>
          </a:prstGeom>
          <a:noFill/>
          <a:ln/>
        </p:spPr>
        <p:txBody>
          <a:bodyPr wrap="square" lIns="0" tIns="0" rIns="0" bIns="0" rtlCol="0" anchor="ctr"/>
          <a:lstStyle/>
          <a:p>
            <a:pPr indent="0" marL="0">
              <a:buNone/>
            </a:pPr>
            <a:r>
              <a:rPr lang="en-US" sz="1400" b="1" dirty="0">
                <a:solidFill>
                  <a:schemeClr val="tx1"/>
                </a:solidFill>
              </a:rPr>
              <a:t>Maven</a:t>
            </a:r>
            <a:endParaRPr lang="en-US" sz="1400" dirty="0"/>
          </a:p>
        </p:txBody>
      </p:sp>
      <p:sp>
        <p:nvSpPr>
          <p:cNvPr id="23" name="Text 21"/>
          <p:cNvSpPr txBox="1"/>
          <p:nvPr/>
        </p:nvSpPr>
        <p:spPr>
          <a:xfrm>
            <a:off x="8732520" y="2441448"/>
            <a:ext cx="2834640" cy="594360"/>
          </a:xfrm>
          <a:prstGeom prst="rect">
            <a:avLst/>
          </a:prstGeom>
          <a:noFill/>
          <a:ln/>
        </p:spPr>
        <p:txBody>
          <a:bodyPr wrap="square" lIns="0" tIns="0" rIns="0" bIns="0" rtlCol="0" anchor="ctr"/>
          <a:lstStyle/>
          <a:p>
            <a:pPr indent="0" marL="0">
              <a:buNone/>
            </a:pPr>
            <a:r>
              <a:rPr lang="en-US" sz="1300" dirty="0">
                <a:solidFill>
                  <a:schemeClr val="tx2"/>
                </a:solidFill>
              </a:rPr>
              <a:t>Dependency management</a:t>
            </a:r>
            <a:endParaRPr lang="en-US" sz="1300" dirty="0"/>
          </a:p>
        </p:txBody>
      </p:sp>
      <p:sp>
        <p:nvSpPr>
          <p:cNvPr id="24" name="Card 35"/>
          <p:cNvSpPr/>
          <p:nvPr/>
        </p:nvSpPr>
        <p:spPr>
          <a:xfrm>
            <a:off x="6766560" y="3145536"/>
            <a:ext cx="4873752" cy="594360"/>
          </a:xfrm>
          <a:prstGeom prst="roundRect">
            <a:avLst>
              <a:gd name="adj" fmla="val 12308"/>
            </a:avLst>
          </a:prstGeom>
          <a:solidFill>
            <a:schemeClr val="bg2"/>
          </a:solidFill>
          <a:ln w="9525">
            <a:solidFill>
              <a:schemeClr val="accent3"/>
            </a:solidFill>
            <a:prstDash val="solid"/>
          </a:ln>
        </p:spPr>
      </p:sp>
      <p:sp>
        <p:nvSpPr>
          <p:cNvPr id="25" name="Text 23"/>
          <p:cNvSpPr txBox="1"/>
          <p:nvPr/>
        </p:nvSpPr>
        <p:spPr>
          <a:xfrm>
            <a:off x="6995160" y="3145536"/>
            <a:ext cx="1737360" cy="594360"/>
          </a:xfrm>
          <a:prstGeom prst="rect">
            <a:avLst/>
          </a:prstGeom>
          <a:noFill/>
          <a:ln/>
        </p:spPr>
        <p:txBody>
          <a:bodyPr wrap="square" lIns="0" tIns="0" rIns="0" bIns="0" rtlCol="0" anchor="ctr"/>
          <a:lstStyle/>
          <a:p>
            <a:pPr indent="0" marL="0">
              <a:buNone/>
            </a:pPr>
            <a:r>
              <a:rPr lang="en-US" sz="1400" b="1" dirty="0">
                <a:solidFill>
                  <a:schemeClr val="tx1"/>
                </a:solidFill>
              </a:rPr>
              <a:t>Git</a:t>
            </a:r>
            <a:endParaRPr lang="en-US" sz="1400" dirty="0"/>
          </a:p>
        </p:txBody>
      </p:sp>
      <p:sp>
        <p:nvSpPr>
          <p:cNvPr id="26" name="Text 24"/>
          <p:cNvSpPr txBox="1"/>
          <p:nvPr/>
        </p:nvSpPr>
        <p:spPr>
          <a:xfrm>
            <a:off x="8732520" y="3145536"/>
            <a:ext cx="2834640" cy="594360"/>
          </a:xfrm>
          <a:prstGeom prst="rect">
            <a:avLst/>
          </a:prstGeom>
          <a:noFill/>
          <a:ln/>
        </p:spPr>
        <p:txBody>
          <a:bodyPr wrap="square" lIns="0" tIns="0" rIns="0" bIns="0" rtlCol="0" anchor="ctr"/>
          <a:lstStyle/>
          <a:p>
            <a:pPr indent="0" marL="0">
              <a:buNone/>
            </a:pPr>
            <a:r>
              <a:rPr lang="en-US" sz="1300" dirty="0">
                <a:solidFill>
                  <a:schemeClr val="tx2"/>
                </a:solidFill>
              </a:rPr>
              <a:t>Version control, small frequent commits</a:t>
            </a:r>
            <a:endParaRPr lang="en-US" sz="1300" dirty="0"/>
          </a:p>
        </p:txBody>
      </p:sp>
      <p:sp>
        <p:nvSpPr>
          <p:cNvPr id="27" name="Card 36"/>
          <p:cNvSpPr/>
          <p:nvPr/>
        </p:nvSpPr>
        <p:spPr>
          <a:xfrm>
            <a:off x="6766560" y="3849624"/>
            <a:ext cx="4873752" cy="594360"/>
          </a:xfrm>
          <a:prstGeom prst="roundRect">
            <a:avLst>
              <a:gd name="adj" fmla="val 12308"/>
            </a:avLst>
          </a:prstGeom>
          <a:solidFill>
            <a:schemeClr val="bg2"/>
          </a:solidFill>
          <a:ln w="9525">
            <a:solidFill>
              <a:schemeClr val="accent3"/>
            </a:solidFill>
            <a:prstDash val="solid"/>
          </a:ln>
        </p:spPr>
      </p:sp>
      <p:sp>
        <p:nvSpPr>
          <p:cNvPr id="28" name="Text 26"/>
          <p:cNvSpPr txBox="1"/>
          <p:nvPr/>
        </p:nvSpPr>
        <p:spPr>
          <a:xfrm>
            <a:off x="6995160" y="3849624"/>
            <a:ext cx="1737360" cy="594360"/>
          </a:xfrm>
          <a:prstGeom prst="rect">
            <a:avLst/>
          </a:prstGeom>
          <a:noFill/>
          <a:ln/>
        </p:spPr>
        <p:txBody>
          <a:bodyPr wrap="square" lIns="0" tIns="0" rIns="0" bIns="0" rtlCol="0" anchor="ctr"/>
          <a:lstStyle/>
          <a:p>
            <a:pPr indent="0" marL="0">
              <a:buNone/>
            </a:pPr>
            <a:r>
              <a:rPr lang="en-US" sz="1400" b="1" dirty="0">
                <a:solidFill>
                  <a:schemeClr val="tx1"/>
                </a:solidFill>
              </a:rPr>
              <a:t>JUnit</a:t>
            </a:r>
            <a:endParaRPr lang="en-US" sz="1400" dirty="0"/>
          </a:p>
        </p:txBody>
      </p:sp>
      <p:sp>
        <p:nvSpPr>
          <p:cNvPr id="29" name="Text 27"/>
          <p:cNvSpPr txBox="1"/>
          <p:nvPr/>
        </p:nvSpPr>
        <p:spPr>
          <a:xfrm>
            <a:off x="8732520" y="3849624"/>
            <a:ext cx="2834640" cy="594360"/>
          </a:xfrm>
          <a:prstGeom prst="rect">
            <a:avLst/>
          </a:prstGeom>
          <a:noFill/>
          <a:ln/>
        </p:spPr>
        <p:txBody>
          <a:bodyPr wrap="square" lIns="0" tIns="0" rIns="0" bIns="0" rtlCol="0" anchor="ctr"/>
          <a:lstStyle/>
          <a:p>
            <a:pPr indent="0" marL="0">
              <a:buNone/>
            </a:pPr>
            <a:r>
              <a:rPr lang="en-US" sz="1300" dirty="0">
                <a:solidFill>
                  <a:schemeClr val="tx2"/>
                </a:solidFill>
              </a:rPr>
              <a:t>Unit and integration tests</a:t>
            </a:r>
            <a:endParaRPr lang="en-US" sz="1300" dirty="0"/>
          </a:p>
        </p:txBody>
      </p:sp>
      <p:sp>
        <p:nvSpPr>
          <p:cNvPr id="30" name="Card 37"/>
          <p:cNvSpPr/>
          <p:nvPr/>
        </p:nvSpPr>
        <p:spPr>
          <a:xfrm>
            <a:off x="6766560" y="4553712"/>
            <a:ext cx="4873752" cy="594360"/>
          </a:xfrm>
          <a:prstGeom prst="roundRect">
            <a:avLst>
              <a:gd name="adj" fmla="val 12308"/>
            </a:avLst>
          </a:prstGeom>
          <a:solidFill>
            <a:schemeClr val="bg2"/>
          </a:solidFill>
          <a:ln w="9525">
            <a:solidFill>
              <a:schemeClr val="accent3"/>
            </a:solidFill>
            <a:prstDash val="solid"/>
          </a:ln>
        </p:spPr>
      </p:sp>
      <p:sp>
        <p:nvSpPr>
          <p:cNvPr id="31" name="Text 29"/>
          <p:cNvSpPr txBox="1"/>
          <p:nvPr/>
        </p:nvSpPr>
        <p:spPr>
          <a:xfrm>
            <a:off x="6995160" y="4553712"/>
            <a:ext cx="1737360" cy="594360"/>
          </a:xfrm>
          <a:prstGeom prst="rect">
            <a:avLst/>
          </a:prstGeom>
          <a:noFill/>
          <a:ln/>
        </p:spPr>
        <p:txBody>
          <a:bodyPr wrap="square" lIns="0" tIns="0" rIns="0" bIns="0" rtlCol="0" anchor="ctr"/>
          <a:lstStyle/>
          <a:p>
            <a:pPr indent="0" marL="0">
              <a:buNone/>
            </a:pPr>
            <a:r>
              <a:rPr lang="en-US" sz="1400" b="1" dirty="0">
                <a:solidFill>
                  <a:schemeClr val="tx1"/>
                </a:solidFill>
              </a:rPr>
              <a:t>Apache Tomcat</a:t>
            </a:r>
            <a:endParaRPr lang="en-US" sz="1400" dirty="0"/>
          </a:p>
        </p:txBody>
      </p:sp>
      <p:sp>
        <p:nvSpPr>
          <p:cNvPr id="32" name="Text 30"/>
          <p:cNvSpPr txBox="1"/>
          <p:nvPr/>
        </p:nvSpPr>
        <p:spPr>
          <a:xfrm>
            <a:off x="8732520" y="4553712"/>
            <a:ext cx="2834640" cy="594360"/>
          </a:xfrm>
          <a:prstGeom prst="rect">
            <a:avLst/>
          </a:prstGeom>
          <a:noFill/>
          <a:ln/>
        </p:spPr>
        <p:txBody>
          <a:bodyPr wrap="square" lIns="0" tIns="0" rIns="0" bIns="0" rtlCol="0" anchor="ctr"/>
          <a:lstStyle/>
          <a:p>
            <a:pPr indent="0" marL="0">
              <a:buNone/>
            </a:pPr>
            <a:r>
              <a:rPr lang="en-US" sz="1300" dirty="0">
                <a:solidFill>
                  <a:schemeClr val="tx2"/>
                </a:solidFill>
              </a:rPr>
              <a:t>Deploying the web archive</a:t>
            </a:r>
            <a:endParaRPr lang="en-US" sz="1300" dirty="0"/>
          </a:p>
        </p:txBody>
      </p:sp>
      <p:sp>
        <p:nvSpPr>
          <p:cNvPr id="33" name="Card 38"/>
          <p:cNvSpPr/>
          <p:nvPr/>
        </p:nvSpPr>
        <p:spPr>
          <a:xfrm>
            <a:off x="6766560" y="5257800"/>
            <a:ext cx="4873752" cy="594360"/>
          </a:xfrm>
          <a:prstGeom prst="roundRect">
            <a:avLst>
              <a:gd name="adj" fmla="val 12308"/>
            </a:avLst>
          </a:prstGeom>
          <a:solidFill>
            <a:schemeClr val="bg2"/>
          </a:solidFill>
          <a:ln w="9525">
            <a:solidFill>
              <a:schemeClr val="accent3"/>
            </a:solidFill>
            <a:prstDash val="solid"/>
          </a:ln>
        </p:spPr>
      </p:sp>
      <p:sp>
        <p:nvSpPr>
          <p:cNvPr id="34" name="Text 32"/>
          <p:cNvSpPr txBox="1"/>
          <p:nvPr/>
        </p:nvSpPr>
        <p:spPr>
          <a:xfrm>
            <a:off x="6995160" y="5257800"/>
            <a:ext cx="1737360" cy="594360"/>
          </a:xfrm>
          <a:prstGeom prst="rect">
            <a:avLst/>
          </a:prstGeom>
          <a:noFill/>
          <a:ln/>
        </p:spPr>
        <p:txBody>
          <a:bodyPr wrap="square" lIns="0" tIns="0" rIns="0" bIns="0" rtlCol="0" anchor="ctr"/>
          <a:lstStyle/>
          <a:p>
            <a:pPr indent="0" marL="0">
              <a:buNone/>
            </a:pPr>
            <a:r>
              <a:rPr lang="en-US" sz="1400" b="1" dirty="0">
                <a:solidFill>
                  <a:schemeClr val="tx1"/>
                </a:solidFill>
              </a:rPr>
              <a:t>MySQL scripts</a:t>
            </a:r>
            <a:endParaRPr lang="en-US" sz="1400" dirty="0"/>
          </a:p>
        </p:txBody>
      </p:sp>
      <p:sp>
        <p:nvSpPr>
          <p:cNvPr id="35" name="Text 33"/>
          <p:cNvSpPr txBox="1"/>
          <p:nvPr/>
        </p:nvSpPr>
        <p:spPr>
          <a:xfrm>
            <a:off x="8732520" y="5257800"/>
            <a:ext cx="2834640" cy="594360"/>
          </a:xfrm>
          <a:prstGeom prst="rect">
            <a:avLst/>
          </a:prstGeom>
          <a:noFill/>
          <a:ln/>
        </p:spPr>
        <p:txBody>
          <a:bodyPr wrap="square" lIns="0" tIns="0" rIns="0" bIns="0" rtlCol="0" anchor="ctr"/>
          <a:lstStyle/>
          <a:p>
            <a:pPr indent="0" marL="0">
              <a:buNone/>
            </a:pPr>
            <a:r>
              <a:rPr lang="en-US" sz="1300" dirty="0">
                <a:solidFill>
                  <a:schemeClr val="tx2"/>
                </a:solidFill>
              </a:rPr>
              <a:t>Create the database</a:t>
            </a:r>
            <a:endParaRPr lang="en-US" sz="13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08  ARCHITECTURE</a:t>
            </a:r>
            <a:endParaRPr lang="en-US" sz="1100" dirty="0"/>
          </a:p>
        </p:txBody>
      </p:sp>
      <p:sp>
        <p:nvSpPr>
          <p:cNvPr id="4" name="Text 2"/>
          <p:cNvSpPr txBox="1"/>
          <p:nvPr/>
        </p:nvSpPr>
        <p:spPr>
          <a:xfrm>
            <a:off x="548640" y="1280160"/>
            <a:ext cx="8229600" cy="274320"/>
          </a:xfrm>
          <a:prstGeom prst="rect">
            <a:avLst/>
          </a:prstGeom>
          <a:noFill/>
          <a:ln/>
        </p:spPr>
        <p:txBody>
          <a:bodyPr wrap="square" lIns="0" tIns="0" rIns="0" bIns="0" rtlCol="0" anchor="t"/>
          <a:lstStyle/>
          <a:p>
            <a:pPr indent="0" marL="0">
              <a:buNone/>
            </a:pPr>
            <a:r>
              <a:rPr lang="en-US" sz="1400" dirty="0">
                <a:solidFill>
                  <a:schemeClr val="tx2"/>
                </a:solidFill>
              </a:rPr>
              <a:t>Layered, three-tier architecture (Figure 6.1 in the report)</a:t>
            </a:r>
            <a:endParaRPr lang="en-US" sz="1400" dirty="0"/>
          </a:p>
        </p:txBody>
      </p:sp>
      <p:sp>
        <p:nvSpPr>
          <p:cNvPr id="5" name="Shape 3"/>
          <p:cNvSpPr/>
          <p:nvPr/>
        </p:nvSpPr>
        <p:spPr>
          <a:xfrm>
            <a:off x="608076" y="1828800"/>
            <a:ext cx="1828800" cy="1051560"/>
          </a:xfrm>
          <a:prstGeom prst="roundRect">
            <a:avLst>
              <a:gd name="adj" fmla="val 6957"/>
            </a:avLst>
          </a:prstGeom>
          <a:solidFill>
            <a:schemeClr val="accent5"/>
          </a:solidFill>
          <a:ln w="12700">
            <a:solidFill>
              <a:schemeClr val="accent1"/>
            </a:solidFill>
            <a:prstDash val="solid"/>
          </a:ln>
        </p:spPr>
      </p:sp>
      <p:sp>
        <p:nvSpPr>
          <p:cNvPr id="6" name="Text 4"/>
          <p:cNvSpPr txBox="1"/>
          <p:nvPr/>
        </p:nvSpPr>
        <p:spPr>
          <a:xfrm>
            <a:off x="681228" y="1828800"/>
            <a:ext cx="1682496" cy="1051560"/>
          </a:xfrm>
          <a:prstGeom prst="rect">
            <a:avLst/>
          </a:prstGeom>
          <a:noFill/>
          <a:ln/>
        </p:spPr>
        <p:txBody>
          <a:bodyPr wrap="square" lIns="0" tIns="0" rIns="0" bIns="0" rtlCol="0" anchor="ctr"/>
          <a:lstStyle/>
          <a:p>
            <a:pPr algn="ctr" indent="0" marL="0">
              <a:buNone/>
            </a:pPr>
            <a:r>
              <a:rPr lang="en-US" sz="1400" b="1" dirty="0">
                <a:solidFill>
                  <a:schemeClr val="tx1"/>
                </a:solidFill>
              </a:rPr>
              <a:t>Presentation</a:t>
            </a:r>
            <a:endParaRPr lang="en-US" sz="1400" dirty="0"/>
          </a:p>
          <a:p>
            <a:pPr algn="ctr" indent="0" marL="0">
              <a:buNone/>
            </a:pPr>
            <a:r>
              <a:rPr lang="en-US" sz="1100" dirty="0">
                <a:solidFill>
                  <a:schemeClr val="tx2"/>
                </a:solidFill>
              </a:rPr>
              <a:t>JSP · HTML · CSS</a:t>
            </a:r>
            <a:endParaRPr lang="en-US" sz="1400" dirty="0"/>
          </a:p>
        </p:txBody>
      </p:sp>
      <p:sp>
        <p:nvSpPr>
          <p:cNvPr id="7" name="Shape 5"/>
          <p:cNvSpPr/>
          <p:nvPr/>
        </p:nvSpPr>
        <p:spPr>
          <a:xfrm>
            <a:off x="2436876" y="2354580"/>
            <a:ext cx="457200" cy="0"/>
          </a:xfrm>
          <a:prstGeom prst="line">
            <a:avLst/>
          </a:prstGeom>
          <a:noFill/>
          <a:ln w="19050">
            <a:solidFill>
              <a:schemeClr val="accent1"/>
            </a:solidFill>
            <a:prstDash val="solid"/>
            <a:tailEnd type="triangle"/>
          </a:ln>
        </p:spPr>
      </p:sp>
      <p:sp>
        <p:nvSpPr>
          <p:cNvPr id="8" name="Shape 6"/>
          <p:cNvSpPr/>
          <p:nvPr/>
        </p:nvSpPr>
        <p:spPr>
          <a:xfrm>
            <a:off x="2894076" y="1828800"/>
            <a:ext cx="1828800" cy="1051560"/>
          </a:xfrm>
          <a:prstGeom prst="roundRect">
            <a:avLst>
              <a:gd name="adj" fmla="val 6957"/>
            </a:avLst>
          </a:prstGeom>
          <a:solidFill>
            <a:schemeClr val="accent5"/>
          </a:solidFill>
          <a:ln w="12700">
            <a:solidFill>
              <a:schemeClr val="accent1"/>
            </a:solidFill>
            <a:prstDash val="solid"/>
          </a:ln>
        </p:spPr>
      </p:sp>
      <p:sp>
        <p:nvSpPr>
          <p:cNvPr id="9" name="Text 7"/>
          <p:cNvSpPr txBox="1"/>
          <p:nvPr/>
        </p:nvSpPr>
        <p:spPr>
          <a:xfrm>
            <a:off x="2967228" y="1828800"/>
            <a:ext cx="1682496" cy="1051560"/>
          </a:xfrm>
          <a:prstGeom prst="rect">
            <a:avLst/>
          </a:prstGeom>
          <a:noFill/>
          <a:ln/>
        </p:spPr>
        <p:txBody>
          <a:bodyPr wrap="square" lIns="0" tIns="0" rIns="0" bIns="0" rtlCol="0" anchor="ctr"/>
          <a:lstStyle/>
          <a:p>
            <a:pPr algn="ctr" indent="0" marL="0">
              <a:buNone/>
            </a:pPr>
            <a:r>
              <a:rPr lang="en-US" sz="1400" b="1" dirty="0">
                <a:solidFill>
                  <a:schemeClr val="tx1"/>
                </a:solidFill>
              </a:rPr>
              <a:t>Controllers</a:t>
            </a:r>
            <a:endParaRPr lang="en-US" sz="1400" dirty="0"/>
          </a:p>
          <a:p>
            <a:pPr algn="ctr" indent="0" marL="0">
              <a:buNone/>
            </a:pPr>
            <a:r>
              <a:rPr lang="en-US" sz="1100" dirty="0">
                <a:solidFill>
                  <a:schemeClr val="tx2"/>
                </a:solidFill>
              </a:rPr>
              <a:t>Spring MVC</a:t>
            </a:r>
            <a:endParaRPr lang="en-US" sz="1400" dirty="0"/>
          </a:p>
        </p:txBody>
      </p:sp>
      <p:sp>
        <p:nvSpPr>
          <p:cNvPr id="10" name="Shape 8"/>
          <p:cNvSpPr/>
          <p:nvPr/>
        </p:nvSpPr>
        <p:spPr>
          <a:xfrm>
            <a:off x="4722876" y="2354580"/>
            <a:ext cx="457200" cy="0"/>
          </a:xfrm>
          <a:prstGeom prst="line">
            <a:avLst/>
          </a:prstGeom>
          <a:noFill/>
          <a:ln w="19050">
            <a:solidFill>
              <a:schemeClr val="accent1"/>
            </a:solidFill>
            <a:prstDash val="solid"/>
            <a:tailEnd type="triangle"/>
          </a:ln>
        </p:spPr>
      </p:sp>
      <p:sp>
        <p:nvSpPr>
          <p:cNvPr id="11" name="Shape 9"/>
          <p:cNvSpPr/>
          <p:nvPr/>
        </p:nvSpPr>
        <p:spPr>
          <a:xfrm>
            <a:off x="5180076" y="1828800"/>
            <a:ext cx="1828800" cy="1051560"/>
          </a:xfrm>
          <a:prstGeom prst="roundRect">
            <a:avLst>
              <a:gd name="adj" fmla="val 6957"/>
            </a:avLst>
          </a:prstGeom>
          <a:solidFill>
            <a:schemeClr val="accent5"/>
          </a:solidFill>
          <a:ln w="12700">
            <a:solidFill>
              <a:schemeClr val="accent1"/>
            </a:solidFill>
            <a:prstDash val="solid"/>
          </a:ln>
        </p:spPr>
      </p:sp>
      <p:sp>
        <p:nvSpPr>
          <p:cNvPr id="12" name="Text 10"/>
          <p:cNvSpPr txBox="1"/>
          <p:nvPr/>
        </p:nvSpPr>
        <p:spPr>
          <a:xfrm>
            <a:off x="5253228" y="1828800"/>
            <a:ext cx="1682496" cy="1051560"/>
          </a:xfrm>
          <a:prstGeom prst="rect">
            <a:avLst/>
          </a:prstGeom>
          <a:noFill/>
          <a:ln/>
        </p:spPr>
        <p:txBody>
          <a:bodyPr wrap="square" lIns="0" tIns="0" rIns="0" bIns="0" rtlCol="0" anchor="ctr"/>
          <a:lstStyle/>
          <a:p>
            <a:pPr algn="ctr" indent="0" marL="0">
              <a:buNone/>
            </a:pPr>
            <a:r>
              <a:rPr lang="en-US" sz="1400" b="1" dirty="0">
                <a:solidFill>
                  <a:schemeClr val="tx1"/>
                </a:solidFill>
              </a:rPr>
              <a:t>Service layer</a:t>
            </a:r>
            <a:endParaRPr lang="en-US" sz="1400" dirty="0"/>
          </a:p>
          <a:p>
            <a:pPr algn="ctr" indent="0" marL="0">
              <a:buNone/>
            </a:pPr>
            <a:r>
              <a:rPr lang="en-US" sz="1100" dirty="0">
                <a:solidFill>
                  <a:schemeClr val="tx2"/>
                </a:solidFill>
              </a:rPr>
              <a:t>Business rules</a:t>
            </a:r>
            <a:endParaRPr lang="en-US" sz="1400" dirty="0"/>
          </a:p>
        </p:txBody>
      </p:sp>
      <p:sp>
        <p:nvSpPr>
          <p:cNvPr id="13" name="Shape 11"/>
          <p:cNvSpPr/>
          <p:nvPr/>
        </p:nvSpPr>
        <p:spPr>
          <a:xfrm>
            <a:off x="7008876" y="2354580"/>
            <a:ext cx="457200" cy="0"/>
          </a:xfrm>
          <a:prstGeom prst="line">
            <a:avLst/>
          </a:prstGeom>
          <a:noFill/>
          <a:ln w="19050">
            <a:solidFill>
              <a:schemeClr val="accent1"/>
            </a:solidFill>
            <a:prstDash val="solid"/>
            <a:tailEnd type="triangle"/>
          </a:ln>
        </p:spPr>
      </p:sp>
      <p:sp>
        <p:nvSpPr>
          <p:cNvPr id="14" name="Shape 12"/>
          <p:cNvSpPr/>
          <p:nvPr/>
        </p:nvSpPr>
        <p:spPr>
          <a:xfrm>
            <a:off x="7466076" y="1828800"/>
            <a:ext cx="1828800" cy="1051560"/>
          </a:xfrm>
          <a:prstGeom prst="roundRect">
            <a:avLst>
              <a:gd name="adj" fmla="val 6957"/>
            </a:avLst>
          </a:prstGeom>
          <a:solidFill>
            <a:schemeClr val="accent5"/>
          </a:solidFill>
          <a:ln w="12700">
            <a:solidFill>
              <a:schemeClr val="accent1"/>
            </a:solidFill>
            <a:prstDash val="solid"/>
          </a:ln>
        </p:spPr>
      </p:sp>
      <p:sp>
        <p:nvSpPr>
          <p:cNvPr id="15" name="Text 13"/>
          <p:cNvSpPr txBox="1"/>
          <p:nvPr/>
        </p:nvSpPr>
        <p:spPr>
          <a:xfrm>
            <a:off x="7539228" y="1828800"/>
            <a:ext cx="1682496" cy="1051560"/>
          </a:xfrm>
          <a:prstGeom prst="rect">
            <a:avLst/>
          </a:prstGeom>
          <a:noFill/>
          <a:ln/>
        </p:spPr>
        <p:txBody>
          <a:bodyPr wrap="square" lIns="0" tIns="0" rIns="0" bIns="0" rtlCol="0" anchor="ctr"/>
          <a:lstStyle/>
          <a:p>
            <a:pPr algn="ctr" indent="0" marL="0">
              <a:buNone/>
            </a:pPr>
            <a:r>
              <a:rPr lang="en-US" sz="1400" b="1" dirty="0">
                <a:solidFill>
                  <a:schemeClr val="tx1"/>
                </a:solidFill>
              </a:rPr>
              <a:t>Data access</a:t>
            </a:r>
            <a:endParaRPr lang="en-US" sz="1400" dirty="0"/>
          </a:p>
          <a:p>
            <a:pPr algn="ctr" indent="0" marL="0">
              <a:buNone/>
            </a:pPr>
            <a:r>
              <a:rPr lang="en-US" sz="1100" dirty="0">
                <a:solidFill>
                  <a:schemeClr val="tx2"/>
                </a:solidFill>
              </a:rPr>
              <a:t>Hibernate · JPA</a:t>
            </a:r>
            <a:endParaRPr lang="en-US" sz="1400" dirty="0"/>
          </a:p>
        </p:txBody>
      </p:sp>
      <p:sp>
        <p:nvSpPr>
          <p:cNvPr id="16" name="Shape 14"/>
          <p:cNvSpPr/>
          <p:nvPr/>
        </p:nvSpPr>
        <p:spPr>
          <a:xfrm>
            <a:off x="9294876" y="2354580"/>
            <a:ext cx="457200" cy="0"/>
          </a:xfrm>
          <a:prstGeom prst="line">
            <a:avLst/>
          </a:prstGeom>
          <a:noFill/>
          <a:ln w="19050">
            <a:solidFill>
              <a:schemeClr val="accent1"/>
            </a:solidFill>
            <a:prstDash val="solid"/>
            <a:tailEnd type="triangle"/>
          </a:ln>
        </p:spPr>
      </p:sp>
      <p:sp>
        <p:nvSpPr>
          <p:cNvPr id="17" name="Shape 15"/>
          <p:cNvSpPr/>
          <p:nvPr/>
        </p:nvSpPr>
        <p:spPr>
          <a:xfrm>
            <a:off x="9752076" y="1828800"/>
            <a:ext cx="1828800" cy="1051560"/>
          </a:xfrm>
          <a:prstGeom prst="roundRect">
            <a:avLst>
              <a:gd name="adj" fmla="val 6957"/>
            </a:avLst>
          </a:prstGeom>
          <a:solidFill>
            <a:schemeClr val="accent3"/>
          </a:solidFill>
          <a:ln w="12700">
            <a:solidFill>
              <a:schemeClr val="accent1"/>
            </a:solidFill>
            <a:prstDash val="solid"/>
          </a:ln>
        </p:spPr>
      </p:sp>
      <p:sp>
        <p:nvSpPr>
          <p:cNvPr id="18" name="Text 16"/>
          <p:cNvSpPr txBox="1"/>
          <p:nvPr/>
        </p:nvSpPr>
        <p:spPr>
          <a:xfrm>
            <a:off x="9825228" y="1828800"/>
            <a:ext cx="1682496" cy="1051560"/>
          </a:xfrm>
          <a:prstGeom prst="rect">
            <a:avLst/>
          </a:prstGeom>
          <a:noFill/>
          <a:ln/>
        </p:spPr>
        <p:txBody>
          <a:bodyPr wrap="square" lIns="0" tIns="0" rIns="0" bIns="0" rtlCol="0" anchor="ctr"/>
          <a:lstStyle/>
          <a:p>
            <a:pPr algn="ctr" indent="0" marL="0">
              <a:buNone/>
            </a:pPr>
            <a:r>
              <a:rPr lang="en-US" sz="1400" b="1" dirty="0">
                <a:solidFill>
                  <a:schemeClr val="tx1"/>
                </a:solidFill>
              </a:rPr>
              <a:t>MySQL</a:t>
            </a:r>
            <a:endParaRPr lang="en-US" sz="1400" dirty="0"/>
          </a:p>
          <a:p>
            <a:pPr algn="ctr" indent="0" marL="0">
              <a:buNone/>
            </a:pPr>
            <a:r>
              <a:rPr lang="en-US" sz="1100" dirty="0">
                <a:solidFill>
                  <a:schemeClr val="tx2"/>
                </a:solidFill>
              </a:rPr>
              <a:t>Database</a:t>
            </a:r>
            <a:endParaRPr lang="en-US" sz="1400" dirty="0"/>
          </a:p>
        </p:txBody>
      </p:sp>
      <p:sp>
        <p:nvSpPr>
          <p:cNvPr id="19" name="Text 17"/>
          <p:cNvSpPr txBox="1"/>
          <p:nvPr/>
        </p:nvSpPr>
        <p:spPr>
          <a:xfrm>
            <a:off x="2436876" y="1920240"/>
            <a:ext cx="457200" cy="228600"/>
          </a:xfrm>
          <a:prstGeom prst="rect">
            <a:avLst/>
          </a:prstGeom>
          <a:noFill/>
          <a:ln/>
        </p:spPr>
        <p:txBody>
          <a:bodyPr wrap="square" lIns="0" tIns="0" rIns="0" bIns="0" rtlCol="0" anchor="t"/>
          <a:lstStyle/>
          <a:p>
            <a:pPr algn="ctr" indent="0" marL="0">
              <a:buNone/>
            </a:pPr>
            <a:r>
              <a:rPr lang="en-US" sz="900" dirty="0">
                <a:solidFill>
                  <a:schemeClr val="tx2"/>
                </a:solidFill>
              </a:rPr>
              <a:t>HTTP</a:t>
            </a:r>
            <a:endParaRPr lang="en-US" sz="900" dirty="0"/>
          </a:p>
        </p:txBody>
      </p:sp>
      <p:sp>
        <p:nvSpPr>
          <p:cNvPr id="20" name="Text 18"/>
          <p:cNvSpPr txBox="1"/>
          <p:nvPr/>
        </p:nvSpPr>
        <p:spPr>
          <a:xfrm>
            <a:off x="9294876" y="1920240"/>
            <a:ext cx="457200" cy="228600"/>
          </a:xfrm>
          <a:prstGeom prst="rect">
            <a:avLst/>
          </a:prstGeom>
          <a:noFill/>
          <a:ln/>
        </p:spPr>
        <p:txBody>
          <a:bodyPr wrap="square" lIns="0" tIns="0" rIns="0" bIns="0" rtlCol="0" anchor="t"/>
          <a:lstStyle/>
          <a:p>
            <a:pPr algn="ctr" indent="0" marL="0">
              <a:buNone/>
            </a:pPr>
            <a:r>
              <a:rPr lang="en-US" sz="900" dirty="0">
                <a:solidFill>
                  <a:schemeClr val="tx2"/>
                </a:solidFill>
              </a:rPr>
              <a:t>SQL</a:t>
            </a:r>
            <a:endParaRPr lang="en-US" sz="900" dirty="0"/>
          </a:p>
        </p:txBody>
      </p:sp>
      <p:sp>
        <p:nvSpPr>
          <p:cNvPr id="21" name="Shape 19"/>
          <p:cNvSpPr/>
          <p:nvPr/>
        </p:nvSpPr>
        <p:spPr>
          <a:xfrm>
            <a:off x="2894076" y="3429000"/>
            <a:ext cx="1828800" cy="868680"/>
          </a:xfrm>
          <a:prstGeom prst="roundRect">
            <a:avLst>
              <a:gd name="adj" fmla="val 8421"/>
            </a:avLst>
          </a:prstGeom>
          <a:solidFill>
            <a:schemeClr val="bg2"/>
          </a:solidFill>
          <a:ln w="12700">
            <a:solidFill>
              <a:schemeClr val="accent4"/>
            </a:solidFill>
            <a:prstDash val="solid"/>
          </a:ln>
        </p:spPr>
      </p:sp>
      <p:sp>
        <p:nvSpPr>
          <p:cNvPr id="22" name="Text 20"/>
          <p:cNvSpPr txBox="1"/>
          <p:nvPr/>
        </p:nvSpPr>
        <p:spPr>
          <a:xfrm>
            <a:off x="2967228" y="3429000"/>
            <a:ext cx="1682496" cy="868680"/>
          </a:xfrm>
          <a:prstGeom prst="rect">
            <a:avLst/>
          </a:prstGeom>
          <a:noFill/>
          <a:ln/>
        </p:spPr>
        <p:txBody>
          <a:bodyPr wrap="square" lIns="0" tIns="0" rIns="0" bIns="0" rtlCol="0" anchor="ctr"/>
          <a:lstStyle/>
          <a:p>
            <a:pPr algn="ctr" indent="0" marL="0">
              <a:buNone/>
            </a:pPr>
            <a:r>
              <a:rPr lang="en-US" sz="1400" b="1" dirty="0">
                <a:solidFill>
                  <a:schemeClr val="tx1"/>
                </a:solidFill>
              </a:rPr>
              <a:t>Spring Security</a:t>
            </a:r>
            <a:endParaRPr lang="en-US" sz="1400" dirty="0"/>
          </a:p>
          <a:p>
            <a:pPr algn="ctr" indent="0" marL="0">
              <a:buNone/>
            </a:pPr>
            <a:r>
              <a:rPr lang="en-US" sz="1100" dirty="0">
                <a:solidFill>
                  <a:schemeClr val="tx2"/>
                </a:solidFill>
              </a:rPr>
              <a:t>Role-based access</a:t>
            </a:r>
            <a:endParaRPr lang="en-US" sz="1400" dirty="0"/>
          </a:p>
        </p:txBody>
      </p:sp>
      <p:sp>
        <p:nvSpPr>
          <p:cNvPr id="23" name="Shape 21"/>
          <p:cNvSpPr/>
          <p:nvPr/>
        </p:nvSpPr>
        <p:spPr>
          <a:xfrm flipV="1">
            <a:off x="3808476" y="2880360"/>
            <a:ext cx="0" cy="548640"/>
          </a:xfrm>
          <a:prstGeom prst="line">
            <a:avLst/>
          </a:prstGeom>
          <a:noFill/>
          <a:ln w="19050">
            <a:solidFill>
              <a:schemeClr val="accent4"/>
            </a:solidFill>
            <a:prstDash val="dash"/>
            <a:tailEnd type="triangle"/>
          </a:ln>
        </p:spPr>
      </p:sp>
      <p:sp>
        <p:nvSpPr>
          <p:cNvPr id="24" name="Card 39"/>
          <p:cNvSpPr/>
          <p:nvPr/>
        </p:nvSpPr>
        <p:spPr>
          <a:xfrm>
            <a:off x="548640" y="4663440"/>
            <a:ext cx="2697480" cy="1234440"/>
          </a:xfrm>
          <a:prstGeom prst="roundRect">
            <a:avLst>
              <a:gd name="adj" fmla="val 5926"/>
            </a:avLst>
          </a:prstGeom>
          <a:solidFill>
            <a:schemeClr val="bg2"/>
          </a:solidFill>
          <a:ln w="9525">
            <a:solidFill>
              <a:schemeClr val="accent3"/>
            </a:solidFill>
            <a:prstDash val="solid"/>
          </a:ln>
        </p:spPr>
      </p:sp>
      <p:sp>
        <p:nvSpPr>
          <p:cNvPr id="25" name="Text 23"/>
          <p:cNvSpPr txBox="1"/>
          <p:nvPr/>
        </p:nvSpPr>
        <p:spPr>
          <a:xfrm>
            <a:off x="731520" y="4754880"/>
            <a:ext cx="2331720" cy="1051560"/>
          </a:xfrm>
          <a:prstGeom prst="rect">
            <a:avLst/>
          </a:prstGeom>
          <a:noFill/>
          <a:ln/>
        </p:spPr>
        <p:txBody>
          <a:bodyPr wrap="square" lIns="0" tIns="0" rIns="0" bIns="0" rtlCol="0" anchor="ctr"/>
          <a:lstStyle/>
          <a:p>
            <a:pPr indent="0" marL="0">
              <a:buNone/>
            </a:pPr>
            <a:r>
              <a:rPr lang="en-US" sz="1400" b="1" dirty="0">
                <a:solidFill>
                  <a:schemeClr val="accent1"/>
                </a:solidFill>
              </a:rPr>
              <a:t>User interface</a:t>
            </a:r>
            <a:endParaRPr lang="en-US" sz="1400" dirty="0"/>
          </a:p>
          <a:p>
            <a:pPr indent="0" marL="0">
              <a:buNone/>
            </a:pPr>
            <a:r>
              <a:rPr lang="en-US" sz="1300" dirty="0">
                <a:solidFill>
                  <a:schemeClr val="tx1"/>
                </a:solidFill>
              </a:rPr>
              <a:t>Only presents data</a:t>
            </a:r>
            <a:endParaRPr lang="en-US" sz="1400" dirty="0"/>
          </a:p>
        </p:txBody>
      </p:sp>
      <p:sp>
        <p:nvSpPr>
          <p:cNvPr id="26" name="Card 40"/>
          <p:cNvSpPr/>
          <p:nvPr/>
        </p:nvSpPr>
        <p:spPr>
          <a:xfrm>
            <a:off x="3364992" y="4663440"/>
            <a:ext cx="2697480" cy="1234440"/>
          </a:xfrm>
          <a:prstGeom prst="roundRect">
            <a:avLst>
              <a:gd name="adj" fmla="val 5926"/>
            </a:avLst>
          </a:prstGeom>
          <a:solidFill>
            <a:schemeClr val="bg2"/>
          </a:solidFill>
          <a:ln w="9525">
            <a:solidFill>
              <a:schemeClr val="accent3"/>
            </a:solidFill>
            <a:prstDash val="solid"/>
          </a:ln>
        </p:spPr>
      </p:sp>
      <p:sp>
        <p:nvSpPr>
          <p:cNvPr id="27" name="Text 25"/>
          <p:cNvSpPr txBox="1"/>
          <p:nvPr/>
        </p:nvSpPr>
        <p:spPr>
          <a:xfrm>
            <a:off x="3547872" y="4754880"/>
            <a:ext cx="2331720" cy="1051560"/>
          </a:xfrm>
          <a:prstGeom prst="rect">
            <a:avLst/>
          </a:prstGeom>
          <a:noFill/>
          <a:ln/>
        </p:spPr>
        <p:txBody>
          <a:bodyPr wrap="square" lIns="0" tIns="0" rIns="0" bIns="0" rtlCol="0" anchor="ctr"/>
          <a:lstStyle/>
          <a:p>
            <a:pPr indent="0" marL="0">
              <a:buNone/>
            </a:pPr>
            <a:r>
              <a:rPr lang="en-US" sz="1400" b="1" dirty="0">
                <a:solidFill>
                  <a:schemeClr val="accent1"/>
                </a:solidFill>
              </a:rPr>
              <a:t>Controllers</a:t>
            </a:r>
            <a:endParaRPr lang="en-US" sz="1400" dirty="0"/>
          </a:p>
          <a:p>
            <a:pPr indent="0" marL="0">
              <a:buNone/>
            </a:pPr>
            <a:r>
              <a:rPr lang="en-US" sz="1300" dirty="0">
                <a:solidFill>
                  <a:schemeClr val="tx1"/>
                </a:solidFill>
              </a:rPr>
              <a:t>Receive and validate requests</a:t>
            </a:r>
            <a:endParaRPr lang="en-US" sz="1400" dirty="0"/>
          </a:p>
        </p:txBody>
      </p:sp>
      <p:sp>
        <p:nvSpPr>
          <p:cNvPr id="28" name="Card 41"/>
          <p:cNvSpPr/>
          <p:nvPr/>
        </p:nvSpPr>
        <p:spPr>
          <a:xfrm>
            <a:off x="6181344" y="4663440"/>
            <a:ext cx="2697480" cy="1234440"/>
          </a:xfrm>
          <a:prstGeom prst="roundRect">
            <a:avLst>
              <a:gd name="adj" fmla="val 5926"/>
            </a:avLst>
          </a:prstGeom>
          <a:solidFill>
            <a:schemeClr val="bg2"/>
          </a:solidFill>
          <a:ln w="9525">
            <a:solidFill>
              <a:schemeClr val="accent3"/>
            </a:solidFill>
            <a:prstDash val="solid"/>
          </a:ln>
        </p:spPr>
      </p:sp>
      <p:sp>
        <p:nvSpPr>
          <p:cNvPr id="29" name="Text 27"/>
          <p:cNvSpPr txBox="1"/>
          <p:nvPr/>
        </p:nvSpPr>
        <p:spPr>
          <a:xfrm>
            <a:off x="6364224" y="4754880"/>
            <a:ext cx="2331720" cy="1051560"/>
          </a:xfrm>
          <a:prstGeom prst="rect">
            <a:avLst/>
          </a:prstGeom>
          <a:noFill/>
          <a:ln/>
        </p:spPr>
        <p:txBody>
          <a:bodyPr wrap="square" lIns="0" tIns="0" rIns="0" bIns="0" rtlCol="0" anchor="ctr"/>
          <a:lstStyle/>
          <a:p>
            <a:pPr indent="0" marL="0">
              <a:buNone/>
            </a:pPr>
            <a:r>
              <a:rPr lang="en-US" sz="1400" b="1" dirty="0">
                <a:solidFill>
                  <a:schemeClr val="accent1"/>
                </a:solidFill>
              </a:rPr>
              <a:t>Service layer</a:t>
            </a:r>
            <a:endParaRPr lang="en-US" sz="1400" dirty="0"/>
          </a:p>
          <a:p>
            <a:pPr indent="0" marL="0">
              <a:buNone/>
            </a:pPr>
            <a:r>
              <a:rPr lang="en-US" sz="1300" dirty="0">
                <a:solidFill>
                  <a:schemeClr val="tx1"/>
                </a:solidFill>
              </a:rPr>
              <a:t>Enforces business rules</a:t>
            </a:r>
            <a:endParaRPr lang="en-US" sz="1400" dirty="0"/>
          </a:p>
        </p:txBody>
      </p:sp>
      <p:sp>
        <p:nvSpPr>
          <p:cNvPr id="30" name="Card 42"/>
          <p:cNvSpPr/>
          <p:nvPr/>
        </p:nvSpPr>
        <p:spPr>
          <a:xfrm>
            <a:off x="8997696" y="4663440"/>
            <a:ext cx="2697480" cy="1234440"/>
          </a:xfrm>
          <a:prstGeom prst="roundRect">
            <a:avLst>
              <a:gd name="adj" fmla="val 5926"/>
            </a:avLst>
          </a:prstGeom>
          <a:solidFill>
            <a:schemeClr val="bg2"/>
          </a:solidFill>
          <a:ln w="9525">
            <a:solidFill>
              <a:schemeClr val="accent3"/>
            </a:solidFill>
            <a:prstDash val="solid"/>
          </a:ln>
        </p:spPr>
      </p:sp>
      <p:sp>
        <p:nvSpPr>
          <p:cNvPr id="31" name="Text 29"/>
          <p:cNvSpPr txBox="1"/>
          <p:nvPr/>
        </p:nvSpPr>
        <p:spPr>
          <a:xfrm>
            <a:off x="9180576" y="4754880"/>
            <a:ext cx="2331720" cy="1051560"/>
          </a:xfrm>
          <a:prstGeom prst="rect">
            <a:avLst/>
          </a:prstGeom>
          <a:noFill/>
          <a:ln/>
        </p:spPr>
        <p:txBody>
          <a:bodyPr wrap="square" lIns="0" tIns="0" rIns="0" bIns="0" rtlCol="0" anchor="ctr"/>
          <a:lstStyle/>
          <a:p>
            <a:pPr indent="0" marL="0">
              <a:buNone/>
            </a:pPr>
            <a:r>
              <a:rPr lang="en-US" sz="1400" b="1" dirty="0">
                <a:solidFill>
                  <a:schemeClr val="accent1"/>
                </a:solidFill>
              </a:rPr>
              <a:t>Data access</a:t>
            </a:r>
            <a:endParaRPr lang="en-US" sz="1400" dirty="0"/>
          </a:p>
          <a:p>
            <a:pPr indent="0" marL="0">
              <a:buNone/>
            </a:pPr>
            <a:r>
              <a:rPr lang="en-US" sz="1300" dirty="0">
                <a:solidFill>
                  <a:schemeClr val="tx1"/>
                </a:solidFill>
              </a:rPr>
              <a:t>Talks to the database</a:t>
            </a:r>
            <a:endParaRPr lang="en-US" sz="1400" dirty="0"/>
          </a:p>
        </p:txBody>
      </p:sp>
      <p:sp>
        <p:nvSpPr>
          <p:cNvPr id="32" name="Text 30"/>
          <p:cNvSpPr txBox="1"/>
          <p:nvPr/>
        </p:nvSpPr>
        <p:spPr>
          <a:xfrm>
            <a:off x="7283196" y="3429000"/>
            <a:ext cx="2926080" cy="868680"/>
          </a:xfrm>
          <a:prstGeom prst="rect">
            <a:avLst/>
          </a:prstGeom>
          <a:noFill/>
          <a:ln/>
        </p:spPr>
        <p:txBody>
          <a:bodyPr wrap="square" lIns="0" tIns="0" rIns="0" bIns="0" rtlCol="0" anchor="ctr"/>
          <a:lstStyle/>
          <a:p>
            <a:pPr indent="0" marL="0">
              <a:buNone/>
            </a:pPr>
            <a:r>
              <a:rPr lang="en-US" sz="1200" dirty="0">
                <a:solidFill>
                  <a:schemeClr val="tx2"/>
                </a:solidFill>
              </a:rPr>
              <a:t>A security layer sits beside the controllers and checks the identity and role of every request before it reaches the business logic.</a:t>
            </a:r>
            <a:endParaRPr lang="en-US" sz="12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Database Design</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09  DATABASE</a:t>
            </a:r>
            <a:endParaRPr lang="en-US" sz="1100" dirty="0"/>
          </a:p>
        </p:txBody>
      </p:sp>
      <p:sp>
        <p:nvSpPr>
          <p:cNvPr id="4" name="Text 2"/>
          <p:cNvSpPr txBox="1"/>
          <p:nvPr/>
        </p:nvSpPr>
        <p:spPr>
          <a:xfrm>
            <a:off x="548640" y="1234440"/>
            <a:ext cx="8229600" cy="274320"/>
          </a:xfrm>
          <a:prstGeom prst="rect">
            <a:avLst/>
          </a:prstGeom>
          <a:noFill/>
          <a:ln/>
        </p:spPr>
        <p:txBody>
          <a:bodyPr wrap="square" lIns="0" tIns="0" rIns="0" bIns="0" rtlCol="0" anchor="t"/>
          <a:lstStyle/>
          <a:p>
            <a:pPr indent="0" marL="0">
              <a:buNone/>
            </a:pPr>
            <a:r>
              <a:rPr lang="en-US" sz="1300" dirty="0">
                <a:solidFill>
                  <a:schemeClr val="tx2"/>
                </a:solidFill>
              </a:rPr>
              <a:t>Eight entities (Figure 6.3). Relationships as shown in the report's ER diagram.</a:t>
            </a:r>
            <a:endParaRPr lang="en-US" sz="1300" dirty="0"/>
          </a:p>
        </p:txBody>
      </p:sp>
      <p:sp>
        <p:nvSpPr>
          <p:cNvPr id="5" name="Shape 3"/>
          <p:cNvSpPr/>
          <p:nvPr/>
        </p:nvSpPr>
        <p:spPr>
          <a:xfrm>
            <a:off x="548640" y="1645920"/>
            <a:ext cx="1920240" cy="1097280"/>
          </a:xfrm>
          <a:prstGeom prst="rect">
            <a:avLst/>
          </a:prstGeom>
          <a:solidFill>
            <a:schemeClr val="bg2"/>
          </a:solidFill>
          <a:ln w="12700">
            <a:solidFill>
              <a:schemeClr val="accent1"/>
            </a:solidFill>
            <a:prstDash val="solid"/>
          </a:ln>
        </p:spPr>
      </p:sp>
      <p:sp>
        <p:nvSpPr>
          <p:cNvPr id="6" name="Shape 4"/>
          <p:cNvSpPr/>
          <p:nvPr/>
        </p:nvSpPr>
        <p:spPr>
          <a:xfrm>
            <a:off x="548640" y="1645920"/>
            <a:ext cx="1920240" cy="292608"/>
          </a:xfrm>
          <a:prstGeom prst="rect">
            <a:avLst/>
          </a:prstGeom>
          <a:solidFill>
            <a:schemeClr val="accent3"/>
          </a:solidFill>
          <a:ln w="12700">
            <a:solidFill>
              <a:schemeClr val="accent1"/>
            </a:solidFill>
            <a:prstDash val="solid"/>
          </a:ln>
        </p:spPr>
      </p:sp>
      <p:sp>
        <p:nvSpPr>
          <p:cNvPr id="7" name="Text 5"/>
          <p:cNvSpPr txBox="1"/>
          <p:nvPr/>
        </p:nvSpPr>
        <p:spPr>
          <a:xfrm>
            <a:off x="548640" y="1645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USERS</a:t>
            </a:r>
            <a:endParaRPr lang="en-US" sz="1100" dirty="0"/>
          </a:p>
        </p:txBody>
      </p:sp>
      <p:sp>
        <p:nvSpPr>
          <p:cNvPr id="8" name="Text 6"/>
          <p:cNvSpPr txBox="1"/>
          <p:nvPr/>
        </p:nvSpPr>
        <p:spPr>
          <a:xfrm>
            <a:off x="640080" y="1975104"/>
            <a:ext cx="1783080" cy="731520"/>
          </a:xfrm>
          <a:prstGeom prst="rect">
            <a:avLst/>
          </a:prstGeom>
          <a:noFill/>
          <a:ln/>
        </p:spPr>
        <p:txBody>
          <a:bodyPr wrap="square" lIns="0" tIns="0" rIns="0" bIns="0" rtlCol="0" anchor="t"/>
          <a:lstStyle/>
          <a:p>
            <a:pPr indent="0" marL="0">
              <a:buNone/>
            </a:pPr>
            <a:r>
              <a:rPr lang="en-US" sz="1050" dirty="0">
                <a:solidFill>
                  <a:schemeClr val="tx1"/>
                </a:solidFill>
              </a:rPr>
              <a:t>PK user_id</a:t>
            </a:r>
            <a:endParaRPr lang="en-US" sz="1050" dirty="0"/>
          </a:p>
          <a:p>
            <a:pPr indent="0" marL="0">
              <a:buNone/>
            </a:pPr>
            <a:r>
              <a:rPr lang="en-US" sz="1050" dirty="0">
                <a:solidFill>
                  <a:schemeClr val="tx1"/>
                </a:solidFill>
              </a:rPr>
              <a:t>username</a:t>
            </a:r>
            <a:endParaRPr lang="en-US" sz="1050" dirty="0"/>
          </a:p>
          <a:p>
            <a:pPr indent="0" marL="0">
              <a:buNone/>
            </a:pPr>
            <a:r>
              <a:rPr lang="en-US" sz="1050" dirty="0">
                <a:solidFill>
                  <a:schemeClr val="tx1"/>
                </a:solidFill>
              </a:rPr>
              <a:t>password_hash</a:t>
            </a:r>
            <a:endParaRPr lang="en-US" sz="1050" dirty="0"/>
          </a:p>
          <a:p>
            <a:pPr indent="0" marL="0">
              <a:buNone/>
            </a:pPr>
            <a:r>
              <a:rPr lang="en-US" sz="1050" dirty="0">
                <a:solidFill>
                  <a:schemeClr val="tx1"/>
                </a:solidFill>
              </a:rPr>
              <a:t>role, status</a:t>
            </a:r>
            <a:endParaRPr lang="en-US" sz="1050" dirty="0"/>
          </a:p>
        </p:txBody>
      </p:sp>
      <p:sp>
        <p:nvSpPr>
          <p:cNvPr id="9" name="Shape 7"/>
          <p:cNvSpPr/>
          <p:nvPr/>
        </p:nvSpPr>
        <p:spPr>
          <a:xfrm>
            <a:off x="3017520" y="1645920"/>
            <a:ext cx="1920240" cy="1325880"/>
          </a:xfrm>
          <a:prstGeom prst="rect">
            <a:avLst/>
          </a:prstGeom>
          <a:solidFill>
            <a:schemeClr val="bg2"/>
          </a:solidFill>
          <a:ln w="12700">
            <a:solidFill>
              <a:schemeClr val="accent1"/>
            </a:solidFill>
            <a:prstDash val="solid"/>
          </a:ln>
        </p:spPr>
      </p:sp>
      <p:sp>
        <p:nvSpPr>
          <p:cNvPr id="10" name="Shape 8"/>
          <p:cNvSpPr/>
          <p:nvPr/>
        </p:nvSpPr>
        <p:spPr>
          <a:xfrm>
            <a:off x="3017520" y="1645920"/>
            <a:ext cx="1920240" cy="292608"/>
          </a:xfrm>
          <a:prstGeom prst="rect">
            <a:avLst/>
          </a:prstGeom>
          <a:solidFill>
            <a:schemeClr val="accent3"/>
          </a:solidFill>
          <a:ln w="12700">
            <a:solidFill>
              <a:schemeClr val="accent1"/>
            </a:solidFill>
            <a:prstDash val="solid"/>
          </a:ln>
        </p:spPr>
      </p:sp>
      <p:sp>
        <p:nvSpPr>
          <p:cNvPr id="11" name="Text 9"/>
          <p:cNvSpPr txBox="1"/>
          <p:nvPr/>
        </p:nvSpPr>
        <p:spPr>
          <a:xfrm>
            <a:off x="3017520" y="1645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STUDENT</a:t>
            </a:r>
            <a:endParaRPr lang="en-US" sz="1100" dirty="0"/>
          </a:p>
        </p:txBody>
      </p:sp>
      <p:sp>
        <p:nvSpPr>
          <p:cNvPr id="12" name="Text 10"/>
          <p:cNvSpPr txBox="1"/>
          <p:nvPr/>
        </p:nvSpPr>
        <p:spPr>
          <a:xfrm>
            <a:off x="3108960" y="1975104"/>
            <a:ext cx="1783080" cy="960120"/>
          </a:xfrm>
          <a:prstGeom prst="rect">
            <a:avLst/>
          </a:prstGeom>
          <a:noFill/>
          <a:ln/>
        </p:spPr>
        <p:txBody>
          <a:bodyPr wrap="square" lIns="0" tIns="0" rIns="0" bIns="0" rtlCol="0" anchor="t"/>
          <a:lstStyle/>
          <a:p>
            <a:pPr indent="0" marL="0">
              <a:buNone/>
            </a:pPr>
            <a:r>
              <a:rPr lang="en-US" sz="1050" dirty="0">
                <a:solidFill>
                  <a:schemeClr val="tx1"/>
                </a:solidFill>
              </a:rPr>
              <a:t>PK student_id</a:t>
            </a:r>
            <a:endParaRPr lang="en-US" sz="1050" dirty="0"/>
          </a:p>
          <a:p>
            <a:pPr indent="0" marL="0">
              <a:buNone/>
            </a:pPr>
            <a:r>
              <a:rPr lang="en-US" sz="1050" dirty="0">
                <a:solidFill>
                  <a:schemeClr val="tx1"/>
                </a:solidFill>
              </a:rPr>
              <a:t>FK user_id</a:t>
            </a:r>
            <a:endParaRPr lang="en-US" sz="1050" dirty="0"/>
          </a:p>
          <a:p>
            <a:pPr indent="0" marL="0">
              <a:buNone/>
            </a:pPr>
            <a:r>
              <a:rPr lang="en-US" sz="1050" dirty="0">
                <a:solidFill>
                  <a:schemeClr val="tx1"/>
                </a:solidFill>
              </a:rPr>
              <a:t>FK dept_id</a:t>
            </a:r>
            <a:endParaRPr lang="en-US" sz="1050" dirty="0"/>
          </a:p>
          <a:p>
            <a:pPr indent="0" marL="0">
              <a:buNone/>
            </a:pPr>
            <a:r>
              <a:rPr lang="en-US" sz="1050" dirty="0">
                <a:solidFill>
                  <a:schemeClr val="tx1"/>
                </a:solidFill>
              </a:rPr>
              <a:t>reg_no, name</a:t>
            </a:r>
            <a:endParaRPr lang="en-US" sz="1050" dirty="0"/>
          </a:p>
          <a:p>
            <a:pPr indent="0" marL="0">
              <a:buNone/>
            </a:pPr>
            <a:r>
              <a:rPr lang="en-US" sz="1050" dirty="0">
                <a:solidFill>
                  <a:schemeClr val="tx1"/>
                </a:solidFill>
              </a:rPr>
              <a:t>email, phone</a:t>
            </a:r>
            <a:endParaRPr lang="en-US" sz="1050" dirty="0"/>
          </a:p>
          <a:p>
            <a:pPr indent="0" marL="0">
              <a:buNone/>
            </a:pPr>
            <a:r>
              <a:rPr lang="en-US" sz="1050" dirty="0">
                <a:solidFill>
                  <a:schemeClr val="tx1"/>
                </a:solidFill>
              </a:rPr>
              <a:t>year, status</a:t>
            </a:r>
            <a:endParaRPr lang="en-US" sz="1050" dirty="0"/>
          </a:p>
        </p:txBody>
      </p:sp>
      <p:sp>
        <p:nvSpPr>
          <p:cNvPr id="13" name="Shape 11"/>
          <p:cNvSpPr/>
          <p:nvPr/>
        </p:nvSpPr>
        <p:spPr>
          <a:xfrm>
            <a:off x="5486400" y="1645920"/>
            <a:ext cx="1920240" cy="914400"/>
          </a:xfrm>
          <a:prstGeom prst="rect">
            <a:avLst/>
          </a:prstGeom>
          <a:solidFill>
            <a:schemeClr val="bg2"/>
          </a:solidFill>
          <a:ln w="12700">
            <a:solidFill>
              <a:schemeClr val="accent1"/>
            </a:solidFill>
            <a:prstDash val="solid"/>
          </a:ln>
        </p:spPr>
      </p:sp>
      <p:sp>
        <p:nvSpPr>
          <p:cNvPr id="14" name="Shape 12"/>
          <p:cNvSpPr/>
          <p:nvPr/>
        </p:nvSpPr>
        <p:spPr>
          <a:xfrm>
            <a:off x="5486400" y="1645920"/>
            <a:ext cx="1920240" cy="292608"/>
          </a:xfrm>
          <a:prstGeom prst="rect">
            <a:avLst/>
          </a:prstGeom>
          <a:solidFill>
            <a:schemeClr val="accent3"/>
          </a:solidFill>
          <a:ln w="12700">
            <a:solidFill>
              <a:schemeClr val="accent1"/>
            </a:solidFill>
            <a:prstDash val="solid"/>
          </a:ln>
        </p:spPr>
      </p:sp>
      <p:sp>
        <p:nvSpPr>
          <p:cNvPr id="15" name="Text 13"/>
          <p:cNvSpPr txBox="1"/>
          <p:nvPr/>
        </p:nvSpPr>
        <p:spPr>
          <a:xfrm>
            <a:off x="5486400" y="1645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DEPARTMENT</a:t>
            </a:r>
            <a:endParaRPr lang="en-US" sz="1100" dirty="0"/>
          </a:p>
        </p:txBody>
      </p:sp>
      <p:sp>
        <p:nvSpPr>
          <p:cNvPr id="16" name="Text 14"/>
          <p:cNvSpPr txBox="1"/>
          <p:nvPr/>
        </p:nvSpPr>
        <p:spPr>
          <a:xfrm>
            <a:off x="5577840" y="1975104"/>
            <a:ext cx="1783080" cy="548640"/>
          </a:xfrm>
          <a:prstGeom prst="rect">
            <a:avLst/>
          </a:prstGeom>
          <a:noFill/>
          <a:ln/>
        </p:spPr>
        <p:txBody>
          <a:bodyPr wrap="square" lIns="0" tIns="0" rIns="0" bIns="0" rtlCol="0" anchor="t"/>
          <a:lstStyle/>
          <a:p>
            <a:pPr indent="0" marL="0">
              <a:buNone/>
            </a:pPr>
            <a:r>
              <a:rPr lang="en-US" sz="1050" dirty="0">
                <a:solidFill>
                  <a:schemeClr val="tx1"/>
                </a:solidFill>
              </a:rPr>
              <a:t>PK dept_id</a:t>
            </a:r>
            <a:endParaRPr lang="en-US" sz="1050" dirty="0"/>
          </a:p>
          <a:p>
            <a:pPr indent="0" marL="0">
              <a:buNone/>
            </a:pPr>
            <a:r>
              <a:rPr lang="en-US" sz="1050" dirty="0">
                <a:solidFill>
                  <a:schemeClr val="tx1"/>
                </a:solidFill>
              </a:rPr>
              <a:t>name</a:t>
            </a:r>
            <a:endParaRPr lang="en-US" sz="1050" dirty="0"/>
          </a:p>
          <a:p>
            <a:pPr indent="0" marL="0">
              <a:buNone/>
            </a:pPr>
            <a:r>
              <a:rPr lang="en-US" sz="1050" dirty="0">
                <a:solidFill>
                  <a:schemeClr val="tx1"/>
                </a:solidFill>
              </a:rPr>
              <a:t>head_name</a:t>
            </a:r>
            <a:endParaRPr lang="en-US" sz="1050" dirty="0"/>
          </a:p>
        </p:txBody>
      </p:sp>
      <p:sp>
        <p:nvSpPr>
          <p:cNvPr id="17" name="Shape 15"/>
          <p:cNvSpPr/>
          <p:nvPr/>
        </p:nvSpPr>
        <p:spPr>
          <a:xfrm>
            <a:off x="7955280" y="1645920"/>
            <a:ext cx="1920240" cy="1097280"/>
          </a:xfrm>
          <a:prstGeom prst="rect">
            <a:avLst/>
          </a:prstGeom>
          <a:solidFill>
            <a:schemeClr val="bg2"/>
          </a:solidFill>
          <a:ln w="12700">
            <a:solidFill>
              <a:schemeClr val="accent1"/>
            </a:solidFill>
            <a:prstDash val="solid"/>
          </a:ln>
        </p:spPr>
      </p:sp>
      <p:sp>
        <p:nvSpPr>
          <p:cNvPr id="18" name="Shape 16"/>
          <p:cNvSpPr/>
          <p:nvPr/>
        </p:nvSpPr>
        <p:spPr>
          <a:xfrm>
            <a:off x="7955280" y="1645920"/>
            <a:ext cx="1920240" cy="292608"/>
          </a:xfrm>
          <a:prstGeom prst="rect">
            <a:avLst/>
          </a:prstGeom>
          <a:solidFill>
            <a:schemeClr val="accent3"/>
          </a:solidFill>
          <a:ln w="12700">
            <a:solidFill>
              <a:schemeClr val="accent1"/>
            </a:solidFill>
            <a:prstDash val="solid"/>
          </a:ln>
        </p:spPr>
      </p:sp>
      <p:sp>
        <p:nvSpPr>
          <p:cNvPr id="19" name="Text 17"/>
          <p:cNvSpPr txBox="1"/>
          <p:nvPr/>
        </p:nvSpPr>
        <p:spPr>
          <a:xfrm>
            <a:off x="7955280" y="1645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FACULTY</a:t>
            </a:r>
            <a:endParaRPr lang="en-US" sz="1100" dirty="0"/>
          </a:p>
        </p:txBody>
      </p:sp>
      <p:sp>
        <p:nvSpPr>
          <p:cNvPr id="20" name="Text 18"/>
          <p:cNvSpPr txBox="1"/>
          <p:nvPr/>
        </p:nvSpPr>
        <p:spPr>
          <a:xfrm>
            <a:off x="8046720" y="1975104"/>
            <a:ext cx="1783080" cy="731520"/>
          </a:xfrm>
          <a:prstGeom prst="rect">
            <a:avLst/>
          </a:prstGeom>
          <a:noFill/>
          <a:ln/>
        </p:spPr>
        <p:txBody>
          <a:bodyPr wrap="square" lIns="0" tIns="0" rIns="0" bIns="0" rtlCol="0" anchor="t"/>
          <a:lstStyle/>
          <a:p>
            <a:pPr indent="0" marL="0">
              <a:buNone/>
            </a:pPr>
            <a:r>
              <a:rPr lang="en-US" sz="1050" dirty="0">
                <a:solidFill>
                  <a:schemeClr val="tx1"/>
                </a:solidFill>
              </a:rPr>
              <a:t>PK faculty_id</a:t>
            </a:r>
            <a:endParaRPr lang="en-US" sz="1050" dirty="0"/>
          </a:p>
          <a:p>
            <a:pPr indent="0" marL="0">
              <a:buNone/>
            </a:pPr>
            <a:r>
              <a:rPr lang="en-US" sz="1050" dirty="0">
                <a:solidFill>
                  <a:schemeClr val="tx1"/>
                </a:solidFill>
              </a:rPr>
              <a:t>FK user_id</a:t>
            </a:r>
            <a:endParaRPr lang="en-US" sz="1050" dirty="0"/>
          </a:p>
          <a:p>
            <a:pPr indent="0" marL="0">
              <a:buNone/>
            </a:pPr>
            <a:r>
              <a:rPr lang="en-US" sz="1050" dirty="0">
                <a:solidFill>
                  <a:schemeClr val="tx1"/>
                </a:solidFill>
              </a:rPr>
              <a:t>FK dept_id</a:t>
            </a:r>
            <a:endParaRPr lang="en-US" sz="1050" dirty="0"/>
          </a:p>
          <a:p>
            <a:pPr indent="0" marL="0">
              <a:buNone/>
            </a:pPr>
            <a:r>
              <a:rPr lang="en-US" sz="1050" dirty="0">
                <a:solidFill>
                  <a:schemeClr val="tx1"/>
                </a:solidFill>
              </a:rPr>
              <a:t>name, email</a:t>
            </a:r>
            <a:endParaRPr lang="en-US" sz="1050" dirty="0"/>
          </a:p>
        </p:txBody>
      </p:sp>
      <p:sp>
        <p:nvSpPr>
          <p:cNvPr id="21" name="Shape 19"/>
          <p:cNvSpPr/>
          <p:nvPr/>
        </p:nvSpPr>
        <p:spPr>
          <a:xfrm>
            <a:off x="548640" y="3931920"/>
            <a:ext cx="1920240" cy="1051560"/>
          </a:xfrm>
          <a:prstGeom prst="rect">
            <a:avLst/>
          </a:prstGeom>
          <a:solidFill>
            <a:schemeClr val="bg2"/>
          </a:solidFill>
          <a:ln w="12700">
            <a:solidFill>
              <a:schemeClr val="accent1"/>
            </a:solidFill>
            <a:prstDash val="solid"/>
          </a:ln>
        </p:spPr>
      </p:sp>
      <p:sp>
        <p:nvSpPr>
          <p:cNvPr id="22" name="Shape 20"/>
          <p:cNvSpPr/>
          <p:nvPr/>
        </p:nvSpPr>
        <p:spPr>
          <a:xfrm>
            <a:off x="548640" y="3931920"/>
            <a:ext cx="1920240" cy="292608"/>
          </a:xfrm>
          <a:prstGeom prst="rect">
            <a:avLst/>
          </a:prstGeom>
          <a:solidFill>
            <a:schemeClr val="accent3"/>
          </a:solidFill>
          <a:ln w="12700">
            <a:solidFill>
              <a:schemeClr val="accent1"/>
            </a:solidFill>
            <a:prstDash val="solid"/>
          </a:ln>
        </p:spPr>
      </p:sp>
      <p:sp>
        <p:nvSpPr>
          <p:cNvPr id="23" name="Text 21"/>
          <p:cNvSpPr txBox="1"/>
          <p:nvPr/>
        </p:nvSpPr>
        <p:spPr>
          <a:xfrm>
            <a:off x="548640" y="3931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ATTENDANCE</a:t>
            </a:r>
            <a:endParaRPr lang="en-US" sz="1100" dirty="0"/>
          </a:p>
        </p:txBody>
      </p:sp>
      <p:sp>
        <p:nvSpPr>
          <p:cNvPr id="24" name="Text 22"/>
          <p:cNvSpPr txBox="1"/>
          <p:nvPr/>
        </p:nvSpPr>
        <p:spPr>
          <a:xfrm>
            <a:off x="640080" y="4261104"/>
            <a:ext cx="1783080" cy="685800"/>
          </a:xfrm>
          <a:prstGeom prst="rect">
            <a:avLst/>
          </a:prstGeom>
          <a:noFill/>
          <a:ln/>
        </p:spPr>
        <p:txBody>
          <a:bodyPr wrap="square" lIns="0" tIns="0" rIns="0" bIns="0" rtlCol="0" anchor="t"/>
          <a:lstStyle/>
          <a:p>
            <a:pPr indent="0" marL="0">
              <a:buNone/>
            </a:pPr>
            <a:r>
              <a:rPr lang="en-US" sz="1050" dirty="0">
                <a:solidFill>
                  <a:schemeClr val="tx1"/>
                </a:solidFill>
              </a:rPr>
              <a:t>PK att_id</a:t>
            </a:r>
            <a:endParaRPr lang="en-US" sz="1050" dirty="0"/>
          </a:p>
          <a:p>
            <a:pPr indent="0" marL="0">
              <a:buNone/>
            </a:pPr>
            <a:r>
              <a:rPr lang="en-US" sz="1050" dirty="0">
                <a:solidFill>
                  <a:schemeClr val="tx1"/>
                </a:solidFill>
              </a:rPr>
              <a:t>FK enroll_id</a:t>
            </a:r>
            <a:endParaRPr lang="en-US" sz="1050" dirty="0"/>
          </a:p>
          <a:p>
            <a:pPr indent="0" marL="0">
              <a:buNone/>
            </a:pPr>
            <a:r>
              <a:rPr lang="en-US" sz="1050" dirty="0">
                <a:solidFill>
                  <a:schemeClr val="tx1"/>
                </a:solidFill>
              </a:rPr>
              <a:t>class_date</a:t>
            </a:r>
            <a:endParaRPr lang="en-US" sz="1050" dirty="0"/>
          </a:p>
          <a:p>
            <a:pPr indent="0" marL="0">
              <a:buNone/>
            </a:pPr>
            <a:r>
              <a:rPr lang="en-US" sz="1050" dirty="0">
                <a:solidFill>
                  <a:schemeClr val="tx1"/>
                </a:solidFill>
              </a:rPr>
              <a:t>status</a:t>
            </a:r>
            <a:endParaRPr lang="en-US" sz="1050" dirty="0"/>
          </a:p>
        </p:txBody>
      </p:sp>
      <p:sp>
        <p:nvSpPr>
          <p:cNvPr id="25" name="Shape 23"/>
          <p:cNvSpPr/>
          <p:nvPr/>
        </p:nvSpPr>
        <p:spPr>
          <a:xfrm>
            <a:off x="3017520" y="3931920"/>
            <a:ext cx="1920240" cy="1051560"/>
          </a:xfrm>
          <a:prstGeom prst="rect">
            <a:avLst/>
          </a:prstGeom>
          <a:solidFill>
            <a:schemeClr val="bg2"/>
          </a:solidFill>
          <a:ln w="12700">
            <a:solidFill>
              <a:schemeClr val="accent1"/>
            </a:solidFill>
            <a:prstDash val="solid"/>
          </a:ln>
        </p:spPr>
      </p:sp>
      <p:sp>
        <p:nvSpPr>
          <p:cNvPr id="26" name="Shape 24"/>
          <p:cNvSpPr/>
          <p:nvPr/>
        </p:nvSpPr>
        <p:spPr>
          <a:xfrm>
            <a:off x="3017520" y="3931920"/>
            <a:ext cx="1920240" cy="292608"/>
          </a:xfrm>
          <a:prstGeom prst="rect">
            <a:avLst/>
          </a:prstGeom>
          <a:solidFill>
            <a:schemeClr val="accent3"/>
          </a:solidFill>
          <a:ln w="12700">
            <a:solidFill>
              <a:schemeClr val="accent1"/>
            </a:solidFill>
            <a:prstDash val="solid"/>
          </a:ln>
        </p:spPr>
      </p:sp>
      <p:sp>
        <p:nvSpPr>
          <p:cNvPr id="27" name="Text 25"/>
          <p:cNvSpPr txBox="1"/>
          <p:nvPr/>
        </p:nvSpPr>
        <p:spPr>
          <a:xfrm>
            <a:off x="3017520" y="3931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ENROLLMENT</a:t>
            </a:r>
            <a:endParaRPr lang="en-US" sz="1100" dirty="0"/>
          </a:p>
        </p:txBody>
      </p:sp>
      <p:sp>
        <p:nvSpPr>
          <p:cNvPr id="28" name="Text 26"/>
          <p:cNvSpPr txBox="1"/>
          <p:nvPr/>
        </p:nvSpPr>
        <p:spPr>
          <a:xfrm>
            <a:off x="3108960" y="4261104"/>
            <a:ext cx="1783080" cy="685800"/>
          </a:xfrm>
          <a:prstGeom prst="rect">
            <a:avLst/>
          </a:prstGeom>
          <a:noFill/>
          <a:ln/>
        </p:spPr>
        <p:txBody>
          <a:bodyPr wrap="square" lIns="0" tIns="0" rIns="0" bIns="0" rtlCol="0" anchor="t"/>
          <a:lstStyle/>
          <a:p>
            <a:pPr indent="0" marL="0">
              <a:buNone/>
            </a:pPr>
            <a:r>
              <a:rPr lang="en-US" sz="1050" dirty="0">
                <a:solidFill>
                  <a:schemeClr val="tx1"/>
                </a:solidFill>
              </a:rPr>
              <a:t>PK enroll_id</a:t>
            </a:r>
            <a:endParaRPr lang="en-US" sz="1050" dirty="0"/>
          </a:p>
          <a:p>
            <a:pPr indent="0" marL="0">
              <a:buNone/>
            </a:pPr>
            <a:r>
              <a:rPr lang="en-US" sz="1050" dirty="0">
                <a:solidFill>
                  <a:schemeClr val="tx1"/>
                </a:solidFill>
              </a:rPr>
              <a:t>FK student_id</a:t>
            </a:r>
            <a:endParaRPr lang="en-US" sz="1050" dirty="0"/>
          </a:p>
          <a:p>
            <a:pPr indent="0" marL="0">
              <a:buNone/>
            </a:pPr>
            <a:r>
              <a:rPr lang="en-US" sz="1050" dirty="0">
                <a:solidFill>
                  <a:schemeClr val="tx1"/>
                </a:solidFill>
              </a:rPr>
              <a:t>FK course_id</a:t>
            </a:r>
            <a:endParaRPr lang="en-US" sz="1050" dirty="0"/>
          </a:p>
          <a:p>
            <a:pPr indent="0" marL="0">
              <a:buNone/>
            </a:pPr>
            <a:r>
              <a:rPr lang="en-US" sz="1050" dirty="0">
                <a:solidFill>
                  <a:schemeClr val="tx1"/>
                </a:solidFill>
              </a:rPr>
              <a:t>enrolled_on</a:t>
            </a:r>
            <a:endParaRPr lang="en-US" sz="1050" dirty="0"/>
          </a:p>
        </p:txBody>
      </p:sp>
      <p:sp>
        <p:nvSpPr>
          <p:cNvPr id="29" name="Shape 27"/>
          <p:cNvSpPr/>
          <p:nvPr/>
        </p:nvSpPr>
        <p:spPr>
          <a:xfrm>
            <a:off x="5486400" y="3931920"/>
            <a:ext cx="1920240" cy="1280160"/>
          </a:xfrm>
          <a:prstGeom prst="rect">
            <a:avLst/>
          </a:prstGeom>
          <a:solidFill>
            <a:schemeClr val="bg2"/>
          </a:solidFill>
          <a:ln w="12700">
            <a:solidFill>
              <a:schemeClr val="accent1"/>
            </a:solidFill>
            <a:prstDash val="solid"/>
          </a:ln>
        </p:spPr>
      </p:sp>
      <p:sp>
        <p:nvSpPr>
          <p:cNvPr id="30" name="Shape 28"/>
          <p:cNvSpPr/>
          <p:nvPr/>
        </p:nvSpPr>
        <p:spPr>
          <a:xfrm>
            <a:off x="5486400" y="3931920"/>
            <a:ext cx="1920240" cy="292608"/>
          </a:xfrm>
          <a:prstGeom prst="rect">
            <a:avLst/>
          </a:prstGeom>
          <a:solidFill>
            <a:schemeClr val="accent3"/>
          </a:solidFill>
          <a:ln w="12700">
            <a:solidFill>
              <a:schemeClr val="accent1"/>
            </a:solidFill>
            <a:prstDash val="solid"/>
          </a:ln>
        </p:spPr>
      </p:sp>
      <p:sp>
        <p:nvSpPr>
          <p:cNvPr id="31" name="Text 29"/>
          <p:cNvSpPr txBox="1"/>
          <p:nvPr/>
        </p:nvSpPr>
        <p:spPr>
          <a:xfrm>
            <a:off x="5486400" y="393192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COURSE</a:t>
            </a:r>
            <a:endParaRPr lang="en-US" sz="1100" dirty="0"/>
          </a:p>
        </p:txBody>
      </p:sp>
      <p:sp>
        <p:nvSpPr>
          <p:cNvPr id="32" name="Text 30"/>
          <p:cNvSpPr txBox="1"/>
          <p:nvPr/>
        </p:nvSpPr>
        <p:spPr>
          <a:xfrm>
            <a:off x="5577840" y="4261104"/>
            <a:ext cx="1783080" cy="914400"/>
          </a:xfrm>
          <a:prstGeom prst="rect">
            <a:avLst/>
          </a:prstGeom>
          <a:noFill/>
          <a:ln/>
        </p:spPr>
        <p:txBody>
          <a:bodyPr wrap="square" lIns="0" tIns="0" rIns="0" bIns="0" rtlCol="0" anchor="t"/>
          <a:lstStyle/>
          <a:p>
            <a:pPr indent="0" marL="0">
              <a:buNone/>
            </a:pPr>
            <a:r>
              <a:rPr lang="en-US" sz="1050" dirty="0">
                <a:solidFill>
                  <a:schemeClr val="tx1"/>
                </a:solidFill>
              </a:rPr>
              <a:t>PK course_id</a:t>
            </a:r>
            <a:endParaRPr lang="en-US" sz="1050" dirty="0"/>
          </a:p>
          <a:p>
            <a:pPr indent="0" marL="0">
              <a:buNone/>
            </a:pPr>
            <a:r>
              <a:rPr lang="en-US" sz="1050" dirty="0">
                <a:solidFill>
                  <a:schemeClr val="tx1"/>
                </a:solidFill>
              </a:rPr>
              <a:t>FK dept_id</a:t>
            </a:r>
            <a:endParaRPr lang="en-US" sz="1050" dirty="0"/>
          </a:p>
          <a:p>
            <a:pPr indent="0" marL="0">
              <a:buNone/>
            </a:pPr>
            <a:r>
              <a:rPr lang="en-US" sz="1050" dirty="0">
                <a:solidFill>
                  <a:schemeClr val="tx1"/>
                </a:solidFill>
              </a:rPr>
              <a:t>FK faculty_id</a:t>
            </a:r>
            <a:endParaRPr lang="en-US" sz="1050" dirty="0"/>
          </a:p>
          <a:p>
            <a:pPr indent="0" marL="0">
              <a:buNone/>
            </a:pPr>
            <a:r>
              <a:rPr lang="en-US" sz="1050" dirty="0">
                <a:solidFill>
                  <a:schemeClr val="tx1"/>
                </a:solidFill>
              </a:rPr>
              <a:t>code, title</a:t>
            </a:r>
            <a:endParaRPr lang="en-US" sz="1050" dirty="0"/>
          </a:p>
          <a:p>
            <a:pPr indent="0" marL="0">
              <a:buNone/>
            </a:pPr>
            <a:r>
              <a:rPr lang="en-US" sz="1050" dirty="0">
                <a:solidFill>
                  <a:schemeClr val="tx1"/>
                </a:solidFill>
              </a:rPr>
              <a:t>credits, capacity</a:t>
            </a:r>
            <a:endParaRPr lang="en-US" sz="1050" dirty="0"/>
          </a:p>
        </p:txBody>
      </p:sp>
      <p:sp>
        <p:nvSpPr>
          <p:cNvPr id="33" name="Shape 31"/>
          <p:cNvSpPr/>
          <p:nvPr/>
        </p:nvSpPr>
        <p:spPr>
          <a:xfrm>
            <a:off x="3017520" y="5349240"/>
            <a:ext cx="1920240" cy="1005840"/>
          </a:xfrm>
          <a:prstGeom prst="rect">
            <a:avLst/>
          </a:prstGeom>
          <a:solidFill>
            <a:schemeClr val="bg2"/>
          </a:solidFill>
          <a:ln w="12700">
            <a:solidFill>
              <a:schemeClr val="accent1"/>
            </a:solidFill>
            <a:prstDash val="solid"/>
          </a:ln>
        </p:spPr>
      </p:sp>
      <p:sp>
        <p:nvSpPr>
          <p:cNvPr id="34" name="Shape 32"/>
          <p:cNvSpPr/>
          <p:nvPr/>
        </p:nvSpPr>
        <p:spPr>
          <a:xfrm>
            <a:off x="3017520" y="5349240"/>
            <a:ext cx="1920240" cy="292608"/>
          </a:xfrm>
          <a:prstGeom prst="rect">
            <a:avLst/>
          </a:prstGeom>
          <a:solidFill>
            <a:schemeClr val="accent3"/>
          </a:solidFill>
          <a:ln w="12700">
            <a:solidFill>
              <a:schemeClr val="accent1"/>
            </a:solidFill>
            <a:prstDash val="solid"/>
          </a:ln>
        </p:spPr>
      </p:sp>
      <p:sp>
        <p:nvSpPr>
          <p:cNvPr id="35" name="Text 33"/>
          <p:cNvSpPr txBox="1"/>
          <p:nvPr/>
        </p:nvSpPr>
        <p:spPr>
          <a:xfrm>
            <a:off x="3017520" y="5349240"/>
            <a:ext cx="1920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MARKS</a:t>
            </a:r>
            <a:endParaRPr lang="en-US" sz="1100" dirty="0"/>
          </a:p>
        </p:txBody>
      </p:sp>
      <p:sp>
        <p:nvSpPr>
          <p:cNvPr id="36" name="Text 34"/>
          <p:cNvSpPr txBox="1"/>
          <p:nvPr/>
        </p:nvSpPr>
        <p:spPr>
          <a:xfrm>
            <a:off x="3108960" y="5678424"/>
            <a:ext cx="1783080" cy="640080"/>
          </a:xfrm>
          <a:prstGeom prst="rect">
            <a:avLst/>
          </a:prstGeom>
          <a:noFill/>
          <a:ln/>
        </p:spPr>
        <p:txBody>
          <a:bodyPr wrap="square" lIns="0" tIns="0" rIns="0" bIns="0" rtlCol="0" anchor="t"/>
          <a:lstStyle/>
          <a:p>
            <a:pPr indent="0" marL="0">
              <a:buNone/>
            </a:pPr>
            <a:r>
              <a:rPr lang="en-US" sz="1050" dirty="0">
                <a:solidFill>
                  <a:schemeClr val="tx1"/>
                </a:solidFill>
              </a:rPr>
              <a:t>PK mark_id</a:t>
            </a:r>
            <a:endParaRPr lang="en-US" sz="1050" dirty="0"/>
          </a:p>
          <a:p>
            <a:pPr indent="0" marL="0">
              <a:buNone/>
            </a:pPr>
            <a:r>
              <a:rPr lang="en-US" sz="1050" dirty="0">
                <a:solidFill>
                  <a:schemeClr val="tx1"/>
                </a:solidFill>
              </a:rPr>
              <a:t>FK enroll_id</a:t>
            </a:r>
            <a:endParaRPr lang="en-US" sz="1050" dirty="0"/>
          </a:p>
          <a:p>
            <a:pPr indent="0" marL="0">
              <a:buNone/>
            </a:pPr>
            <a:r>
              <a:rPr lang="en-US" sz="1050" dirty="0">
                <a:solidFill>
                  <a:schemeClr val="tx1"/>
                </a:solidFill>
              </a:rPr>
              <a:t>exam_type</a:t>
            </a:r>
            <a:endParaRPr lang="en-US" sz="1050" dirty="0"/>
          </a:p>
          <a:p>
            <a:pPr indent="0" marL="0">
              <a:buNone/>
            </a:pPr>
            <a:r>
              <a:rPr lang="en-US" sz="1050" dirty="0">
                <a:solidFill>
                  <a:schemeClr val="tx1"/>
                </a:solidFill>
              </a:rPr>
              <a:t>score, max_score</a:t>
            </a:r>
            <a:endParaRPr lang="en-US" sz="1050" dirty="0"/>
          </a:p>
        </p:txBody>
      </p:sp>
      <p:sp>
        <p:nvSpPr>
          <p:cNvPr id="37" name="Shape 35"/>
          <p:cNvSpPr/>
          <p:nvPr/>
        </p:nvSpPr>
        <p:spPr>
          <a:xfrm>
            <a:off x="2468880" y="2148840"/>
            <a:ext cx="548640" cy="0"/>
          </a:xfrm>
          <a:prstGeom prst="line">
            <a:avLst/>
          </a:prstGeom>
          <a:noFill/>
          <a:ln w="15875">
            <a:solidFill>
              <a:schemeClr val="accent2"/>
            </a:solidFill>
            <a:prstDash val="solid"/>
          </a:ln>
        </p:spPr>
      </p:sp>
      <p:sp>
        <p:nvSpPr>
          <p:cNvPr id="38" name="Text 36"/>
          <p:cNvSpPr txBox="1"/>
          <p:nvPr/>
        </p:nvSpPr>
        <p:spPr>
          <a:xfrm>
            <a:off x="2514600" y="192024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1:1</a:t>
            </a:r>
            <a:endParaRPr lang="en-US" sz="900" dirty="0"/>
          </a:p>
        </p:txBody>
      </p:sp>
      <p:sp>
        <p:nvSpPr>
          <p:cNvPr id="39" name="Shape 37"/>
          <p:cNvSpPr/>
          <p:nvPr/>
        </p:nvSpPr>
        <p:spPr>
          <a:xfrm>
            <a:off x="4937760" y="2148840"/>
            <a:ext cx="548640" cy="0"/>
          </a:xfrm>
          <a:prstGeom prst="line">
            <a:avLst/>
          </a:prstGeom>
          <a:noFill/>
          <a:ln w="15875">
            <a:solidFill>
              <a:schemeClr val="accent2"/>
            </a:solidFill>
            <a:prstDash val="solid"/>
          </a:ln>
        </p:spPr>
      </p:sp>
      <p:sp>
        <p:nvSpPr>
          <p:cNvPr id="40" name="Text 38"/>
          <p:cNvSpPr txBox="1"/>
          <p:nvPr/>
        </p:nvSpPr>
        <p:spPr>
          <a:xfrm>
            <a:off x="4983480" y="192024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N:1</a:t>
            </a:r>
            <a:endParaRPr lang="en-US" sz="900" dirty="0"/>
          </a:p>
        </p:txBody>
      </p:sp>
      <p:sp>
        <p:nvSpPr>
          <p:cNvPr id="41" name="Shape 39"/>
          <p:cNvSpPr/>
          <p:nvPr/>
        </p:nvSpPr>
        <p:spPr>
          <a:xfrm>
            <a:off x="7406640" y="2148840"/>
            <a:ext cx="548640" cy="0"/>
          </a:xfrm>
          <a:prstGeom prst="line">
            <a:avLst/>
          </a:prstGeom>
          <a:noFill/>
          <a:ln w="15875">
            <a:solidFill>
              <a:schemeClr val="accent2"/>
            </a:solidFill>
            <a:prstDash val="solid"/>
          </a:ln>
        </p:spPr>
      </p:sp>
      <p:sp>
        <p:nvSpPr>
          <p:cNvPr id="42" name="Text 40"/>
          <p:cNvSpPr txBox="1"/>
          <p:nvPr/>
        </p:nvSpPr>
        <p:spPr>
          <a:xfrm>
            <a:off x="7452360" y="192024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1:N</a:t>
            </a:r>
            <a:endParaRPr lang="en-US" sz="900" dirty="0"/>
          </a:p>
        </p:txBody>
      </p:sp>
      <p:sp>
        <p:nvSpPr>
          <p:cNvPr id="43" name="Shape 41"/>
          <p:cNvSpPr/>
          <p:nvPr/>
        </p:nvSpPr>
        <p:spPr>
          <a:xfrm>
            <a:off x="3977640" y="2971800"/>
            <a:ext cx="0" cy="960120"/>
          </a:xfrm>
          <a:prstGeom prst="line">
            <a:avLst/>
          </a:prstGeom>
          <a:noFill/>
          <a:ln w="15875">
            <a:solidFill>
              <a:schemeClr val="accent2"/>
            </a:solidFill>
            <a:prstDash val="solid"/>
          </a:ln>
        </p:spPr>
      </p:sp>
      <p:sp>
        <p:nvSpPr>
          <p:cNvPr id="44" name="Text 42"/>
          <p:cNvSpPr txBox="1"/>
          <p:nvPr/>
        </p:nvSpPr>
        <p:spPr>
          <a:xfrm>
            <a:off x="4023360" y="329184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1:N</a:t>
            </a:r>
            <a:endParaRPr lang="en-US" sz="900" dirty="0"/>
          </a:p>
        </p:txBody>
      </p:sp>
      <p:sp>
        <p:nvSpPr>
          <p:cNvPr id="45" name="Shape 43"/>
          <p:cNvSpPr/>
          <p:nvPr/>
        </p:nvSpPr>
        <p:spPr>
          <a:xfrm>
            <a:off x="2468880" y="4434840"/>
            <a:ext cx="548640" cy="0"/>
          </a:xfrm>
          <a:prstGeom prst="line">
            <a:avLst/>
          </a:prstGeom>
          <a:noFill/>
          <a:ln w="15875">
            <a:solidFill>
              <a:schemeClr val="accent2"/>
            </a:solidFill>
            <a:prstDash val="solid"/>
          </a:ln>
        </p:spPr>
      </p:sp>
      <p:sp>
        <p:nvSpPr>
          <p:cNvPr id="46" name="Text 44"/>
          <p:cNvSpPr txBox="1"/>
          <p:nvPr/>
        </p:nvSpPr>
        <p:spPr>
          <a:xfrm>
            <a:off x="2514600" y="420624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N:1</a:t>
            </a:r>
            <a:endParaRPr lang="en-US" sz="900" dirty="0"/>
          </a:p>
        </p:txBody>
      </p:sp>
      <p:sp>
        <p:nvSpPr>
          <p:cNvPr id="47" name="Shape 45"/>
          <p:cNvSpPr/>
          <p:nvPr/>
        </p:nvSpPr>
        <p:spPr>
          <a:xfrm>
            <a:off x="4937760" y="4434840"/>
            <a:ext cx="548640" cy="0"/>
          </a:xfrm>
          <a:prstGeom prst="line">
            <a:avLst/>
          </a:prstGeom>
          <a:noFill/>
          <a:ln w="15875">
            <a:solidFill>
              <a:schemeClr val="accent2"/>
            </a:solidFill>
            <a:prstDash val="solid"/>
          </a:ln>
        </p:spPr>
      </p:sp>
      <p:sp>
        <p:nvSpPr>
          <p:cNvPr id="48" name="Text 46"/>
          <p:cNvSpPr txBox="1"/>
          <p:nvPr/>
        </p:nvSpPr>
        <p:spPr>
          <a:xfrm>
            <a:off x="4983480" y="420624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N:1</a:t>
            </a:r>
            <a:endParaRPr lang="en-US" sz="900" dirty="0"/>
          </a:p>
        </p:txBody>
      </p:sp>
      <p:sp>
        <p:nvSpPr>
          <p:cNvPr id="49" name="Shape 47"/>
          <p:cNvSpPr/>
          <p:nvPr/>
        </p:nvSpPr>
        <p:spPr>
          <a:xfrm>
            <a:off x="3977640" y="4983480"/>
            <a:ext cx="0" cy="365760"/>
          </a:xfrm>
          <a:prstGeom prst="line">
            <a:avLst/>
          </a:prstGeom>
          <a:noFill/>
          <a:ln w="15875">
            <a:solidFill>
              <a:schemeClr val="accent2"/>
            </a:solidFill>
            <a:prstDash val="solid"/>
          </a:ln>
        </p:spPr>
      </p:sp>
      <p:sp>
        <p:nvSpPr>
          <p:cNvPr id="50" name="Text 48"/>
          <p:cNvSpPr txBox="1"/>
          <p:nvPr/>
        </p:nvSpPr>
        <p:spPr>
          <a:xfrm>
            <a:off x="4023360" y="502920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1:N</a:t>
            </a:r>
            <a:endParaRPr lang="en-US" sz="900" dirty="0"/>
          </a:p>
        </p:txBody>
      </p:sp>
      <p:sp>
        <p:nvSpPr>
          <p:cNvPr id="51" name="Shape 49"/>
          <p:cNvSpPr/>
          <p:nvPr/>
        </p:nvSpPr>
        <p:spPr>
          <a:xfrm>
            <a:off x="6446520" y="2560320"/>
            <a:ext cx="0" cy="1371600"/>
          </a:xfrm>
          <a:prstGeom prst="line">
            <a:avLst/>
          </a:prstGeom>
          <a:noFill/>
          <a:ln w="15875">
            <a:solidFill>
              <a:schemeClr val="accent2"/>
            </a:solidFill>
            <a:prstDash val="solid"/>
          </a:ln>
        </p:spPr>
      </p:sp>
      <p:sp>
        <p:nvSpPr>
          <p:cNvPr id="52" name="Text 50"/>
          <p:cNvSpPr txBox="1"/>
          <p:nvPr/>
        </p:nvSpPr>
        <p:spPr>
          <a:xfrm>
            <a:off x="6492240" y="310896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1:N</a:t>
            </a:r>
            <a:endParaRPr lang="en-US" sz="900" dirty="0"/>
          </a:p>
        </p:txBody>
      </p:sp>
      <p:sp>
        <p:nvSpPr>
          <p:cNvPr id="53" name="Shape 51"/>
          <p:cNvSpPr/>
          <p:nvPr/>
        </p:nvSpPr>
        <p:spPr>
          <a:xfrm>
            <a:off x="8915400" y="2743200"/>
            <a:ext cx="0" cy="1801368"/>
          </a:xfrm>
          <a:prstGeom prst="line">
            <a:avLst/>
          </a:prstGeom>
          <a:noFill/>
          <a:ln w="15875">
            <a:solidFill>
              <a:schemeClr val="accent2"/>
            </a:solidFill>
            <a:prstDash val="solid"/>
          </a:ln>
        </p:spPr>
      </p:sp>
      <p:sp>
        <p:nvSpPr>
          <p:cNvPr id="54" name="Shape 52"/>
          <p:cNvSpPr/>
          <p:nvPr/>
        </p:nvSpPr>
        <p:spPr>
          <a:xfrm>
            <a:off x="7406640" y="4544568"/>
            <a:ext cx="1508760" cy="0"/>
          </a:xfrm>
          <a:prstGeom prst="line">
            <a:avLst/>
          </a:prstGeom>
          <a:noFill/>
          <a:ln w="15875">
            <a:solidFill>
              <a:schemeClr val="accent2"/>
            </a:solidFill>
            <a:prstDash val="solid"/>
          </a:ln>
        </p:spPr>
      </p:sp>
      <p:sp>
        <p:nvSpPr>
          <p:cNvPr id="55" name="Text 53"/>
          <p:cNvSpPr txBox="1"/>
          <p:nvPr/>
        </p:nvSpPr>
        <p:spPr>
          <a:xfrm>
            <a:off x="8961120" y="3657600"/>
            <a:ext cx="457200" cy="201168"/>
          </a:xfrm>
          <a:prstGeom prst="rect">
            <a:avLst/>
          </a:prstGeom>
          <a:noFill/>
          <a:ln/>
        </p:spPr>
        <p:txBody>
          <a:bodyPr wrap="square" lIns="0" tIns="0" rIns="0" bIns="0" rtlCol="0" anchor="t"/>
          <a:lstStyle/>
          <a:p>
            <a:pPr algn="ctr" indent="0" marL="0">
              <a:buNone/>
            </a:pPr>
            <a:r>
              <a:rPr lang="en-US" sz="900" b="1" dirty="0">
                <a:solidFill>
                  <a:schemeClr val="accent1"/>
                </a:solidFill>
              </a:rPr>
              <a:t>1:N</a:t>
            </a:r>
            <a:endParaRPr lang="en-US" sz="900" dirty="0"/>
          </a:p>
        </p:txBody>
      </p:sp>
      <p:sp>
        <p:nvSpPr>
          <p:cNvPr id="56" name="Card 43"/>
          <p:cNvSpPr/>
          <p:nvPr/>
        </p:nvSpPr>
        <p:spPr>
          <a:xfrm>
            <a:off x="5486400" y="5440680"/>
            <a:ext cx="4389120" cy="914400"/>
          </a:xfrm>
          <a:prstGeom prst="roundRect">
            <a:avLst>
              <a:gd name="adj" fmla="val 8000"/>
            </a:avLst>
          </a:prstGeom>
          <a:solidFill>
            <a:schemeClr val="accent5"/>
          </a:solidFill>
          <a:ln w="9525">
            <a:solidFill>
              <a:schemeClr val="accent3"/>
            </a:solidFill>
            <a:prstDash val="solid"/>
          </a:ln>
        </p:spPr>
      </p:sp>
      <p:sp>
        <p:nvSpPr>
          <p:cNvPr id="57" name="Text 55"/>
          <p:cNvSpPr txBox="1"/>
          <p:nvPr/>
        </p:nvSpPr>
        <p:spPr>
          <a:xfrm>
            <a:off x="5623560" y="5486400"/>
            <a:ext cx="4114800" cy="822960"/>
          </a:xfrm>
          <a:prstGeom prst="rect">
            <a:avLst/>
          </a:prstGeom>
          <a:noFill/>
          <a:ln/>
        </p:spPr>
        <p:txBody>
          <a:bodyPr wrap="square" lIns="0" tIns="0" rIns="0" bIns="0" rtlCol="0" anchor="ctr"/>
          <a:lstStyle/>
          <a:p>
            <a:pPr indent="0" marL="0">
              <a:buNone/>
            </a:pPr>
            <a:r>
              <a:rPr lang="en-US" sz="1100" b="1" dirty="0">
                <a:solidFill>
                  <a:schemeClr val="accent1"/>
                </a:solidFill>
              </a:rPr>
              <a:t>Keys: </a:t>
            </a:r>
            <a:pPr indent="0" marL="0">
              <a:buNone/>
            </a:pPr>
            <a:r>
              <a:rPr lang="en-US" sz="1100" dirty="0">
                <a:solidFill>
                  <a:schemeClr val="tx1"/>
                </a:solidFill>
              </a:rPr>
              <a:t>Primary keys are indexed; foreign keys enforce referential integrity, so an enrolment can never refer to a missing student or course. Attendance and marks attach to an enrolment.</a:t>
            </a:r>
            <a:endParaRPr lang="en-US" sz="11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Main Modules</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10  MODULES</a:t>
            </a:r>
            <a:endParaRPr lang="en-US" sz="1100" dirty="0"/>
          </a:p>
        </p:txBody>
      </p:sp>
      <p:sp>
        <p:nvSpPr>
          <p:cNvPr id="4" name="Card 44"/>
          <p:cNvSpPr/>
          <p:nvPr/>
        </p:nvSpPr>
        <p:spPr>
          <a:xfrm>
            <a:off x="548640" y="1463040"/>
            <a:ext cx="2679192" cy="2057400"/>
          </a:xfrm>
          <a:prstGeom prst="roundRect">
            <a:avLst>
              <a:gd name="adj" fmla="val 3556"/>
            </a:avLst>
          </a:prstGeom>
          <a:solidFill>
            <a:schemeClr val="bg2"/>
          </a:solidFill>
          <a:ln w="9525">
            <a:solidFill>
              <a:schemeClr val="accent3"/>
            </a:solidFill>
            <a:prstDash val="solid"/>
          </a:ln>
        </p:spPr>
      </p:sp>
      <p:sp>
        <p:nvSpPr>
          <p:cNvPr id="5" name="Shape 3"/>
          <p:cNvSpPr/>
          <p:nvPr/>
        </p:nvSpPr>
        <p:spPr>
          <a:xfrm>
            <a:off x="731520" y="1645920"/>
            <a:ext cx="502920" cy="502920"/>
          </a:xfrm>
          <a:prstGeom prst="ellipse">
            <a:avLst/>
          </a:prstGeom>
          <a:solidFill>
            <a:schemeClr val="accent5"/>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62279" y="1776679"/>
            <a:ext cx="241402" cy="241402"/>
          </a:xfrm>
          <a:prstGeom prst="rect">
            <a:avLst/>
          </a:prstGeom>
        </p:spPr>
      </p:pic>
      <p:sp>
        <p:nvSpPr>
          <p:cNvPr id="7" name="Text 4"/>
          <p:cNvSpPr txBox="1"/>
          <p:nvPr/>
        </p:nvSpPr>
        <p:spPr>
          <a:xfrm>
            <a:off x="731520" y="2286000"/>
            <a:ext cx="2331720" cy="320040"/>
          </a:xfrm>
          <a:prstGeom prst="rect">
            <a:avLst/>
          </a:prstGeom>
          <a:noFill/>
          <a:ln/>
        </p:spPr>
        <p:txBody>
          <a:bodyPr wrap="square" lIns="0" tIns="0" rIns="0" bIns="0" rtlCol="0" anchor="t"/>
          <a:lstStyle/>
          <a:p>
            <a:pPr indent="0" marL="0">
              <a:buNone/>
            </a:pPr>
            <a:r>
              <a:rPr lang="en-US" sz="1400" b="1" dirty="0">
                <a:solidFill>
                  <a:schemeClr val="tx1"/>
                </a:solidFill>
              </a:rPr>
              <a:t>Authentication &amp; Access</a:t>
            </a:r>
            <a:endParaRPr lang="en-US" sz="1400" dirty="0"/>
          </a:p>
        </p:txBody>
      </p:sp>
      <p:sp>
        <p:nvSpPr>
          <p:cNvPr id="8" name="Text 5"/>
          <p:cNvSpPr txBox="1"/>
          <p:nvPr/>
        </p:nvSpPr>
        <p:spPr>
          <a:xfrm>
            <a:off x="731520" y="2651760"/>
            <a:ext cx="2331720" cy="822960"/>
          </a:xfrm>
          <a:prstGeom prst="rect">
            <a:avLst/>
          </a:prstGeom>
          <a:noFill/>
          <a:ln/>
        </p:spPr>
        <p:txBody>
          <a:bodyPr wrap="square" lIns="0" tIns="0" rIns="0" bIns="0" rtlCol="0" anchor="t"/>
          <a:lstStyle/>
          <a:p>
            <a:pPr indent="0" marL="0">
              <a:buNone/>
            </a:pPr>
            <a:r>
              <a:rPr lang="en-US" sz="1200" dirty="0">
                <a:solidFill>
                  <a:schemeClr val="tx2"/>
                </a:solidFill>
              </a:rPr>
              <a:t>Login/logout, password hashing, role-based authorisation</a:t>
            </a:r>
            <a:endParaRPr lang="en-US" sz="1200" dirty="0"/>
          </a:p>
        </p:txBody>
      </p:sp>
      <p:sp>
        <p:nvSpPr>
          <p:cNvPr id="9" name="Card 45"/>
          <p:cNvSpPr/>
          <p:nvPr/>
        </p:nvSpPr>
        <p:spPr>
          <a:xfrm>
            <a:off x="3364992" y="1463040"/>
            <a:ext cx="2679192" cy="2057400"/>
          </a:xfrm>
          <a:prstGeom prst="roundRect">
            <a:avLst>
              <a:gd name="adj" fmla="val 3556"/>
            </a:avLst>
          </a:prstGeom>
          <a:solidFill>
            <a:schemeClr val="bg2"/>
          </a:solidFill>
          <a:ln w="9525">
            <a:solidFill>
              <a:schemeClr val="accent3"/>
            </a:solidFill>
            <a:prstDash val="solid"/>
          </a:ln>
        </p:spPr>
      </p:sp>
      <p:sp>
        <p:nvSpPr>
          <p:cNvPr id="10" name="Shape 7"/>
          <p:cNvSpPr/>
          <p:nvPr/>
        </p:nvSpPr>
        <p:spPr>
          <a:xfrm>
            <a:off x="3547872" y="1645920"/>
            <a:ext cx="502920" cy="502920"/>
          </a:xfrm>
          <a:prstGeom prst="ellipse">
            <a:avLst/>
          </a:prstGeom>
          <a:solidFill>
            <a:schemeClr val="accent5"/>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678631" y="1776679"/>
            <a:ext cx="241402" cy="241402"/>
          </a:xfrm>
          <a:prstGeom prst="rect">
            <a:avLst/>
          </a:prstGeom>
        </p:spPr>
      </p:pic>
      <p:sp>
        <p:nvSpPr>
          <p:cNvPr id="12" name="Text 8"/>
          <p:cNvSpPr txBox="1"/>
          <p:nvPr/>
        </p:nvSpPr>
        <p:spPr>
          <a:xfrm>
            <a:off x="3547872" y="2286000"/>
            <a:ext cx="2331720" cy="320040"/>
          </a:xfrm>
          <a:prstGeom prst="rect">
            <a:avLst/>
          </a:prstGeom>
          <a:noFill/>
          <a:ln/>
        </p:spPr>
        <p:txBody>
          <a:bodyPr wrap="square" lIns="0" tIns="0" rIns="0" bIns="0" rtlCol="0" anchor="t"/>
          <a:lstStyle/>
          <a:p>
            <a:pPr indent="0" marL="0">
              <a:buNone/>
            </a:pPr>
            <a:r>
              <a:rPr lang="en-US" sz="1400" b="1" dirty="0">
                <a:solidFill>
                  <a:schemeClr val="tx1"/>
                </a:solidFill>
              </a:rPr>
              <a:t>Student Management</a:t>
            </a:r>
            <a:endParaRPr lang="en-US" sz="1400" dirty="0"/>
          </a:p>
        </p:txBody>
      </p:sp>
      <p:sp>
        <p:nvSpPr>
          <p:cNvPr id="13" name="Text 9"/>
          <p:cNvSpPr txBox="1"/>
          <p:nvPr/>
        </p:nvSpPr>
        <p:spPr>
          <a:xfrm>
            <a:off x="3547872" y="2651760"/>
            <a:ext cx="2331720" cy="822960"/>
          </a:xfrm>
          <a:prstGeom prst="rect">
            <a:avLst/>
          </a:prstGeom>
          <a:noFill/>
          <a:ln/>
        </p:spPr>
        <p:txBody>
          <a:bodyPr wrap="square" lIns="0" tIns="0" rIns="0" bIns="0" rtlCol="0" anchor="t"/>
          <a:lstStyle/>
          <a:p>
            <a:pPr indent="0" marL="0">
              <a:buNone/>
            </a:pPr>
            <a:r>
              <a:rPr lang="en-US" sz="1200" dirty="0">
                <a:solidFill>
                  <a:schemeClr val="tx2"/>
                </a:solidFill>
              </a:rPr>
              <a:t>Add, edit, delete, search; unique registration number</a:t>
            </a:r>
            <a:endParaRPr lang="en-US" sz="1200" dirty="0"/>
          </a:p>
        </p:txBody>
      </p:sp>
      <p:sp>
        <p:nvSpPr>
          <p:cNvPr id="14" name="Card 46"/>
          <p:cNvSpPr/>
          <p:nvPr/>
        </p:nvSpPr>
        <p:spPr>
          <a:xfrm>
            <a:off x="6181344" y="1463040"/>
            <a:ext cx="2679192" cy="2057400"/>
          </a:xfrm>
          <a:prstGeom prst="roundRect">
            <a:avLst>
              <a:gd name="adj" fmla="val 3556"/>
            </a:avLst>
          </a:prstGeom>
          <a:solidFill>
            <a:schemeClr val="bg2"/>
          </a:solidFill>
          <a:ln w="9525">
            <a:solidFill>
              <a:schemeClr val="accent3"/>
            </a:solidFill>
            <a:prstDash val="solid"/>
          </a:ln>
        </p:spPr>
      </p:sp>
      <p:sp>
        <p:nvSpPr>
          <p:cNvPr id="15" name="Shape 11"/>
          <p:cNvSpPr/>
          <p:nvPr/>
        </p:nvSpPr>
        <p:spPr>
          <a:xfrm>
            <a:off x="6364224" y="1645920"/>
            <a:ext cx="502920" cy="502920"/>
          </a:xfrm>
          <a:prstGeom prst="ellipse">
            <a:avLst/>
          </a:prstGeom>
          <a:solidFill>
            <a:schemeClr val="accent5"/>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494983" y="1776679"/>
            <a:ext cx="241402" cy="241402"/>
          </a:xfrm>
          <a:prstGeom prst="rect">
            <a:avLst/>
          </a:prstGeom>
        </p:spPr>
      </p:pic>
      <p:sp>
        <p:nvSpPr>
          <p:cNvPr id="17" name="Text 12"/>
          <p:cNvSpPr txBox="1"/>
          <p:nvPr/>
        </p:nvSpPr>
        <p:spPr>
          <a:xfrm>
            <a:off x="6364224" y="2286000"/>
            <a:ext cx="2331720" cy="320040"/>
          </a:xfrm>
          <a:prstGeom prst="rect">
            <a:avLst/>
          </a:prstGeom>
          <a:noFill/>
          <a:ln/>
        </p:spPr>
        <p:txBody>
          <a:bodyPr wrap="square" lIns="0" tIns="0" rIns="0" bIns="0" rtlCol="0" anchor="t"/>
          <a:lstStyle/>
          <a:p>
            <a:pPr indent="0" marL="0">
              <a:buNone/>
            </a:pPr>
            <a:r>
              <a:rPr lang="en-US" sz="1400" b="1" dirty="0">
                <a:solidFill>
                  <a:schemeClr val="tx1"/>
                </a:solidFill>
              </a:rPr>
              <a:t>Course &amp; Faculty</a:t>
            </a:r>
            <a:endParaRPr lang="en-US" sz="1400" dirty="0"/>
          </a:p>
        </p:txBody>
      </p:sp>
      <p:sp>
        <p:nvSpPr>
          <p:cNvPr id="18" name="Text 13"/>
          <p:cNvSpPr txBox="1"/>
          <p:nvPr/>
        </p:nvSpPr>
        <p:spPr>
          <a:xfrm>
            <a:off x="6364224" y="2651760"/>
            <a:ext cx="2331720" cy="822960"/>
          </a:xfrm>
          <a:prstGeom prst="rect">
            <a:avLst/>
          </a:prstGeom>
          <a:noFill/>
          <a:ln/>
        </p:spPr>
        <p:txBody>
          <a:bodyPr wrap="square" lIns="0" tIns="0" rIns="0" bIns="0" rtlCol="0" anchor="t"/>
          <a:lstStyle/>
          <a:p>
            <a:pPr indent="0" marL="0">
              <a:buNone/>
            </a:pPr>
            <a:r>
              <a:rPr lang="en-US" sz="1200" dirty="0">
                <a:solidFill>
                  <a:schemeClr val="tx2"/>
                </a:solidFill>
              </a:rPr>
              <a:t>Departments, courses, faculty; assign courses</a:t>
            </a:r>
            <a:endParaRPr lang="en-US" sz="1200" dirty="0"/>
          </a:p>
        </p:txBody>
      </p:sp>
      <p:sp>
        <p:nvSpPr>
          <p:cNvPr id="19" name="Card 47"/>
          <p:cNvSpPr/>
          <p:nvPr/>
        </p:nvSpPr>
        <p:spPr>
          <a:xfrm>
            <a:off x="8997696" y="1463040"/>
            <a:ext cx="2679192" cy="2057400"/>
          </a:xfrm>
          <a:prstGeom prst="roundRect">
            <a:avLst>
              <a:gd name="adj" fmla="val 3556"/>
            </a:avLst>
          </a:prstGeom>
          <a:solidFill>
            <a:schemeClr val="bg2"/>
          </a:solidFill>
          <a:ln w="9525">
            <a:solidFill>
              <a:schemeClr val="accent3"/>
            </a:solidFill>
            <a:prstDash val="solid"/>
          </a:ln>
        </p:spPr>
      </p:sp>
      <p:sp>
        <p:nvSpPr>
          <p:cNvPr id="20" name="Shape 15"/>
          <p:cNvSpPr/>
          <p:nvPr/>
        </p:nvSpPr>
        <p:spPr>
          <a:xfrm>
            <a:off x="9180576" y="1645920"/>
            <a:ext cx="502920" cy="502920"/>
          </a:xfrm>
          <a:prstGeom prst="ellipse">
            <a:avLst/>
          </a:prstGeom>
          <a:solidFill>
            <a:schemeClr val="accent5"/>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9311335" y="1776679"/>
            <a:ext cx="241402" cy="241402"/>
          </a:xfrm>
          <a:prstGeom prst="rect">
            <a:avLst/>
          </a:prstGeom>
        </p:spPr>
      </p:pic>
      <p:sp>
        <p:nvSpPr>
          <p:cNvPr id="22" name="Text 16"/>
          <p:cNvSpPr txBox="1"/>
          <p:nvPr/>
        </p:nvSpPr>
        <p:spPr>
          <a:xfrm>
            <a:off x="9180576" y="2286000"/>
            <a:ext cx="2331720" cy="320040"/>
          </a:xfrm>
          <a:prstGeom prst="rect">
            <a:avLst/>
          </a:prstGeom>
          <a:noFill/>
          <a:ln/>
        </p:spPr>
        <p:txBody>
          <a:bodyPr wrap="square" lIns="0" tIns="0" rIns="0" bIns="0" rtlCol="0" anchor="t"/>
          <a:lstStyle/>
          <a:p>
            <a:pPr indent="0" marL="0">
              <a:buNone/>
            </a:pPr>
            <a:r>
              <a:rPr lang="en-US" sz="1400" b="1" dirty="0">
                <a:solidFill>
                  <a:schemeClr val="tx1"/>
                </a:solidFill>
              </a:rPr>
              <a:t>Enrolment</a:t>
            </a:r>
            <a:endParaRPr lang="en-US" sz="1400" dirty="0"/>
          </a:p>
        </p:txBody>
      </p:sp>
      <p:sp>
        <p:nvSpPr>
          <p:cNvPr id="23" name="Text 17"/>
          <p:cNvSpPr txBox="1"/>
          <p:nvPr/>
        </p:nvSpPr>
        <p:spPr>
          <a:xfrm>
            <a:off x="9180576" y="2651760"/>
            <a:ext cx="2331720" cy="822960"/>
          </a:xfrm>
          <a:prstGeom prst="rect">
            <a:avLst/>
          </a:prstGeom>
          <a:noFill/>
          <a:ln/>
        </p:spPr>
        <p:txBody>
          <a:bodyPr wrap="square" lIns="0" tIns="0" rIns="0" bIns="0" rtlCol="0" anchor="t"/>
          <a:lstStyle/>
          <a:p>
            <a:pPr indent="0" marL="0">
              <a:buNone/>
            </a:pPr>
            <a:r>
              <a:rPr lang="en-US" sz="1200" dirty="0">
                <a:solidFill>
                  <a:schemeClr val="tx2"/>
                </a:solidFill>
              </a:rPr>
              <a:t>Duplicate and seat-capacity checks</a:t>
            </a:r>
            <a:endParaRPr lang="en-US" sz="1200" dirty="0"/>
          </a:p>
        </p:txBody>
      </p:sp>
      <p:sp>
        <p:nvSpPr>
          <p:cNvPr id="24" name="Card 48"/>
          <p:cNvSpPr/>
          <p:nvPr/>
        </p:nvSpPr>
        <p:spPr>
          <a:xfrm>
            <a:off x="548640" y="3703320"/>
            <a:ext cx="2679192" cy="2057400"/>
          </a:xfrm>
          <a:prstGeom prst="roundRect">
            <a:avLst>
              <a:gd name="adj" fmla="val 3556"/>
            </a:avLst>
          </a:prstGeom>
          <a:solidFill>
            <a:schemeClr val="bg2"/>
          </a:solidFill>
          <a:ln w="9525">
            <a:solidFill>
              <a:schemeClr val="accent3"/>
            </a:solidFill>
            <a:prstDash val="solid"/>
          </a:ln>
        </p:spPr>
      </p:sp>
      <p:sp>
        <p:nvSpPr>
          <p:cNvPr id="25" name="Shape 19"/>
          <p:cNvSpPr/>
          <p:nvPr/>
        </p:nvSpPr>
        <p:spPr>
          <a:xfrm>
            <a:off x="731520" y="3886200"/>
            <a:ext cx="502920" cy="502920"/>
          </a:xfrm>
          <a:prstGeom prst="ellipse">
            <a:avLst/>
          </a:prstGeom>
          <a:solidFill>
            <a:schemeClr val="accent5"/>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862279" y="4016959"/>
            <a:ext cx="241402" cy="241402"/>
          </a:xfrm>
          <a:prstGeom prst="rect">
            <a:avLst/>
          </a:prstGeom>
        </p:spPr>
      </p:pic>
      <p:sp>
        <p:nvSpPr>
          <p:cNvPr id="27" name="Text 20"/>
          <p:cNvSpPr txBox="1"/>
          <p:nvPr/>
        </p:nvSpPr>
        <p:spPr>
          <a:xfrm>
            <a:off x="731520" y="4526280"/>
            <a:ext cx="2331720" cy="320040"/>
          </a:xfrm>
          <a:prstGeom prst="rect">
            <a:avLst/>
          </a:prstGeom>
          <a:noFill/>
          <a:ln/>
        </p:spPr>
        <p:txBody>
          <a:bodyPr wrap="square" lIns="0" tIns="0" rIns="0" bIns="0" rtlCol="0" anchor="t"/>
          <a:lstStyle/>
          <a:p>
            <a:pPr indent="0" marL="0">
              <a:buNone/>
            </a:pPr>
            <a:r>
              <a:rPr lang="en-US" sz="1400" b="1" dirty="0">
                <a:solidFill>
                  <a:schemeClr val="tx1"/>
                </a:solidFill>
              </a:rPr>
              <a:t>Attendance</a:t>
            </a:r>
            <a:endParaRPr lang="en-US" sz="1400" dirty="0"/>
          </a:p>
        </p:txBody>
      </p:sp>
      <p:sp>
        <p:nvSpPr>
          <p:cNvPr id="28" name="Text 21"/>
          <p:cNvSpPr txBox="1"/>
          <p:nvPr/>
        </p:nvSpPr>
        <p:spPr>
          <a:xfrm>
            <a:off x="731520" y="4892040"/>
            <a:ext cx="2331720" cy="822960"/>
          </a:xfrm>
          <a:prstGeom prst="rect">
            <a:avLst/>
          </a:prstGeom>
          <a:noFill/>
          <a:ln/>
        </p:spPr>
        <p:txBody>
          <a:bodyPr wrap="square" lIns="0" tIns="0" rIns="0" bIns="0" rtlCol="0" anchor="t"/>
          <a:lstStyle/>
          <a:p>
            <a:pPr indent="0" marL="0">
              <a:buNone/>
            </a:pPr>
            <a:r>
              <a:rPr lang="en-US" sz="1200" dirty="0">
                <a:solidFill>
                  <a:schemeClr val="tx2"/>
                </a:solidFill>
              </a:rPr>
              <a:t>Session-wise entry; automatic percentage</a:t>
            </a:r>
            <a:endParaRPr lang="en-US" sz="1200" dirty="0"/>
          </a:p>
        </p:txBody>
      </p:sp>
      <p:sp>
        <p:nvSpPr>
          <p:cNvPr id="29" name="Card 49"/>
          <p:cNvSpPr/>
          <p:nvPr/>
        </p:nvSpPr>
        <p:spPr>
          <a:xfrm>
            <a:off x="3364992" y="3703320"/>
            <a:ext cx="2679192" cy="2057400"/>
          </a:xfrm>
          <a:prstGeom prst="roundRect">
            <a:avLst>
              <a:gd name="adj" fmla="val 3556"/>
            </a:avLst>
          </a:prstGeom>
          <a:solidFill>
            <a:schemeClr val="bg2"/>
          </a:solidFill>
          <a:ln w="9525">
            <a:solidFill>
              <a:schemeClr val="accent3"/>
            </a:solidFill>
            <a:prstDash val="solid"/>
          </a:ln>
        </p:spPr>
      </p:sp>
      <p:sp>
        <p:nvSpPr>
          <p:cNvPr id="30" name="Shape 23"/>
          <p:cNvSpPr/>
          <p:nvPr/>
        </p:nvSpPr>
        <p:spPr>
          <a:xfrm>
            <a:off x="3547872" y="3886200"/>
            <a:ext cx="502920" cy="502920"/>
          </a:xfrm>
          <a:prstGeom prst="ellipse">
            <a:avLst/>
          </a:prstGeom>
          <a:solidFill>
            <a:schemeClr val="accent5"/>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3678631" y="4016959"/>
            <a:ext cx="241402" cy="241402"/>
          </a:xfrm>
          <a:prstGeom prst="rect">
            <a:avLst/>
          </a:prstGeom>
        </p:spPr>
      </p:pic>
      <p:sp>
        <p:nvSpPr>
          <p:cNvPr id="32" name="Text 24"/>
          <p:cNvSpPr txBox="1"/>
          <p:nvPr/>
        </p:nvSpPr>
        <p:spPr>
          <a:xfrm>
            <a:off x="3547872" y="4526280"/>
            <a:ext cx="2331720" cy="320040"/>
          </a:xfrm>
          <a:prstGeom prst="rect">
            <a:avLst/>
          </a:prstGeom>
          <a:noFill/>
          <a:ln/>
        </p:spPr>
        <p:txBody>
          <a:bodyPr wrap="square" lIns="0" tIns="0" rIns="0" bIns="0" rtlCol="0" anchor="t"/>
          <a:lstStyle/>
          <a:p>
            <a:pPr indent="0" marL="0">
              <a:buNone/>
            </a:pPr>
            <a:r>
              <a:rPr lang="en-US" sz="1400" b="1" dirty="0">
                <a:solidFill>
                  <a:schemeClr val="tx1"/>
                </a:solidFill>
              </a:rPr>
              <a:t>Marks &amp; Results</a:t>
            </a:r>
            <a:endParaRPr lang="en-US" sz="1400" dirty="0"/>
          </a:p>
        </p:txBody>
      </p:sp>
      <p:sp>
        <p:nvSpPr>
          <p:cNvPr id="33" name="Text 25"/>
          <p:cNvSpPr txBox="1"/>
          <p:nvPr/>
        </p:nvSpPr>
        <p:spPr>
          <a:xfrm>
            <a:off x="3547872" y="4892040"/>
            <a:ext cx="2331720" cy="822960"/>
          </a:xfrm>
          <a:prstGeom prst="rect">
            <a:avLst/>
          </a:prstGeom>
          <a:noFill/>
          <a:ln/>
        </p:spPr>
        <p:txBody>
          <a:bodyPr wrap="square" lIns="0" tIns="0" rIns="0" bIns="0" rtlCol="0" anchor="t"/>
          <a:lstStyle/>
          <a:p>
            <a:pPr indent="0" marL="0">
              <a:buNone/>
            </a:pPr>
            <a:r>
              <a:rPr lang="en-US" sz="1200" dirty="0">
                <a:solidFill>
                  <a:schemeClr val="tx2"/>
                </a:solidFill>
              </a:rPr>
              <a:t>Marks entry; total, grade, pass/fail</a:t>
            </a:r>
            <a:endParaRPr lang="en-US" sz="1200" dirty="0"/>
          </a:p>
        </p:txBody>
      </p:sp>
      <p:sp>
        <p:nvSpPr>
          <p:cNvPr id="34" name="Card 50"/>
          <p:cNvSpPr/>
          <p:nvPr/>
        </p:nvSpPr>
        <p:spPr>
          <a:xfrm>
            <a:off x="6181344" y="3703320"/>
            <a:ext cx="2679192" cy="2057400"/>
          </a:xfrm>
          <a:prstGeom prst="roundRect">
            <a:avLst>
              <a:gd name="adj" fmla="val 3556"/>
            </a:avLst>
          </a:prstGeom>
          <a:solidFill>
            <a:schemeClr val="bg2"/>
          </a:solidFill>
          <a:ln w="9525">
            <a:solidFill>
              <a:schemeClr val="accent3"/>
            </a:solidFill>
            <a:prstDash val="solid"/>
          </a:ln>
        </p:spPr>
      </p:sp>
      <p:sp>
        <p:nvSpPr>
          <p:cNvPr id="35" name="Shape 27"/>
          <p:cNvSpPr/>
          <p:nvPr/>
        </p:nvSpPr>
        <p:spPr>
          <a:xfrm>
            <a:off x="6364224" y="3886200"/>
            <a:ext cx="502920" cy="502920"/>
          </a:xfrm>
          <a:prstGeom prst="ellipse">
            <a:avLst/>
          </a:prstGeom>
          <a:solidFill>
            <a:schemeClr val="accent5"/>
          </a:solidFill>
          <a:ln w="12700">
            <a:solidFill>
              <a:schemeClr val="accent1"/>
            </a:solidFill>
            <a:prstDash val="solid"/>
          </a:ln>
        </p:spPr>
      </p:sp>
      <p:pic>
        <p:nvPicPr>
          <p:cNvPr id="36" name="Image 6" descr="preencoded.png">    </p:cNvPr>
          <p:cNvPicPr>
            <a:picLocks noChangeAspect="1"/>
          </p:cNvPicPr>
          <p:nvPr/>
        </p:nvPicPr>
        <p:blipFill>
          <a:blip r:embed="rId7"/>
          <a:stretch>
            <a:fillRect/>
          </a:stretch>
        </p:blipFill>
        <p:spPr>
          <a:xfrm>
            <a:off x="6494983" y="4016959"/>
            <a:ext cx="241402" cy="241402"/>
          </a:xfrm>
          <a:prstGeom prst="rect">
            <a:avLst/>
          </a:prstGeom>
        </p:spPr>
      </p:pic>
      <p:sp>
        <p:nvSpPr>
          <p:cNvPr id="37" name="Text 28"/>
          <p:cNvSpPr txBox="1"/>
          <p:nvPr/>
        </p:nvSpPr>
        <p:spPr>
          <a:xfrm>
            <a:off x="6364224" y="4526280"/>
            <a:ext cx="2331720" cy="320040"/>
          </a:xfrm>
          <a:prstGeom prst="rect">
            <a:avLst/>
          </a:prstGeom>
          <a:noFill/>
          <a:ln/>
        </p:spPr>
        <p:txBody>
          <a:bodyPr wrap="square" lIns="0" tIns="0" rIns="0" bIns="0" rtlCol="0" anchor="t"/>
          <a:lstStyle/>
          <a:p>
            <a:pPr indent="0" marL="0">
              <a:buNone/>
            </a:pPr>
            <a:r>
              <a:rPr lang="en-US" sz="1400" b="1" dirty="0">
                <a:solidFill>
                  <a:schemeClr val="tx1"/>
                </a:solidFill>
              </a:rPr>
              <a:t>Reports</a:t>
            </a:r>
            <a:endParaRPr lang="en-US" sz="1400" dirty="0"/>
          </a:p>
        </p:txBody>
      </p:sp>
      <p:sp>
        <p:nvSpPr>
          <p:cNvPr id="38" name="Text 29"/>
          <p:cNvSpPr txBox="1"/>
          <p:nvPr/>
        </p:nvSpPr>
        <p:spPr>
          <a:xfrm>
            <a:off x="6364224" y="4892040"/>
            <a:ext cx="2331720" cy="822960"/>
          </a:xfrm>
          <a:prstGeom prst="rect">
            <a:avLst/>
          </a:prstGeom>
          <a:noFill/>
          <a:ln/>
        </p:spPr>
        <p:txBody>
          <a:bodyPr wrap="square" lIns="0" tIns="0" rIns="0" bIns="0" rtlCol="0" anchor="t"/>
          <a:lstStyle/>
          <a:p>
            <a:pPr indent="0" marL="0">
              <a:buNone/>
            </a:pPr>
            <a:r>
              <a:rPr lang="en-US" sz="1200" dirty="0">
                <a:solidFill>
                  <a:schemeClr val="tx2"/>
                </a:solidFill>
              </a:rPr>
              <a:t>Attendance, result and enrolment reports</a:t>
            </a:r>
            <a:endParaRPr lang="en-US" sz="1200" dirty="0"/>
          </a:p>
        </p:txBody>
      </p:sp>
      <p:sp>
        <p:nvSpPr>
          <p:cNvPr id="39" name="Card 51"/>
          <p:cNvSpPr/>
          <p:nvPr/>
        </p:nvSpPr>
        <p:spPr>
          <a:xfrm>
            <a:off x="8997696" y="3703320"/>
            <a:ext cx="2679192" cy="2057400"/>
          </a:xfrm>
          <a:prstGeom prst="roundRect">
            <a:avLst>
              <a:gd name="adj" fmla="val 3556"/>
            </a:avLst>
          </a:prstGeom>
          <a:solidFill>
            <a:schemeClr val="accent5"/>
          </a:solidFill>
          <a:ln w="9525">
            <a:solidFill>
              <a:schemeClr val="accent4"/>
            </a:solidFill>
            <a:prstDash val="solid"/>
          </a:ln>
        </p:spPr>
      </p:sp>
      <p:sp>
        <p:nvSpPr>
          <p:cNvPr id="40" name="Shape 31"/>
          <p:cNvSpPr/>
          <p:nvPr/>
        </p:nvSpPr>
        <p:spPr>
          <a:xfrm>
            <a:off x="9180576" y="3886200"/>
            <a:ext cx="502920" cy="502920"/>
          </a:xfrm>
          <a:prstGeom prst="ellipse">
            <a:avLst/>
          </a:prstGeom>
          <a:solidFill>
            <a:schemeClr val="accent5"/>
          </a:solidFill>
          <a:ln w="12700">
            <a:solidFill>
              <a:schemeClr val="accent1"/>
            </a:solidFill>
            <a:prstDash val="solid"/>
          </a:ln>
        </p:spPr>
      </p:sp>
      <p:pic>
        <p:nvPicPr>
          <p:cNvPr id="41" name="Image 7" descr="preencoded.png">    </p:cNvPr>
          <p:cNvPicPr>
            <a:picLocks noChangeAspect="1"/>
          </p:cNvPicPr>
          <p:nvPr/>
        </p:nvPicPr>
        <p:blipFill>
          <a:blip r:embed="rId8"/>
          <a:stretch>
            <a:fillRect/>
          </a:stretch>
        </p:blipFill>
        <p:spPr>
          <a:xfrm>
            <a:off x="9311335" y="4016959"/>
            <a:ext cx="241402" cy="241402"/>
          </a:xfrm>
          <a:prstGeom prst="rect">
            <a:avLst/>
          </a:prstGeom>
        </p:spPr>
      </p:pic>
      <p:sp>
        <p:nvSpPr>
          <p:cNvPr id="42" name="Text 32"/>
          <p:cNvSpPr txBox="1"/>
          <p:nvPr/>
        </p:nvSpPr>
        <p:spPr>
          <a:xfrm>
            <a:off x="9180576" y="4526280"/>
            <a:ext cx="2331720" cy="320040"/>
          </a:xfrm>
          <a:prstGeom prst="rect">
            <a:avLst/>
          </a:prstGeom>
          <a:noFill/>
          <a:ln/>
        </p:spPr>
        <p:txBody>
          <a:bodyPr wrap="square" lIns="0" tIns="0" rIns="0" bIns="0" rtlCol="0" anchor="t"/>
          <a:lstStyle/>
          <a:p>
            <a:pPr indent="0" marL="0">
              <a:buNone/>
            </a:pPr>
            <a:r>
              <a:rPr lang="en-US" sz="1400" b="1" dirty="0">
                <a:solidFill>
                  <a:schemeClr val="accent4"/>
                </a:solidFill>
              </a:rPr>
              <a:t>Status</a:t>
            </a:r>
            <a:endParaRPr lang="en-US" sz="1400" dirty="0"/>
          </a:p>
        </p:txBody>
      </p:sp>
      <p:sp>
        <p:nvSpPr>
          <p:cNvPr id="43" name="Text 33"/>
          <p:cNvSpPr txBox="1"/>
          <p:nvPr/>
        </p:nvSpPr>
        <p:spPr>
          <a:xfrm>
            <a:off x="9180576" y="4892040"/>
            <a:ext cx="2331720" cy="822960"/>
          </a:xfrm>
          <a:prstGeom prst="rect">
            <a:avLst/>
          </a:prstGeom>
          <a:noFill/>
          <a:ln/>
        </p:spPr>
        <p:txBody>
          <a:bodyPr wrap="square" lIns="0" tIns="0" rIns="0" bIns="0" rtlCol="0" anchor="t"/>
          <a:lstStyle/>
          <a:p>
            <a:pPr indent="0" marL="0">
              <a:buNone/>
            </a:pPr>
            <a:r>
              <a:rPr lang="en-US" sz="1200" dirty="0">
                <a:solidFill>
                  <a:schemeClr val="tx1"/>
                </a:solidFill>
              </a:rPr>
              <a:t>Modules are presented as the designed functionality from the report, not as a live demo.</a:t>
            </a:r>
            <a:endParaRPr lang="en-US" sz="12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System Workflow</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11  WORKFLOW</a:t>
            </a:r>
            <a:endParaRPr lang="en-US" sz="1100" dirty="0"/>
          </a:p>
        </p:txBody>
      </p:sp>
      <p:sp>
        <p:nvSpPr>
          <p:cNvPr id="4" name="Shape 2"/>
          <p:cNvSpPr/>
          <p:nvPr/>
        </p:nvSpPr>
        <p:spPr>
          <a:xfrm>
            <a:off x="1097280" y="1325880"/>
            <a:ext cx="3108960" cy="411480"/>
          </a:xfrm>
          <a:prstGeom prst="roundRect">
            <a:avLst>
              <a:gd name="adj" fmla="val 17778"/>
            </a:avLst>
          </a:prstGeom>
          <a:solidFill>
            <a:schemeClr val="accent5"/>
          </a:solidFill>
          <a:ln w="12700">
            <a:solidFill>
              <a:schemeClr val="accent1"/>
            </a:solidFill>
            <a:prstDash val="solid"/>
          </a:ln>
        </p:spPr>
      </p:sp>
      <p:sp>
        <p:nvSpPr>
          <p:cNvPr id="5" name="Text 3"/>
          <p:cNvSpPr txBox="1"/>
          <p:nvPr/>
        </p:nvSpPr>
        <p:spPr>
          <a:xfrm>
            <a:off x="1170432" y="1325880"/>
            <a:ext cx="2962656" cy="411480"/>
          </a:xfrm>
          <a:prstGeom prst="rect">
            <a:avLst/>
          </a:prstGeom>
          <a:noFill/>
          <a:ln/>
        </p:spPr>
        <p:txBody>
          <a:bodyPr wrap="square" lIns="0" tIns="0" rIns="0" bIns="0" rtlCol="0" anchor="ctr"/>
          <a:lstStyle/>
          <a:p>
            <a:pPr algn="ctr" indent="0" marL="0">
              <a:buNone/>
            </a:pPr>
            <a:r>
              <a:rPr lang="en-US" sz="1200" b="1" dirty="0">
                <a:solidFill>
                  <a:schemeClr val="tx1"/>
                </a:solidFill>
              </a:rPr>
              <a:t>Faculty selects course and class</a:t>
            </a:r>
            <a:endParaRPr lang="en-US" sz="1400" dirty="0"/>
          </a:p>
        </p:txBody>
      </p:sp>
      <p:sp>
        <p:nvSpPr>
          <p:cNvPr id="6" name="Shape 4"/>
          <p:cNvSpPr/>
          <p:nvPr/>
        </p:nvSpPr>
        <p:spPr>
          <a:xfrm>
            <a:off x="1097280" y="1874520"/>
            <a:ext cx="3108960" cy="411480"/>
          </a:xfrm>
          <a:prstGeom prst="roundRect">
            <a:avLst>
              <a:gd name="adj" fmla="val 17778"/>
            </a:avLst>
          </a:prstGeom>
          <a:solidFill>
            <a:schemeClr val="accent5"/>
          </a:solidFill>
          <a:ln w="12700">
            <a:solidFill>
              <a:schemeClr val="accent1"/>
            </a:solidFill>
            <a:prstDash val="solid"/>
          </a:ln>
        </p:spPr>
      </p:sp>
      <p:sp>
        <p:nvSpPr>
          <p:cNvPr id="7" name="Text 5"/>
          <p:cNvSpPr txBox="1"/>
          <p:nvPr/>
        </p:nvSpPr>
        <p:spPr>
          <a:xfrm>
            <a:off x="1170432" y="1874520"/>
            <a:ext cx="2962656" cy="411480"/>
          </a:xfrm>
          <a:prstGeom prst="rect">
            <a:avLst/>
          </a:prstGeom>
          <a:noFill/>
          <a:ln/>
        </p:spPr>
        <p:txBody>
          <a:bodyPr wrap="square" lIns="0" tIns="0" rIns="0" bIns="0" rtlCol="0" anchor="ctr"/>
          <a:lstStyle/>
          <a:p>
            <a:pPr algn="ctr" indent="0" marL="0">
              <a:buNone/>
            </a:pPr>
            <a:r>
              <a:rPr lang="en-US" sz="1200" b="1" dirty="0">
                <a:solidFill>
                  <a:schemeClr val="tx1"/>
                </a:solidFill>
              </a:rPr>
              <a:t>Mark attendance for the session</a:t>
            </a:r>
            <a:endParaRPr lang="en-US" sz="1400" dirty="0"/>
          </a:p>
        </p:txBody>
      </p:sp>
      <p:sp>
        <p:nvSpPr>
          <p:cNvPr id="8" name="Shape 6"/>
          <p:cNvSpPr/>
          <p:nvPr/>
        </p:nvSpPr>
        <p:spPr>
          <a:xfrm>
            <a:off x="1097280" y="2423160"/>
            <a:ext cx="3108960" cy="411480"/>
          </a:xfrm>
          <a:prstGeom prst="roundRect">
            <a:avLst>
              <a:gd name="adj" fmla="val 17778"/>
            </a:avLst>
          </a:prstGeom>
          <a:solidFill>
            <a:schemeClr val="accent5"/>
          </a:solidFill>
          <a:ln w="12700">
            <a:solidFill>
              <a:schemeClr val="accent1"/>
            </a:solidFill>
            <a:prstDash val="solid"/>
          </a:ln>
        </p:spPr>
      </p:sp>
      <p:sp>
        <p:nvSpPr>
          <p:cNvPr id="9" name="Text 7"/>
          <p:cNvSpPr txBox="1"/>
          <p:nvPr/>
        </p:nvSpPr>
        <p:spPr>
          <a:xfrm>
            <a:off x="1170432" y="2423160"/>
            <a:ext cx="2962656" cy="411480"/>
          </a:xfrm>
          <a:prstGeom prst="rect">
            <a:avLst/>
          </a:prstGeom>
          <a:noFill/>
          <a:ln/>
        </p:spPr>
        <p:txBody>
          <a:bodyPr wrap="square" lIns="0" tIns="0" rIns="0" bIns="0" rtlCol="0" anchor="ctr"/>
          <a:lstStyle/>
          <a:p>
            <a:pPr algn="ctr" indent="0" marL="0">
              <a:buNone/>
            </a:pPr>
            <a:r>
              <a:rPr lang="en-US" sz="1200" b="1" dirty="0">
                <a:solidFill>
                  <a:schemeClr val="tx1"/>
                </a:solidFill>
              </a:rPr>
              <a:t>Enter marks for the assessment</a:t>
            </a:r>
            <a:endParaRPr lang="en-US" sz="1400" dirty="0"/>
          </a:p>
        </p:txBody>
      </p:sp>
      <p:sp>
        <p:nvSpPr>
          <p:cNvPr id="10" name="Shape 8"/>
          <p:cNvSpPr/>
          <p:nvPr/>
        </p:nvSpPr>
        <p:spPr>
          <a:xfrm>
            <a:off x="2651760" y="1737360"/>
            <a:ext cx="0" cy="137160"/>
          </a:xfrm>
          <a:prstGeom prst="line">
            <a:avLst/>
          </a:prstGeom>
          <a:noFill/>
          <a:ln w="19050">
            <a:solidFill>
              <a:schemeClr val="accent1"/>
            </a:solidFill>
            <a:prstDash val="solid"/>
            <a:tailEnd type="triangle"/>
          </a:ln>
        </p:spPr>
      </p:sp>
      <p:sp>
        <p:nvSpPr>
          <p:cNvPr id="11" name="Shape 9"/>
          <p:cNvSpPr/>
          <p:nvPr/>
        </p:nvSpPr>
        <p:spPr>
          <a:xfrm>
            <a:off x="2651760" y="2286000"/>
            <a:ext cx="0" cy="137160"/>
          </a:xfrm>
          <a:prstGeom prst="line">
            <a:avLst/>
          </a:prstGeom>
          <a:noFill/>
          <a:ln w="19050">
            <a:solidFill>
              <a:schemeClr val="accent1"/>
            </a:solidFill>
            <a:prstDash val="solid"/>
            <a:tailEnd type="triangle"/>
          </a:ln>
        </p:spPr>
      </p:sp>
      <p:sp>
        <p:nvSpPr>
          <p:cNvPr id="12" name="Shape 10"/>
          <p:cNvSpPr/>
          <p:nvPr/>
        </p:nvSpPr>
        <p:spPr>
          <a:xfrm>
            <a:off x="914400" y="3017520"/>
            <a:ext cx="3474720" cy="777240"/>
          </a:xfrm>
          <a:prstGeom prst="diamond">
            <a:avLst/>
          </a:prstGeom>
          <a:solidFill>
            <a:schemeClr val="bg2"/>
          </a:solidFill>
          <a:ln w="15875">
            <a:solidFill>
              <a:schemeClr val="accent4"/>
            </a:solidFill>
            <a:prstDash val="solid"/>
          </a:ln>
        </p:spPr>
      </p:sp>
      <p:sp>
        <p:nvSpPr>
          <p:cNvPr id="13" name="Text 11"/>
          <p:cNvSpPr txBox="1"/>
          <p:nvPr/>
        </p:nvSpPr>
        <p:spPr>
          <a:xfrm>
            <a:off x="1097280" y="3017520"/>
            <a:ext cx="3108960" cy="777240"/>
          </a:xfrm>
          <a:prstGeom prst="rect">
            <a:avLst/>
          </a:prstGeom>
          <a:noFill/>
          <a:ln/>
        </p:spPr>
        <p:txBody>
          <a:bodyPr wrap="square" lIns="0" tIns="0" rIns="0" bIns="0" rtlCol="0" anchor="ctr"/>
          <a:lstStyle/>
          <a:p>
            <a:pPr algn="ctr" indent="0" marL="0">
              <a:buNone/>
            </a:pPr>
            <a:r>
              <a:rPr lang="en-US" sz="1100" b="1" dirty="0">
                <a:solidFill>
                  <a:schemeClr val="tx1"/>
                </a:solidFill>
              </a:rPr>
              <a:t>Marks within valid range?</a:t>
            </a:r>
            <a:endParaRPr lang="en-US" sz="1100" dirty="0"/>
          </a:p>
        </p:txBody>
      </p:sp>
      <p:sp>
        <p:nvSpPr>
          <p:cNvPr id="14" name="Shape 12"/>
          <p:cNvSpPr/>
          <p:nvPr/>
        </p:nvSpPr>
        <p:spPr>
          <a:xfrm>
            <a:off x="2651760" y="2834640"/>
            <a:ext cx="0" cy="182880"/>
          </a:xfrm>
          <a:prstGeom prst="line">
            <a:avLst/>
          </a:prstGeom>
          <a:noFill/>
          <a:ln w="19050">
            <a:solidFill>
              <a:schemeClr val="accent1"/>
            </a:solidFill>
            <a:prstDash val="solid"/>
            <a:tailEnd type="triangle"/>
          </a:ln>
        </p:spPr>
      </p:sp>
      <p:sp>
        <p:nvSpPr>
          <p:cNvPr id="15" name="Shape 13"/>
          <p:cNvSpPr/>
          <p:nvPr/>
        </p:nvSpPr>
        <p:spPr>
          <a:xfrm>
            <a:off x="4892040" y="3200400"/>
            <a:ext cx="2103120" cy="411480"/>
          </a:xfrm>
          <a:prstGeom prst="roundRect">
            <a:avLst>
              <a:gd name="adj" fmla="val 17778"/>
            </a:avLst>
          </a:prstGeom>
          <a:solidFill>
            <a:schemeClr val="accent5"/>
          </a:solidFill>
          <a:ln w="12700">
            <a:solidFill>
              <a:schemeClr val="accent4"/>
            </a:solidFill>
            <a:prstDash val="solid"/>
          </a:ln>
        </p:spPr>
      </p:sp>
      <p:sp>
        <p:nvSpPr>
          <p:cNvPr id="16" name="Text 14"/>
          <p:cNvSpPr txBox="1"/>
          <p:nvPr/>
        </p:nvSpPr>
        <p:spPr>
          <a:xfrm>
            <a:off x="4965192" y="3200400"/>
            <a:ext cx="1956816" cy="411480"/>
          </a:xfrm>
          <a:prstGeom prst="rect">
            <a:avLst/>
          </a:prstGeom>
          <a:noFill/>
          <a:ln/>
        </p:spPr>
        <p:txBody>
          <a:bodyPr wrap="square" lIns="0" tIns="0" rIns="0" bIns="0" rtlCol="0" anchor="ctr"/>
          <a:lstStyle/>
          <a:p>
            <a:pPr algn="ctr" indent="0" marL="0">
              <a:buNone/>
            </a:pPr>
            <a:r>
              <a:rPr lang="en-US" sz="1100" b="1" dirty="0">
                <a:solidFill>
                  <a:schemeClr val="tx1"/>
                </a:solidFill>
              </a:rPr>
              <a:t>Reject entry, show message</a:t>
            </a:r>
            <a:endParaRPr lang="en-US" sz="1400" dirty="0"/>
          </a:p>
        </p:txBody>
      </p:sp>
      <p:sp>
        <p:nvSpPr>
          <p:cNvPr id="17" name="Shape 15"/>
          <p:cNvSpPr/>
          <p:nvPr/>
        </p:nvSpPr>
        <p:spPr>
          <a:xfrm>
            <a:off x="4389120" y="3406140"/>
            <a:ext cx="502920" cy="0"/>
          </a:xfrm>
          <a:prstGeom prst="line">
            <a:avLst/>
          </a:prstGeom>
          <a:noFill/>
          <a:ln w="19050">
            <a:solidFill>
              <a:schemeClr val="accent4"/>
            </a:solidFill>
            <a:prstDash val="solid"/>
            <a:tailEnd type="triangle"/>
          </a:ln>
        </p:spPr>
      </p:sp>
      <p:sp>
        <p:nvSpPr>
          <p:cNvPr id="18" name="Text 16"/>
          <p:cNvSpPr txBox="1"/>
          <p:nvPr/>
        </p:nvSpPr>
        <p:spPr>
          <a:xfrm>
            <a:off x="4434840" y="3154680"/>
            <a:ext cx="365760" cy="201168"/>
          </a:xfrm>
          <a:prstGeom prst="rect">
            <a:avLst/>
          </a:prstGeom>
          <a:noFill/>
          <a:ln/>
        </p:spPr>
        <p:txBody>
          <a:bodyPr wrap="square" lIns="0" tIns="0" rIns="0" bIns="0" rtlCol="0" anchor="t"/>
          <a:lstStyle/>
          <a:p>
            <a:pPr indent="0" marL="0">
              <a:buNone/>
            </a:pPr>
            <a:r>
              <a:rPr lang="en-US" sz="1000" b="1" dirty="0">
                <a:solidFill>
                  <a:schemeClr val="accent4"/>
                </a:solidFill>
              </a:rPr>
              <a:t>No</a:t>
            </a:r>
            <a:endParaRPr lang="en-US" sz="1000" dirty="0"/>
          </a:p>
        </p:txBody>
      </p:sp>
      <p:sp>
        <p:nvSpPr>
          <p:cNvPr id="19" name="Shape 17"/>
          <p:cNvSpPr/>
          <p:nvPr/>
        </p:nvSpPr>
        <p:spPr>
          <a:xfrm flipV="1">
            <a:off x="5943600" y="2628900"/>
            <a:ext cx="0" cy="571500"/>
          </a:xfrm>
          <a:prstGeom prst="line">
            <a:avLst/>
          </a:prstGeom>
          <a:noFill/>
          <a:ln w="15875">
            <a:solidFill>
              <a:schemeClr val="accent4"/>
            </a:solidFill>
            <a:prstDash val="dash"/>
          </a:ln>
        </p:spPr>
      </p:sp>
      <p:sp>
        <p:nvSpPr>
          <p:cNvPr id="20" name="Shape 18"/>
          <p:cNvSpPr/>
          <p:nvPr/>
        </p:nvSpPr>
        <p:spPr>
          <a:xfrm flipH="1">
            <a:off x="4206240" y="2628900"/>
            <a:ext cx="1737360" cy="0"/>
          </a:xfrm>
          <a:prstGeom prst="line">
            <a:avLst/>
          </a:prstGeom>
          <a:noFill/>
          <a:ln w="15875">
            <a:solidFill>
              <a:schemeClr val="accent4"/>
            </a:solidFill>
            <a:prstDash val="dash"/>
            <a:tailEnd type="triangle"/>
          </a:ln>
        </p:spPr>
      </p:sp>
      <p:sp>
        <p:nvSpPr>
          <p:cNvPr id="21" name="Text 19"/>
          <p:cNvSpPr txBox="1"/>
          <p:nvPr/>
        </p:nvSpPr>
        <p:spPr>
          <a:xfrm>
            <a:off x="6035040" y="2788920"/>
            <a:ext cx="914400" cy="201168"/>
          </a:xfrm>
          <a:prstGeom prst="rect">
            <a:avLst/>
          </a:prstGeom>
          <a:noFill/>
          <a:ln/>
        </p:spPr>
        <p:txBody>
          <a:bodyPr wrap="square" lIns="0" tIns="0" rIns="0" bIns="0" rtlCol="0" anchor="t"/>
          <a:lstStyle/>
          <a:p>
            <a:pPr indent="0" marL="0">
              <a:buNone/>
            </a:pPr>
            <a:r>
              <a:rPr lang="en-US" sz="1000" dirty="0">
                <a:solidFill>
                  <a:schemeClr val="accent4"/>
                </a:solidFill>
              </a:rPr>
              <a:t>Re-enter</a:t>
            </a:r>
            <a:endParaRPr lang="en-US" sz="1000" dirty="0"/>
          </a:p>
        </p:txBody>
      </p:sp>
      <p:sp>
        <p:nvSpPr>
          <p:cNvPr id="22" name="Shape 20"/>
          <p:cNvSpPr/>
          <p:nvPr/>
        </p:nvSpPr>
        <p:spPr>
          <a:xfrm>
            <a:off x="1097280" y="4023360"/>
            <a:ext cx="3108960" cy="411480"/>
          </a:xfrm>
          <a:prstGeom prst="roundRect">
            <a:avLst>
              <a:gd name="adj" fmla="val 17778"/>
            </a:avLst>
          </a:prstGeom>
          <a:solidFill>
            <a:schemeClr val="accent5"/>
          </a:solidFill>
          <a:ln w="12700">
            <a:solidFill>
              <a:schemeClr val="accent1"/>
            </a:solidFill>
            <a:prstDash val="solid"/>
          </a:ln>
        </p:spPr>
      </p:sp>
      <p:sp>
        <p:nvSpPr>
          <p:cNvPr id="23" name="Text 21"/>
          <p:cNvSpPr txBox="1"/>
          <p:nvPr/>
        </p:nvSpPr>
        <p:spPr>
          <a:xfrm>
            <a:off x="1170432" y="4023360"/>
            <a:ext cx="2962656" cy="411480"/>
          </a:xfrm>
          <a:prstGeom prst="rect">
            <a:avLst/>
          </a:prstGeom>
          <a:noFill/>
          <a:ln/>
        </p:spPr>
        <p:txBody>
          <a:bodyPr wrap="square" lIns="0" tIns="0" rIns="0" bIns="0" rtlCol="0" anchor="ctr"/>
          <a:lstStyle/>
          <a:p>
            <a:pPr algn="ctr" indent="0" marL="0">
              <a:buNone/>
            </a:pPr>
            <a:r>
              <a:rPr lang="en-US" sz="1200" b="1" dirty="0">
                <a:solidFill>
                  <a:schemeClr val="tx1"/>
                </a:solidFill>
              </a:rPr>
              <a:t>Save marks; compute total and grade</a:t>
            </a:r>
            <a:endParaRPr lang="en-US" sz="1400" dirty="0"/>
          </a:p>
        </p:txBody>
      </p:sp>
      <p:sp>
        <p:nvSpPr>
          <p:cNvPr id="24" name="Shape 22"/>
          <p:cNvSpPr/>
          <p:nvPr/>
        </p:nvSpPr>
        <p:spPr>
          <a:xfrm>
            <a:off x="2651760" y="3794760"/>
            <a:ext cx="0" cy="228600"/>
          </a:xfrm>
          <a:prstGeom prst="line">
            <a:avLst/>
          </a:prstGeom>
          <a:noFill/>
          <a:ln w="19050">
            <a:solidFill>
              <a:schemeClr val="accent1"/>
            </a:solidFill>
            <a:prstDash val="solid"/>
            <a:tailEnd type="triangle"/>
          </a:ln>
        </p:spPr>
      </p:sp>
      <p:sp>
        <p:nvSpPr>
          <p:cNvPr id="25" name="Text 23"/>
          <p:cNvSpPr txBox="1"/>
          <p:nvPr/>
        </p:nvSpPr>
        <p:spPr>
          <a:xfrm>
            <a:off x="2743200" y="3813048"/>
            <a:ext cx="457200" cy="201168"/>
          </a:xfrm>
          <a:prstGeom prst="rect">
            <a:avLst/>
          </a:prstGeom>
          <a:noFill/>
          <a:ln/>
        </p:spPr>
        <p:txBody>
          <a:bodyPr wrap="square" lIns="0" tIns="0" rIns="0" bIns="0" rtlCol="0" anchor="t"/>
          <a:lstStyle/>
          <a:p>
            <a:pPr indent="0" marL="0">
              <a:buNone/>
            </a:pPr>
            <a:r>
              <a:rPr lang="en-US" sz="1000" b="1" dirty="0">
                <a:solidFill>
                  <a:schemeClr val="accent1"/>
                </a:solidFill>
              </a:rPr>
              <a:t>Yes</a:t>
            </a:r>
            <a:endParaRPr lang="en-US" sz="1000" dirty="0"/>
          </a:p>
        </p:txBody>
      </p:sp>
      <p:sp>
        <p:nvSpPr>
          <p:cNvPr id="26" name="Shape 24"/>
          <p:cNvSpPr/>
          <p:nvPr/>
        </p:nvSpPr>
        <p:spPr>
          <a:xfrm>
            <a:off x="2651760" y="4434840"/>
            <a:ext cx="0" cy="182880"/>
          </a:xfrm>
          <a:prstGeom prst="line">
            <a:avLst/>
          </a:prstGeom>
          <a:noFill/>
          <a:ln w="19050">
            <a:solidFill>
              <a:schemeClr val="accent1"/>
            </a:solidFill>
            <a:prstDash val="solid"/>
            <a:tailEnd type="triangle"/>
          </a:ln>
        </p:spPr>
      </p:sp>
      <p:sp>
        <p:nvSpPr>
          <p:cNvPr id="27" name="Shape 25"/>
          <p:cNvSpPr/>
          <p:nvPr/>
        </p:nvSpPr>
        <p:spPr>
          <a:xfrm>
            <a:off x="914400" y="4617720"/>
            <a:ext cx="3474720" cy="777240"/>
          </a:xfrm>
          <a:prstGeom prst="diamond">
            <a:avLst/>
          </a:prstGeom>
          <a:solidFill>
            <a:schemeClr val="bg2"/>
          </a:solidFill>
          <a:ln w="15875">
            <a:solidFill>
              <a:schemeClr val="accent4"/>
            </a:solidFill>
            <a:prstDash val="solid"/>
          </a:ln>
        </p:spPr>
      </p:sp>
      <p:sp>
        <p:nvSpPr>
          <p:cNvPr id="28" name="Text 26"/>
          <p:cNvSpPr txBox="1"/>
          <p:nvPr/>
        </p:nvSpPr>
        <p:spPr>
          <a:xfrm>
            <a:off x="1097280" y="4617720"/>
            <a:ext cx="3108960" cy="777240"/>
          </a:xfrm>
          <a:prstGeom prst="rect">
            <a:avLst/>
          </a:prstGeom>
          <a:noFill/>
          <a:ln/>
        </p:spPr>
        <p:txBody>
          <a:bodyPr wrap="square" lIns="0" tIns="0" rIns="0" bIns="0" rtlCol="0" anchor="ctr"/>
          <a:lstStyle/>
          <a:p>
            <a:pPr algn="ctr" indent="0" marL="0">
              <a:buNone/>
            </a:pPr>
            <a:r>
              <a:rPr lang="en-US" sz="1100" b="1" dirty="0">
                <a:solidFill>
                  <a:schemeClr val="tx1"/>
                </a:solidFill>
              </a:rPr>
              <a:t>Attendance ≥ 75% and pass marks?</a:t>
            </a:r>
            <a:endParaRPr lang="en-US" sz="1100" dirty="0"/>
          </a:p>
        </p:txBody>
      </p:sp>
      <p:sp>
        <p:nvSpPr>
          <p:cNvPr id="29" name="Shape 27"/>
          <p:cNvSpPr/>
          <p:nvPr/>
        </p:nvSpPr>
        <p:spPr>
          <a:xfrm>
            <a:off x="822960" y="5669280"/>
            <a:ext cx="1737360" cy="411480"/>
          </a:xfrm>
          <a:prstGeom prst="roundRect">
            <a:avLst>
              <a:gd name="adj" fmla="val 17778"/>
            </a:avLst>
          </a:prstGeom>
          <a:solidFill>
            <a:schemeClr val="accent5"/>
          </a:solidFill>
          <a:ln w="12700">
            <a:solidFill>
              <a:schemeClr val="accent6"/>
            </a:solidFill>
            <a:prstDash val="solid"/>
          </a:ln>
        </p:spPr>
      </p:sp>
      <p:sp>
        <p:nvSpPr>
          <p:cNvPr id="30" name="Text 28"/>
          <p:cNvSpPr txBox="1"/>
          <p:nvPr/>
        </p:nvSpPr>
        <p:spPr>
          <a:xfrm>
            <a:off x="896112" y="5669280"/>
            <a:ext cx="1591056" cy="411480"/>
          </a:xfrm>
          <a:prstGeom prst="rect">
            <a:avLst/>
          </a:prstGeom>
          <a:noFill/>
          <a:ln/>
        </p:spPr>
        <p:txBody>
          <a:bodyPr wrap="square" lIns="0" tIns="0" rIns="0" bIns="0" rtlCol="0" anchor="ctr"/>
          <a:lstStyle/>
          <a:p>
            <a:pPr algn="ctr" indent="0" marL="0">
              <a:buNone/>
            </a:pPr>
            <a:r>
              <a:rPr lang="en-US" sz="1100" b="1" dirty="0">
                <a:solidFill>
                  <a:schemeClr val="tx1"/>
                </a:solidFill>
              </a:rPr>
              <a:t>Result: PASS</a:t>
            </a:r>
            <a:endParaRPr lang="en-US" sz="1400" dirty="0"/>
          </a:p>
        </p:txBody>
      </p:sp>
      <p:sp>
        <p:nvSpPr>
          <p:cNvPr id="31" name="Shape 29"/>
          <p:cNvSpPr/>
          <p:nvPr/>
        </p:nvSpPr>
        <p:spPr>
          <a:xfrm>
            <a:off x="2788920" y="5669280"/>
            <a:ext cx="2194560" cy="411480"/>
          </a:xfrm>
          <a:prstGeom prst="roundRect">
            <a:avLst>
              <a:gd name="adj" fmla="val 17778"/>
            </a:avLst>
          </a:prstGeom>
          <a:solidFill>
            <a:schemeClr val="accent5"/>
          </a:solidFill>
          <a:ln w="12700">
            <a:solidFill>
              <a:schemeClr val="accent4"/>
            </a:solidFill>
            <a:prstDash val="solid"/>
          </a:ln>
        </p:spPr>
      </p:sp>
      <p:sp>
        <p:nvSpPr>
          <p:cNvPr id="32" name="Text 30"/>
          <p:cNvSpPr txBox="1"/>
          <p:nvPr/>
        </p:nvSpPr>
        <p:spPr>
          <a:xfrm>
            <a:off x="2862072" y="5669280"/>
            <a:ext cx="2048256" cy="411480"/>
          </a:xfrm>
          <a:prstGeom prst="rect">
            <a:avLst/>
          </a:prstGeom>
          <a:noFill/>
          <a:ln/>
        </p:spPr>
        <p:txBody>
          <a:bodyPr wrap="square" lIns="0" tIns="0" rIns="0" bIns="0" rtlCol="0" anchor="ctr"/>
          <a:lstStyle/>
          <a:p>
            <a:pPr algn="ctr" indent="0" marL="0">
              <a:buNone/>
            </a:pPr>
            <a:r>
              <a:rPr lang="en-US" sz="1100" b="1" dirty="0">
                <a:solidFill>
                  <a:schemeClr val="tx1"/>
                </a:solidFill>
              </a:rPr>
              <a:t>Result: RE-APPEAR / SHORTAGE</a:t>
            </a:r>
            <a:endParaRPr lang="en-US" sz="1400" dirty="0"/>
          </a:p>
        </p:txBody>
      </p:sp>
      <p:sp>
        <p:nvSpPr>
          <p:cNvPr id="33" name="Shape 31"/>
          <p:cNvSpPr/>
          <p:nvPr/>
        </p:nvSpPr>
        <p:spPr>
          <a:xfrm flipH="1">
            <a:off x="1691640" y="5257800"/>
            <a:ext cx="228600" cy="411480"/>
          </a:xfrm>
          <a:prstGeom prst="line">
            <a:avLst/>
          </a:prstGeom>
          <a:noFill/>
          <a:ln w="19050">
            <a:solidFill>
              <a:schemeClr val="accent6"/>
            </a:solidFill>
            <a:prstDash val="solid"/>
            <a:tailEnd type="triangle"/>
          </a:ln>
        </p:spPr>
      </p:sp>
      <p:sp>
        <p:nvSpPr>
          <p:cNvPr id="34" name="Shape 32"/>
          <p:cNvSpPr/>
          <p:nvPr/>
        </p:nvSpPr>
        <p:spPr>
          <a:xfrm>
            <a:off x="3383280" y="5257800"/>
            <a:ext cx="502920" cy="411480"/>
          </a:xfrm>
          <a:prstGeom prst="line">
            <a:avLst/>
          </a:prstGeom>
          <a:noFill/>
          <a:ln w="19050">
            <a:solidFill>
              <a:schemeClr val="accent4"/>
            </a:solidFill>
            <a:prstDash val="solid"/>
            <a:tailEnd type="triangle"/>
          </a:ln>
        </p:spPr>
      </p:sp>
      <p:sp>
        <p:nvSpPr>
          <p:cNvPr id="35" name="Text 33"/>
          <p:cNvSpPr txBox="1"/>
          <p:nvPr/>
        </p:nvSpPr>
        <p:spPr>
          <a:xfrm>
            <a:off x="1005840" y="5394960"/>
            <a:ext cx="365760" cy="201168"/>
          </a:xfrm>
          <a:prstGeom prst="rect">
            <a:avLst/>
          </a:prstGeom>
          <a:noFill/>
          <a:ln/>
        </p:spPr>
        <p:txBody>
          <a:bodyPr wrap="square" lIns="0" tIns="0" rIns="0" bIns="0" rtlCol="0" anchor="t"/>
          <a:lstStyle/>
          <a:p>
            <a:pPr indent="0" marL="0">
              <a:buNone/>
            </a:pPr>
            <a:r>
              <a:rPr lang="en-US" sz="1000" b="1" dirty="0">
                <a:solidFill>
                  <a:schemeClr val="accent1"/>
                </a:solidFill>
              </a:rPr>
              <a:t>Yes</a:t>
            </a:r>
            <a:endParaRPr lang="en-US" sz="1000" dirty="0"/>
          </a:p>
        </p:txBody>
      </p:sp>
      <p:sp>
        <p:nvSpPr>
          <p:cNvPr id="36" name="Text 34"/>
          <p:cNvSpPr txBox="1"/>
          <p:nvPr/>
        </p:nvSpPr>
        <p:spPr>
          <a:xfrm>
            <a:off x="4389120" y="5394960"/>
            <a:ext cx="365760" cy="201168"/>
          </a:xfrm>
          <a:prstGeom prst="rect">
            <a:avLst/>
          </a:prstGeom>
          <a:noFill/>
          <a:ln/>
        </p:spPr>
        <p:txBody>
          <a:bodyPr wrap="square" lIns="0" tIns="0" rIns="0" bIns="0" rtlCol="0" anchor="t"/>
          <a:lstStyle/>
          <a:p>
            <a:pPr indent="0" marL="0">
              <a:buNone/>
            </a:pPr>
            <a:r>
              <a:rPr lang="en-US" sz="1000" b="1" dirty="0">
                <a:solidFill>
                  <a:schemeClr val="accent4"/>
                </a:solidFill>
              </a:rPr>
              <a:t>No</a:t>
            </a:r>
            <a:endParaRPr lang="en-US" sz="1000" dirty="0"/>
          </a:p>
        </p:txBody>
      </p:sp>
      <p:sp>
        <p:nvSpPr>
          <p:cNvPr id="37" name="Card 52"/>
          <p:cNvSpPr/>
          <p:nvPr/>
        </p:nvSpPr>
        <p:spPr>
          <a:xfrm>
            <a:off x="7680960" y="1325880"/>
            <a:ext cx="3959352" cy="4754880"/>
          </a:xfrm>
          <a:prstGeom prst="roundRect">
            <a:avLst>
              <a:gd name="adj" fmla="val 1848"/>
            </a:avLst>
          </a:prstGeom>
          <a:solidFill>
            <a:schemeClr val="accent5"/>
          </a:solidFill>
          <a:ln w="9525">
            <a:solidFill>
              <a:schemeClr val="accent3"/>
            </a:solidFill>
            <a:prstDash val="solid"/>
          </a:ln>
        </p:spPr>
      </p:sp>
      <p:sp>
        <p:nvSpPr>
          <p:cNvPr id="38" name="Text 36"/>
          <p:cNvSpPr txBox="1"/>
          <p:nvPr/>
        </p:nvSpPr>
        <p:spPr>
          <a:xfrm>
            <a:off x="7955280" y="1508760"/>
            <a:ext cx="34747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RULES FROM THE REPORT</a:t>
            </a:r>
            <a:endParaRPr lang="en-US" sz="1100" dirty="0"/>
          </a:p>
        </p:txBody>
      </p:sp>
      <p:sp>
        <p:nvSpPr>
          <p:cNvPr id="39" name="Text 37"/>
          <p:cNvSpPr txBox="1"/>
          <p:nvPr/>
        </p:nvSpPr>
        <p:spPr>
          <a:xfrm>
            <a:off x="7955280" y="1874520"/>
            <a:ext cx="347472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Minimum attendance: 75%</a:t>
            </a:r>
            <a:endParaRPr lang="en-US" sz="1400" dirty="0"/>
          </a:p>
          <a:p>
            <a:pPr marL="177800" indent="-177800">
              <a:spcAft>
                <a:spcPts val="600"/>
              </a:spcAft>
              <a:buSzPct val="100000"/>
              <a:buChar char="•"/>
            </a:pPr>
            <a:r>
              <a:rPr lang="en-US" sz="1300" dirty="0">
                <a:solidFill>
                  <a:schemeClr val="tx1"/>
                </a:solidFill>
              </a:rPr>
              <a:t>Pass mark: 40% of max score</a:t>
            </a:r>
            <a:endParaRPr lang="en-US" sz="1400" dirty="0"/>
          </a:p>
          <a:p>
            <a:pPr marL="177800" indent="-177800">
              <a:spcAft>
                <a:spcPts val="600"/>
              </a:spcAft>
              <a:buSzPct val="100000"/>
              <a:buChar char="•"/>
            </a:pPr>
            <a:r>
              <a:rPr lang="en-US" sz="1300" dirty="0">
                <a:solidFill>
                  <a:schemeClr val="tx1"/>
                </a:solidFill>
              </a:rPr>
              <a:t>Marks between 0 and the assessment maximum</a:t>
            </a:r>
            <a:endParaRPr lang="en-US" sz="1400" dirty="0"/>
          </a:p>
          <a:p>
            <a:pPr marL="177800" indent="-177800">
              <a:spcAft>
                <a:spcPts val="600"/>
              </a:spcAft>
              <a:buSzPct val="100000"/>
              <a:buChar char="•"/>
            </a:pPr>
            <a:r>
              <a:rPr lang="en-US" sz="1300" dirty="0">
                <a:solidFill>
                  <a:schemeClr val="tx1"/>
                </a:solidFill>
              </a:rPr>
              <a:t>Rules kept as configuration values</a:t>
            </a:r>
            <a:endParaRPr lang="en-US" sz="1400" dirty="0"/>
          </a:p>
        </p:txBody>
      </p:sp>
      <p:sp>
        <p:nvSpPr>
          <p:cNvPr id="40" name="Text 38"/>
          <p:cNvSpPr txBox="1"/>
          <p:nvPr/>
        </p:nvSpPr>
        <p:spPr>
          <a:xfrm>
            <a:off x="7955280" y="3703320"/>
            <a:ext cx="34747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GRADE BANDS</a:t>
            </a:r>
            <a:endParaRPr lang="en-US" sz="1100" dirty="0"/>
          </a:p>
        </p:txBody>
      </p:sp>
      <p:sp>
        <p:nvSpPr>
          <p:cNvPr id="41" name="Shape 39"/>
          <p:cNvSpPr/>
          <p:nvPr/>
        </p:nvSpPr>
        <p:spPr>
          <a:xfrm>
            <a:off x="7955280" y="4023360"/>
            <a:ext cx="777240" cy="594360"/>
          </a:xfrm>
          <a:prstGeom prst="roundRect">
            <a:avLst>
              <a:gd name="adj" fmla="val 9231"/>
            </a:avLst>
          </a:prstGeom>
          <a:solidFill>
            <a:schemeClr val="bg2"/>
          </a:solidFill>
          <a:ln w="9525">
            <a:solidFill>
              <a:schemeClr val="accent3"/>
            </a:solidFill>
            <a:prstDash val="solid"/>
          </a:ln>
        </p:spPr>
      </p:sp>
      <p:sp>
        <p:nvSpPr>
          <p:cNvPr id="42" name="Text 40"/>
          <p:cNvSpPr txBox="1"/>
          <p:nvPr/>
        </p:nvSpPr>
        <p:spPr>
          <a:xfrm>
            <a:off x="7955280" y="402336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O</a:t>
            </a:r>
            <a:endParaRPr lang="en-US" sz="1400" dirty="0"/>
          </a:p>
          <a:p>
            <a:pPr algn="ctr" indent="0" marL="0">
              <a:buNone/>
            </a:pPr>
            <a:r>
              <a:rPr lang="en-US" sz="1000" dirty="0">
                <a:solidFill>
                  <a:schemeClr val="tx2"/>
                </a:solidFill>
              </a:rPr>
              <a:t>90+</a:t>
            </a:r>
            <a:endParaRPr lang="en-US" sz="1400" dirty="0"/>
          </a:p>
        </p:txBody>
      </p:sp>
      <p:sp>
        <p:nvSpPr>
          <p:cNvPr id="43" name="Shape 41"/>
          <p:cNvSpPr/>
          <p:nvPr/>
        </p:nvSpPr>
        <p:spPr>
          <a:xfrm>
            <a:off x="8823960" y="4023360"/>
            <a:ext cx="777240" cy="594360"/>
          </a:xfrm>
          <a:prstGeom prst="roundRect">
            <a:avLst>
              <a:gd name="adj" fmla="val 9231"/>
            </a:avLst>
          </a:prstGeom>
          <a:solidFill>
            <a:schemeClr val="bg2"/>
          </a:solidFill>
          <a:ln w="9525">
            <a:solidFill>
              <a:schemeClr val="accent3"/>
            </a:solidFill>
            <a:prstDash val="solid"/>
          </a:ln>
        </p:spPr>
      </p:sp>
      <p:sp>
        <p:nvSpPr>
          <p:cNvPr id="44" name="Text 42"/>
          <p:cNvSpPr txBox="1"/>
          <p:nvPr/>
        </p:nvSpPr>
        <p:spPr>
          <a:xfrm>
            <a:off x="8823960" y="402336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a:p>
            <a:pPr algn="ctr" indent="0" marL="0">
              <a:buNone/>
            </a:pPr>
            <a:r>
              <a:rPr lang="en-US" sz="1000" dirty="0">
                <a:solidFill>
                  <a:schemeClr val="tx2"/>
                </a:solidFill>
              </a:rPr>
              <a:t>80–89</a:t>
            </a:r>
            <a:endParaRPr lang="en-US" sz="1400" dirty="0"/>
          </a:p>
        </p:txBody>
      </p:sp>
      <p:sp>
        <p:nvSpPr>
          <p:cNvPr id="45" name="Shape 43"/>
          <p:cNvSpPr/>
          <p:nvPr/>
        </p:nvSpPr>
        <p:spPr>
          <a:xfrm>
            <a:off x="9692640" y="4023360"/>
            <a:ext cx="777240" cy="594360"/>
          </a:xfrm>
          <a:prstGeom prst="roundRect">
            <a:avLst>
              <a:gd name="adj" fmla="val 9231"/>
            </a:avLst>
          </a:prstGeom>
          <a:solidFill>
            <a:schemeClr val="bg2"/>
          </a:solidFill>
          <a:ln w="9525">
            <a:solidFill>
              <a:schemeClr val="accent3"/>
            </a:solidFill>
            <a:prstDash val="solid"/>
          </a:ln>
        </p:spPr>
      </p:sp>
      <p:sp>
        <p:nvSpPr>
          <p:cNvPr id="46" name="Text 44"/>
          <p:cNvSpPr txBox="1"/>
          <p:nvPr/>
        </p:nvSpPr>
        <p:spPr>
          <a:xfrm>
            <a:off x="9692640" y="402336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a:p>
            <a:pPr algn="ctr" indent="0" marL="0">
              <a:buNone/>
            </a:pPr>
            <a:r>
              <a:rPr lang="en-US" sz="1000" dirty="0">
                <a:solidFill>
                  <a:schemeClr val="tx2"/>
                </a:solidFill>
              </a:rPr>
              <a:t>70–79</a:t>
            </a:r>
            <a:endParaRPr lang="en-US" sz="1400" dirty="0"/>
          </a:p>
        </p:txBody>
      </p:sp>
      <p:sp>
        <p:nvSpPr>
          <p:cNvPr id="47" name="Shape 45"/>
          <p:cNvSpPr/>
          <p:nvPr/>
        </p:nvSpPr>
        <p:spPr>
          <a:xfrm>
            <a:off x="10561320" y="4023360"/>
            <a:ext cx="777240" cy="594360"/>
          </a:xfrm>
          <a:prstGeom prst="roundRect">
            <a:avLst>
              <a:gd name="adj" fmla="val 9231"/>
            </a:avLst>
          </a:prstGeom>
          <a:solidFill>
            <a:schemeClr val="bg2"/>
          </a:solidFill>
          <a:ln w="9525">
            <a:solidFill>
              <a:schemeClr val="accent3"/>
            </a:solidFill>
            <a:prstDash val="solid"/>
          </a:ln>
        </p:spPr>
      </p:sp>
      <p:sp>
        <p:nvSpPr>
          <p:cNvPr id="48" name="Text 46"/>
          <p:cNvSpPr txBox="1"/>
          <p:nvPr/>
        </p:nvSpPr>
        <p:spPr>
          <a:xfrm>
            <a:off x="10561320" y="402336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a:p>
            <a:pPr algn="ctr" indent="0" marL="0">
              <a:buNone/>
            </a:pPr>
            <a:r>
              <a:rPr lang="en-US" sz="1000" dirty="0">
                <a:solidFill>
                  <a:schemeClr val="tx2"/>
                </a:solidFill>
              </a:rPr>
              <a:t>60–69</a:t>
            </a:r>
            <a:endParaRPr lang="en-US" sz="1400" dirty="0"/>
          </a:p>
        </p:txBody>
      </p:sp>
      <p:sp>
        <p:nvSpPr>
          <p:cNvPr id="49" name="Shape 47"/>
          <p:cNvSpPr/>
          <p:nvPr/>
        </p:nvSpPr>
        <p:spPr>
          <a:xfrm>
            <a:off x="7955280" y="4754880"/>
            <a:ext cx="777240" cy="594360"/>
          </a:xfrm>
          <a:prstGeom prst="roundRect">
            <a:avLst>
              <a:gd name="adj" fmla="val 9231"/>
            </a:avLst>
          </a:prstGeom>
          <a:solidFill>
            <a:schemeClr val="bg2"/>
          </a:solidFill>
          <a:ln w="9525">
            <a:solidFill>
              <a:schemeClr val="accent3"/>
            </a:solidFill>
            <a:prstDash val="solid"/>
          </a:ln>
        </p:spPr>
      </p:sp>
      <p:sp>
        <p:nvSpPr>
          <p:cNvPr id="50" name="Text 48"/>
          <p:cNvSpPr txBox="1"/>
          <p:nvPr/>
        </p:nvSpPr>
        <p:spPr>
          <a:xfrm>
            <a:off x="7955280" y="475488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a:p>
            <a:pPr algn="ctr" indent="0" marL="0">
              <a:buNone/>
            </a:pPr>
            <a:r>
              <a:rPr lang="en-US" sz="1000" dirty="0">
                <a:solidFill>
                  <a:schemeClr val="tx2"/>
                </a:solidFill>
              </a:rPr>
              <a:t>50–59</a:t>
            </a:r>
            <a:endParaRPr lang="en-US" sz="1400" dirty="0"/>
          </a:p>
        </p:txBody>
      </p:sp>
      <p:sp>
        <p:nvSpPr>
          <p:cNvPr id="51" name="Shape 49"/>
          <p:cNvSpPr/>
          <p:nvPr/>
        </p:nvSpPr>
        <p:spPr>
          <a:xfrm>
            <a:off x="8823960" y="4754880"/>
            <a:ext cx="777240" cy="594360"/>
          </a:xfrm>
          <a:prstGeom prst="roundRect">
            <a:avLst>
              <a:gd name="adj" fmla="val 9231"/>
            </a:avLst>
          </a:prstGeom>
          <a:solidFill>
            <a:schemeClr val="bg2"/>
          </a:solidFill>
          <a:ln w="9525">
            <a:solidFill>
              <a:schemeClr val="accent3"/>
            </a:solidFill>
            <a:prstDash val="solid"/>
          </a:ln>
        </p:spPr>
      </p:sp>
      <p:sp>
        <p:nvSpPr>
          <p:cNvPr id="52" name="Text 50"/>
          <p:cNvSpPr txBox="1"/>
          <p:nvPr/>
        </p:nvSpPr>
        <p:spPr>
          <a:xfrm>
            <a:off x="8823960" y="475488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a:p>
            <a:pPr algn="ctr" indent="0" marL="0">
              <a:buNone/>
            </a:pPr>
            <a:r>
              <a:rPr lang="en-US" sz="1000" dirty="0">
                <a:solidFill>
                  <a:schemeClr val="tx2"/>
                </a:solidFill>
              </a:rPr>
              <a:t>40–49</a:t>
            </a:r>
            <a:endParaRPr lang="en-US" sz="1400" dirty="0"/>
          </a:p>
        </p:txBody>
      </p:sp>
      <p:sp>
        <p:nvSpPr>
          <p:cNvPr id="53" name="Shape 51"/>
          <p:cNvSpPr/>
          <p:nvPr/>
        </p:nvSpPr>
        <p:spPr>
          <a:xfrm>
            <a:off x="9692640" y="4754880"/>
            <a:ext cx="777240" cy="594360"/>
          </a:xfrm>
          <a:prstGeom prst="roundRect">
            <a:avLst>
              <a:gd name="adj" fmla="val 9231"/>
            </a:avLst>
          </a:prstGeom>
          <a:solidFill>
            <a:schemeClr val="bg2"/>
          </a:solidFill>
          <a:ln w="9525">
            <a:solidFill>
              <a:schemeClr val="accent3"/>
            </a:solidFill>
            <a:prstDash val="solid"/>
          </a:ln>
        </p:spPr>
      </p:sp>
      <p:sp>
        <p:nvSpPr>
          <p:cNvPr id="54" name="Text 52"/>
          <p:cNvSpPr txBox="1"/>
          <p:nvPr/>
        </p:nvSpPr>
        <p:spPr>
          <a:xfrm>
            <a:off x="9692640" y="4754880"/>
            <a:ext cx="777240" cy="594360"/>
          </a:xfrm>
          <a:prstGeom prst="rect">
            <a:avLst/>
          </a:prstGeom>
          <a:noFill/>
          <a:ln/>
        </p:spPr>
        <p:txBody>
          <a:bodyPr wrap="square" lIns="0" tIns="0" rIns="0" bIns="0" rtlCol="0" anchor="ctr"/>
          <a:lstStyle/>
          <a:p>
            <a:pPr algn="ctr" indent="0" marL="0">
              <a:buNone/>
            </a:pPr>
            <a:r>
              <a:rPr lang="en-US" sz="1400" b="1" dirty="0">
                <a:solidFill>
                  <a:schemeClr val="accent1"/>
                </a:solidFill>
              </a:rPr>
              <a:t>RA</a:t>
            </a:r>
            <a:endParaRPr lang="en-US" sz="1400" dirty="0"/>
          </a:p>
          <a:p>
            <a:pPr algn="ctr" indent="0" marL="0">
              <a:buNone/>
            </a:pPr>
            <a:r>
              <a:rPr lang="en-US" sz="1000" dirty="0">
                <a:solidFill>
                  <a:schemeClr val="tx2"/>
                </a:solidFill>
              </a:rPr>
              <a:t>&lt;40</a:t>
            </a:r>
            <a:endParaRPr lang="en-US" sz="1400" dirty="0"/>
          </a:p>
        </p:txBody>
      </p:sp>
      <p:sp>
        <p:nvSpPr>
          <p:cNvPr id="55" name="Text 53"/>
          <p:cNvSpPr txBox="1"/>
          <p:nvPr/>
        </p:nvSpPr>
        <p:spPr>
          <a:xfrm>
            <a:off x="7955280" y="5486400"/>
            <a:ext cx="3474720" cy="411480"/>
          </a:xfrm>
          <a:prstGeom prst="rect">
            <a:avLst/>
          </a:prstGeom>
          <a:noFill/>
          <a:ln/>
        </p:spPr>
        <p:txBody>
          <a:bodyPr wrap="square" lIns="0" tIns="0" rIns="0" bIns="0" rtlCol="0" anchor="t"/>
          <a:lstStyle/>
          <a:p>
            <a:pPr indent="0" marL="0">
              <a:buNone/>
            </a:pPr>
            <a:r>
              <a:rPr lang="en-US" sz="1100" i="1" dirty="0">
                <a:solidFill>
                  <a:schemeClr val="tx2"/>
                </a:solidFill>
              </a:rPr>
              <a:t>Conceptual example: a score of 82/100 falls in the A+ band.</a:t>
            </a:r>
            <a:endParaRPr lang="en-US" sz="11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Testing and Validation Approach</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12  TESTING</a:t>
            </a:r>
            <a:endParaRPr lang="en-US" sz="1100" dirty="0"/>
          </a:p>
        </p:txBody>
      </p:sp>
      <p:sp>
        <p:nvSpPr>
          <p:cNvPr id="4" name="Card 53"/>
          <p:cNvSpPr/>
          <p:nvPr/>
        </p:nvSpPr>
        <p:spPr>
          <a:xfrm>
            <a:off x="548640" y="1280160"/>
            <a:ext cx="11091672" cy="502920"/>
          </a:xfrm>
          <a:prstGeom prst="roundRect">
            <a:avLst>
              <a:gd name="adj" fmla="val 14545"/>
            </a:avLst>
          </a:prstGeom>
          <a:solidFill>
            <a:schemeClr val="accent5"/>
          </a:solidFill>
          <a:ln w="9525">
            <a:solidFill>
              <a:schemeClr val="accent4"/>
            </a:solidFill>
            <a:prstDash val="solid"/>
          </a:ln>
        </p:spPr>
      </p:sp>
      <p:sp>
        <p:nvSpPr>
          <p:cNvPr id="5" name="Text 3"/>
          <p:cNvSpPr txBox="1"/>
          <p:nvPr/>
        </p:nvSpPr>
        <p:spPr>
          <a:xfrm>
            <a:off x="822960" y="1280160"/>
            <a:ext cx="10543032" cy="502920"/>
          </a:xfrm>
          <a:prstGeom prst="rect">
            <a:avLst/>
          </a:prstGeom>
          <a:noFill/>
          <a:ln/>
        </p:spPr>
        <p:txBody>
          <a:bodyPr wrap="square" lIns="0" tIns="0" rIns="0" bIns="0" rtlCol="0" anchor="ctr"/>
          <a:lstStyle/>
          <a:p>
            <a:pPr indent="0" marL="0">
              <a:buNone/>
            </a:pPr>
            <a:r>
              <a:rPr lang="en-US" sz="1300" b="1" dirty="0">
                <a:solidFill>
                  <a:schemeClr val="accent4"/>
                </a:solidFill>
              </a:rPr>
              <a:t>Designed test strategy and expected results. No executed test results are claimed in this presentation.</a:t>
            </a:r>
            <a:endParaRPr lang="en-US" sz="1300" dirty="0"/>
          </a:p>
        </p:txBody>
      </p:sp>
      <p:sp>
        <p:nvSpPr>
          <p:cNvPr id="6" name="Card 54"/>
          <p:cNvSpPr/>
          <p:nvPr/>
        </p:nvSpPr>
        <p:spPr>
          <a:xfrm>
            <a:off x="548640" y="2011680"/>
            <a:ext cx="5029200" cy="658368"/>
          </a:xfrm>
          <a:prstGeom prst="roundRect">
            <a:avLst>
              <a:gd name="adj" fmla="val 11111"/>
            </a:avLst>
          </a:prstGeom>
          <a:solidFill>
            <a:schemeClr val="bg2"/>
          </a:solidFill>
          <a:ln w="9525">
            <a:solidFill>
              <a:schemeClr val="accent3"/>
            </a:solidFill>
            <a:prstDash val="solid"/>
          </a:ln>
        </p:spPr>
      </p:sp>
      <p:sp>
        <p:nvSpPr>
          <p:cNvPr id="7" name="Text 5"/>
          <p:cNvSpPr txBox="1"/>
          <p:nvPr/>
        </p:nvSpPr>
        <p:spPr>
          <a:xfrm>
            <a:off x="731520" y="2011680"/>
            <a:ext cx="1188720" cy="658368"/>
          </a:xfrm>
          <a:prstGeom prst="rect">
            <a:avLst/>
          </a:prstGeom>
          <a:noFill/>
          <a:ln/>
        </p:spPr>
        <p:txBody>
          <a:bodyPr wrap="square" lIns="0" tIns="0" rIns="0" bIns="0" rtlCol="0" anchor="ctr"/>
          <a:lstStyle/>
          <a:p>
            <a:pPr indent="0" marL="0">
              <a:buNone/>
            </a:pPr>
            <a:r>
              <a:rPr lang="en-US" sz="1400" b="1" dirty="0">
                <a:solidFill>
                  <a:schemeClr val="accent1"/>
                </a:solidFill>
              </a:rPr>
              <a:t>Unit</a:t>
            </a:r>
            <a:endParaRPr lang="en-US" sz="1400" dirty="0"/>
          </a:p>
        </p:txBody>
      </p:sp>
      <p:sp>
        <p:nvSpPr>
          <p:cNvPr id="8" name="Text 6"/>
          <p:cNvSpPr txBox="1"/>
          <p:nvPr/>
        </p:nvSpPr>
        <p:spPr>
          <a:xfrm>
            <a:off x="1920240" y="2011680"/>
            <a:ext cx="3566160" cy="658368"/>
          </a:xfrm>
          <a:prstGeom prst="rect">
            <a:avLst/>
          </a:prstGeom>
          <a:noFill/>
          <a:ln/>
        </p:spPr>
        <p:txBody>
          <a:bodyPr wrap="square" lIns="0" tIns="0" rIns="0" bIns="0" rtlCol="0" anchor="ctr"/>
          <a:lstStyle/>
          <a:p>
            <a:pPr indent="0" marL="0">
              <a:buNone/>
            </a:pPr>
            <a:r>
              <a:rPr lang="en-US" sz="1200" dirty="0">
                <a:solidFill>
                  <a:schemeClr val="tx1"/>
                </a:solidFill>
              </a:rPr>
              <a:t>Grade calculation, attendance %</a:t>
            </a:r>
            <a:endParaRPr lang="en-US" sz="1400" dirty="0"/>
          </a:p>
          <a:p>
            <a:pPr indent="0" marL="0">
              <a:buNone/>
            </a:pPr>
            <a:r>
              <a:rPr lang="en-US" sz="1000" dirty="0">
                <a:solidFill>
                  <a:schemeClr val="tx2"/>
                </a:solidFill>
              </a:rPr>
              <a:t>JUnit</a:t>
            </a:r>
            <a:endParaRPr lang="en-US" sz="1400" dirty="0"/>
          </a:p>
        </p:txBody>
      </p:sp>
      <p:sp>
        <p:nvSpPr>
          <p:cNvPr id="9" name="Card 55"/>
          <p:cNvSpPr/>
          <p:nvPr/>
        </p:nvSpPr>
        <p:spPr>
          <a:xfrm>
            <a:off x="548640" y="2788920"/>
            <a:ext cx="5029200" cy="658368"/>
          </a:xfrm>
          <a:prstGeom prst="roundRect">
            <a:avLst>
              <a:gd name="adj" fmla="val 11111"/>
            </a:avLst>
          </a:prstGeom>
          <a:solidFill>
            <a:schemeClr val="bg2"/>
          </a:solidFill>
          <a:ln w="9525">
            <a:solidFill>
              <a:schemeClr val="accent3"/>
            </a:solidFill>
            <a:prstDash val="solid"/>
          </a:ln>
        </p:spPr>
      </p:sp>
      <p:sp>
        <p:nvSpPr>
          <p:cNvPr id="10" name="Text 8"/>
          <p:cNvSpPr txBox="1"/>
          <p:nvPr/>
        </p:nvSpPr>
        <p:spPr>
          <a:xfrm>
            <a:off x="731520" y="2788920"/>
            <a:ext cx="1188720" cy="658368"/>
          </a:xfrm>
          <a:prstGeom prst="rect">
            <a:avLst/>
          </a:prstGeom>
          <a:noFill/>
          <a:ln/>
        </p:spPr>
        <p:txBody>
          <a:bodyPr wrap="square" lIns="0" tIns="0" rIns="0" bIns="0" rtlCol="0" anchor="ctr"/>
          <a:lstStyle/>
          <a:p>
            <a:pPr indent="0" marL="0">
              <a:buNone/>
            </a:pPr>
            <a:r>
              <a:rPr lang="en-US" sz="1400" b="1" dirty="0">
                <a:solidFill>
                  <a:schemeClr val="accent1"/>
                </a:solidFill>
              </a:rPr>
              <a:t>Integration</a:t>
            </a:r>
            <a:endParaRPr lang="en-US" sz="1400" dirty="0"/>
          </a:p>
        </p:txBody>
      </p:sp>
      <p:sp>
        <p:nvSpPr>
          <p:cNvPr id="11" name="Text 9"/>
          <p:cNvSpPr txBox="1"/>
          <p:nvPr/>
        </p:nvSpPr>
        <p:spPr>
          <a:xfrm>
            <a:off x="1920240" y="2788920"/>
            <a:ext cx="3566160" cy="658368"/>
          </a:xfrm>
          <a:prstGeom prst="rect">
            <a:avLst/>
          </a:prstGeom>
          <a:noFill/>
          <a:ln/>
        </p:spPr>
        <p:txBody>
          <a:bodyPr wrap="square" lIns="0" tIns="0" rIns="0" bIns="0" rtlCol="0" anchor="ctr"/>
          <a:lstStyle/>
          <a:p>
            <a:pPr indent="0" marL="0">
              <a:buNone/>
            </a:pPr>
            <a:r>
              <a:rPr lang="en-US" sz="1200" dirty="0">
                <a:solidFill>
                  <a:schemeClr val="tx1"/>
                </a:solidFill>
              </a:rPr>
              <a:t>Controller, service, database</a:t>
            </a:r>
            <a:endParaRPr lang="en-US" sz="1400" dirty="0"/>
          </a:p>
          <a:p>
            <a:pPr indent="0" marL="0">
              <a:buNone/>
            </a:pPr>
            <a:r>
              <a:rPr lang="en-US" sz="1000" dirty="0">
                <a:solidFill>
                  <a:schemeClr val="tx2"/>
                </a:solidFill>
              </a:rPr>
              <a:t>JUnit, Spring Boot test</a:t>
            </a:r>
            <a:endParaRPr lang="en-US" sz="1400" dirty="0"/>
          </a:p>
        </p:txBody>
      </p:sp>
      <p:sp>
        <p:nvSpPr>
          <p:cNvPr id="12" name="Card 56"/>
          <p:cNvSpPr/>
          <p:nvPr/>
        </p:nvSpPr>
        <p:spPr>
          <a:xfrm>
            <a:off x="548640" y="3566160"/>
            <a:ext cx="5029200" cy="658368"/>
          </a:xfrm>
          <a:prstGeom prst="roundRect">
            <a:avLst>
              <a:gd name="adj" fmla="val 11111"/>
            </a:avLst>
          </a:prstGeom>
          <a:solidFill>
            <a:schemeClr val="bg2"/>
          </a:solidFill>
          <a:ln w="9525">
            <a:solidFill>
              <a:schemeClr val="accent3"/>
            </a:solidFill>
            <a:prstDash val="solid"/>
          </a:ln>
        </p:spPr>
      </p:sp>
      <p:sp>
        <p:nvSpPr>
          <p:cNvPr id="13" name="Text 11"/>
          <p:cNvSpPr txBox="1"/>
          <p:nvPr/>
        </p:nvSpPr>
        <p:spPr>
          <a:xfrm>
            <a:off x="731520" y="3566160"/>
            <a:ext cx="1188720" cy="658368"/>
          </a:xfrm>
          <a:prstGeom prst="rect">
            <a:avLst/>
          </a:prstGeom>
          <a:noFill/>
          <a:ln/>
        </p:spPr>
        <p:txBody>
          <a:bodyPr wrap="square" lIns="0" tIns="0" rIns="0" bIns="0" rtlCol="0" anchor="ctr"/>
          <a:lstStyle/>
          <a:p>
            <a:pPr indent="0" marL="0">
              <a:buNone/>
            </a:pPr>
            <a:r>
              <a:rPr lang="en-US" sz="1400" b="1" dirty="0">
                <a:solidFill>
                  <a:schemeClr val="accent1"/>
                </a:solidFill>
              </a:rPr>
              <a:t>System</a:t>
            </a:r>
            <a:endParaRPr lang="en-US" sz="1400" dirty="0"/>
          </a:p>
        </p:txBody>
      </p:sp>
      <p:sp>
        <p:nvSpPr>
          <p:cNvPr id="14" name="Text 12"/>
          <p:cNvSpPr txBox="1"/>
          <p:nvPr/>
        </p:nvSpPr>
        <p:spPr>
          <a:xfrm>
            <a:off x="1920240" y="3566160"/>
            <a:ext cx="3566160" cy="658368"/>
          </a:xfrm>
          <a:prstGeom prst="rect">
            <a:avLst/>
          </a:prstGeom>
          <a:noFill/>
          <a:ln/>
        </p:spPr>
        <p:txBody>
          <a:bodyPr wrap="square" lIns="0" tIns="0" rIns="0" bIns="0" rtlCol="0" anchor="ctr"/>
          <a:lstStyle/>
          <a:p>
            <a:pPr indent="0" marL="0">
              <a:buNone/>
            </a:pPr>
            <a:r>
              <a:rPr lang="en-US" sz="1200" dirty="0">
                <a:solidFill>
                  <a:schemeClr val="tx1"/>
                </a:solidFill>
              </a:rPr>
              <a:t>Enrolment, attendance, result workflows</a:t>
            </a:r>
            <a:endParaRPr lang="en-US" sz="1400" dirty="0"/>
          </a:p>
          <a:p>
            <a:pPr indent="0" marL="0">
              <a:buNone/>
            </a:pPr>
            <a:r>
              <a:rPr lang="en-US" sz="1000" dirty="0">
                <a:solidFill>
                  <a:schemeClr val="tx2"/>
                </a:solidFill>
              </a:rPr>
              <a:t>Manual test scripts</a:t>
            </a:r>
            <a:endParaRPr lang="en-US" sz="1400" dirty="0"/>
          </a:p>
        </p:txBody>
      </p:sp>
      <p:sp>
        <p:nvSpPr>
          <p:cNvPr id="15" name="Card 57"/>
          <p:cNvSpPr/>
          <p:nvPr/>
        </p:nvSpPr>
        <p:spPr>
          <a:xfrm>
            <a:off x="548640" y="4343400"/>
            <a:ext cx="5029200" cy="658368"/>
          </a:xfrm>
          <a:prstGeom prst="roundRect">
            <a:avLst>
              <a:gd name="adj" fmla="val 11111"/>
            </a:avLst>
          </a:prstGeom>
          <a:solidFill>
            <a:schemeClr val="bg2"/>
          </a:solidFill>
          <a:ln w="9525">
            <a:solidFill>
              <a:schemeClr val="accent3"/>
            </a:solidFill>
            <a:prstDash val="solid"/>
          </a:ln>
        </p:spPr>
      </p:sp>
      <p:sp>
        <p:nvSpPr>
          <p:cNvPr id="16" name="Text 14"/>
          <p:cNvSpPr txBox="1"/>
          <p:nvPr/>
        </p:nvSpPr>
        <p:spPr>
          <a:xfrm>
            <a:off x="731520" y="4343400"/>
            <a:ext cx="1188720" cy="658368"/>
          </a:xfrm>
          <a:prstGeom prst="rect">
            <a:avLst/>
          </a:prstGeom>
          <a:noFill/>
          <a:ln/>
        </p:spPr>
        <p:txBody>
          <a:bodyPr wrap="square" lIns="0" tIns="0" rIns="0" bIns="0" rtlCol="0" anchor="ctr"/>
          <a:lstStyle/>
          <a:p>
            <a:pPr indent="0" marL="0">
              <a:buNone/>
            </a:pPr>
            <a:r>
              <a:rPr lang="en-US" sz="1400" b="1" dirty="0">
                <a:solidFill>
                  <a:schemeClr val="accent1"/>
                </a:solidFill>
              </a:rPr>
              <a:t>Security</a:t>
            </a:r>
            <a:endParaRPr lang="en-US" sz="1400" dirty="0"/>
          </a:p>
        </p:txBody>
      </p:sp>
      <p:sp>
        <p:nvSpPr>
          <p:cNvPr id="17" name="Text 15"/>
          <p:cNvSpPr txBox="1"/>
          <p:nvPr/>
        </p:nvSpPr>
        <p:spPr>
          <a:xfrm>
            <a:off x="1920240" y="4343400"/>
            <a:ext cx="3566160" cy="658368"/>
          </a:xfrm>
          <a:prstGeom prst="rect">
            <a:avLst/>
          </a:prstGeom>
          <a:noFill/>
          <a:ln/>
        </p:spPr>
        <p:txBody>
          <a:bodyPr wrap="square" lIns="0" tIns="0" rIns="0" bIns="0" rtlCol="0" anchor="ctr"/>
          <a:lstStyle/>
          <a:p>
            <a:pPr indent="0" marL="0">
              <a:buNone/>
            </a:pPr>
            <a:r>
              <a:rPr lang="en-US" sz="1200" dirty="0">
                <a:solidFill>
                  <a:schemeClr val="tx1"/>
                </a:solidFill>
              </a:rPr>
              <a:t>Role limits, session expiry, invalid input</a:t>
            </a:r>
            <a:endParaRPr lang="en-US" sz="1400" dirty="0"/>
          </a:p>
          <a:p>
            <a:pPr indent="0" marL="0">
              <a:buNone/>
            </a:pPr>
            <a:r>
              <a:rPr lang="en-US" sz="1000" dirty="0">
                <a:solidFill>
                  <a:schemeClr val="tx2"/>
                </a:solidFill>
              </a:rPr>
              <a:t>Manual verification</a:t>
            </a:r>
            <a:endParaRPr lang="en-US" sz="1400" dirty="0"/>
          </a:p>
        </p:txBody>
      </p:sp>
      <p:sp>
        <p:nvSpPr>
          <p:cNvPr id="18" name="Card 58"/>
          <p:cNvSpPr/>
          <p:nvPr/>
        </p:nvSpPr>
        <p:spPr>
          <a:xfrm>
            <a:off x="548640" y="5120640"/>
            <a:ext cx="5029200" cy="658368"/>
          </a:xfrm>
          <a:prstGeom prst="roundRect">
            <a:avLst>
              <a:gd name="adj" fmla="val 11111"/>
            </a:avLst>
          </a:prstGeom>
          <a:solidFill>
            <a:schemeClr val="bg2"/>
          </a:solidFill>
          <a:ln w="9525">
            <a:solidFill>
              <a:schemeClr val="accent3"/>
            </a:solidFill>
            <a:prstDash val="solid"/>
          </a:ln>
        </p:spPr>
      </p:sp>
      <p:sp>
        <p:nvSpPr>
          <p:cNvPr id="19" name="Text 17"/>
          <p:cNvSpPr txBox="1"/>
          <p:nvPr/>
        </p:nvSpPr>
        <p:spPr>
          <a:xfrm>
            <a:off x="731520" y="5120640"/>
            <a:ext cx="1188720" cy="658368"/>
          </a:xfrm>
          <a:prstGeom prst="rect">
            <a:avLst/>
          </a:prstGeom>
          <a:noFill/>
          <a:ln/>
        </p:spPr>
        <p:txBody>
          <a:bodyPr wrap="square" lIns="0" tIns="0" rIns="0" bIns="0" rtlCol="0" anchor="ctr"/>
          <a:lstStyle/>
          <a:p>
            <a:pPr indent="0" marL="0">
              <a:buNone/>
            </a:pPr>
            <a:r>
              <a:rPr lang="en-US" sz="1400" b="1" dirty="0">
                <a:solidFill>
                  <a:schemeClr val="accent1"/>
                </a:solidFill>
              </a:rPr>
              <a:t>Acceptance</a:t>
            </a:r>
            <a:endParaRPr lang="en-US" sz="1400" dirty="0"/>
          </a:p>
        </p:txBody>
      </p:sp>
      <p:sp>
        <p:nvSpPr>
          <p:cNvPr id="20" name="Text 18"/>
          <p:cNvSpPr txBox="1"/>
          <p:nvPr/>
        </p:nvSpPr>
        <p:spPr>
          <a:xfrm>
            <a:off x="1920240" y="5120640"/>
            <a:ext cx="3566160" cy="658368"/>
          </a:xfrm>
          <a:prstGeom prst="rect">
            <a:avLst/>
          </a:prstGeom>
          <a:noFill/>
          <a:ln/>
        </p:spPr>
        <p:txBody>
          <a:bodyPr wrap="square" lIns="0" tIns="0" rIns="0" bIns="0" rtlCol="0" anchor="ctr"/>
          <a:lstStyle/>
          <a:p>
            <a:pPr indent="0" marL="0">
              <a:buNone/>
            </a:pPr>
            <a:r>
              <a:rPr lang="en-US" sz="1200" dirty="0">
                <a:solidFill>
                  <a:schemeClr val="tx1"/>
                </a:solidFill>
              </a:rPr>
              <a:t>Usability and correctness for users</a:t>
            </a:r>
            <a:endParaRPr lang="en-US" sz="1400" dirty="0"/>
          </a:p>
          <a:p>
            <a:pPr indent="0" marL="0">
              <a:buNone/>
            </a:pPr>
            <a:r>
              <a:rPr lang="en-US" sz="1000" dirty="0">
                <a:solidFill>
                  <a:schemeClr val="tx2"/>
                </a:solidFill>
              </a:rPr>
              <a:t>Demonstration, feedback</a:t>
            </a:r>
            <a:endParaRPr lang="en-US" sz="1400" dirty="0"/>
          </a:p>
        </p:txBody>
      </p:sp>
      <p:sp>
        <p:nvSpPr>
          <p:cNvPr id="21" name="Text 19"/>
          <p:cNvSpPr txBox="1"/>
          <p:nvPr/>
        </p:nvSpPr>
        <p:spPr>
          <a:xfrm>
            <a:off x="5943600" y="1920240"/>
            <a:ext cx="5486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SAMPLE TEST CASES (EXPECTED RESULTS)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0" y="2240280"/>
          <a:ext cx="5696712" cy="914400"/>
        </p:xfrm>
        <a:graphic>
          <a:graphicData uri="http://schemas.openxmlformats.org/drawingml/2006/table">
            <a:tbl>
              <a:tblPr/>
              <a:tblGrid>
                <a:gridCol w="731520"/>
                <a:gridCol w="2286000"/>
                <a:gridCol w="2679192"/>
              </a:tblGrid>
              <a:tr h="420624">
                <a:tc>
                  <a:txBody>
                    <a:bodyPr/>
                    <a:lstStyle/>
                    <a:p>
                      <a:pPr indent="0" marL="0">
                        <a:buNone/>
                      </a:pPr>
                      <a:r>
                        <a:rPr lang="en-US" sz="1200" b="1" dirty="0">
                          <a:solidFill>
                            <a:schemeClr val="accent1"/>
                          </a:solidFill>
                        </a:rPr>
                        <a:t>ID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accent1"/>
                          </a:solidFill>
                        </a:rPr>
                        <a:t>Scenario</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accent1"/>
                          </a:solidFill>
                        </a:rPr>
                        <a:t>Expected result</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solidFill>
                  </a:tcPr>
                </a:tc>
              </a:tr>
              <a:tr h="420624">
                <a:tc>
                  <a:txBody>
                    <a:bodyPr/>
                    <a:lstStyle/>
                    <a:p>
                      <a:pPr indent="0" marL="0">
                        <a:buNone/>
                      </a:pPr>
                      <a:r>
                        <a:rPr lang="en-US" sz="1200" dirty="0">
                          <a:solidFill>
                            <a:schemeClr val="tx1"/>
                          </a:solidFill>
                        </a:rPr>
                        <a:t>TC-02</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Wrong password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Error message; access denied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rPr>
                        <a:t>TC-04</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Duplicate reg. no.</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Validation error; not saved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rPr>
                        <a:t>TC-06</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Duplicate enrolment</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Rejected with clear message</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rPr>
                        <a:t>TC-07</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Course full</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Enrolment rejected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rPr>
                        <a:t>TC-08</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Marks above max or negative</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Validation error; not saved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rPr>
                        <a:t>TC-09</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Score 82 out of 100</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Grade A+ assigned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20624">
                <a:tc>
                  <a:txBody>
                    <a:bodyPr/>
                    <a:lstStyle/>
                    <a:p>
                      <a:pPr indent="0" marL="0">
                        <a:buNone/>
                      </a:pPr>
                      <a:r>
                        <a:rPr lang="en-US" sz="1200" dirty="0">
                          <a:solidFill>
                            <a:schemeClr val="tx1"/>
                          </a:solidFill>
                        </a:rPr>
                        <a:t>TC-10</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Student opens admin URL</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Access denied</a:t>
                      </a:r>
                      <a:endParaRPr lang="en-US" sz="1200" dirty="0"/>
                    </a:p>
                  </a:txBody>
                  <a:tcPr marL="91440" marR="91440" marT="45720" marB="4572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Learning Outcomes</a:t>
            </a:r>
            <a:endParaRPr lang="en-US" sz="3200" dirty="0"/>
          </a:p>
        </p:txBody>
      </p:sp>
      <p:sp>
        <p:nvSpPr>
          <p:cNvPr id="3" name="Text 1"/>
          <p:cNvSpPr txBox="1"/>
          <p:nvPr/>
        </p:nvSpPr>
        <p:spPr>
          <a:xfrm>
            <a:off x="548640" y="182880"/>
            <a:ext cx="731520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13  OUTCOMES</a:t>
            </a:r>
            <a:endParaRPr lang="en-US" sz="1100" dirty="0"/>
          </a:p>
        </p:txBody>
      </p:sp>
      <p:sp>
        <p:nvSpPr>
          <p:cNvPr id="4" name="Card 59"/>
          <p:cNvSpPr/>
          <p:nvPr/>
        </p:nvSpPr>
        <p:spPr>
          <a:xfrm>
            <a:off x="548640" y="1417320"/>
            <a:ext cx="3474720" cy="1417320"/>
          </a:xfrm>
          <a:prstGeom prst="roundRect">
            <a:avLst>
              <a:gd name="adj" fmla="val 5161"/>
            </a:avLst>
          </a:prstGeom>
          <a:solidFill>
            <a:schemeClr val="bg2"/>
          </a:solidFill>
          <a:ln w="9525">
            <a:solidFill>
              <a:schemeClr val="accent3"/>
            </a:solidFill>
            <a:prstDash val="solid"/>
          </a:ln>
        </p:spPr>
      </p:sp>
      <p:sp>
        <p:nvSpPr>
          <p:cNvPr id="5" name="Shape 3"/>
          <p:cNvSpPr/>
          <p:nvPr/>
        </p:nvSpPr>
        <p:spPr>
          <a:xfrm>
            <a:off x="731520" y="1600200"/>
            <a:ext cx="457200" cy="457200"/>
          </a:xfrm>
          <a:prstGeom prst="ellipse">
            <a:avLst/>
          </a:prstGeom>
          <a:solidFill>
            <a:schemeClr val="accent5"/>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50392" y="1719072"/>
            <a:ext cx="219456" cy="219456"/>
          </a:xfrm>
          <a:prstGeom prst="rect">
            <a:avLst/>
          </a:prstGeom>
        </p:spPr>
      </p:pic>
      <p:sp>
        <p:nvSpPr>
          <p:cNvPr id="7" name="Text 4"/>
          <p:cNvSpPr txBox="1"/>
          <p:nvPr/>
        </p:nvSpPr>
        <p:spPr>
          <a:xfrm>
            <a:off x="1325880" y="160020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Core and Advanced Java</a:t>
            </a:r>
            <a:endParaRPr lang="en-US" sz="1400" dirty="0"/>
          </a:p>
        </p:txBody>
      </p:sp>
      <p:sp>
        <p:nvSpPr>
          <p:cNvPr id="8" name="Text 5"/>
          <p:cNvSpPr txBox="1"/>
          <p:nvPr/>
        </p:nvSpPr>
        <p:spPr>
          <a:xfrm>
            <a:off x="731520" y="2148840"/>
            <a:ext cx="3154680" cy="640080"/>
          </a:xfrm>
          <a:prstGeom prst="rect">
            <a:avLst/>
          </a:prstGeom>
          <a:noFill/>
          <a:ln/>
        </p:spPr>
        <p:txBody>
          <a:bodyPr wrap="square" lIns="0" tIns="0" rIns="0" bIns="0" rtlCol="0" anchor="t"/>
          <a:lstStyle/>
          <a:p>
            <a:pPr indent="0" marL="0">
              <a:buNone/>
            </a:pPr>
            <a:r>
              <a:rPr lang="en-US" sz="1200" dirty="0">
                <a:solidFill>
                  <a:schemeClr val="tx2"/>
                </a:solidFill>
              </a:rPr>
              <a:t>OOP, collections, generics, file I/O, multithreading, exception handling</a:t>
            </a:r>
            <a:endParaRPr lang="en-US" sz="1200" dirty="0"/>
          </a:p>
        </p:txBody>
      </p:sp>
      <p:sp>
        <p:nvSpPr>
          <p:cNvPr id="9" name="Card 60"/>
          <p:cNvSpPr/>
          <p:nvPr/>
        </p:nvSpPr>
        <p:spPr>
          <a:xfrm>
            <a:off x="4160520" y="1417320"/>
            <a:ext cx="3474720" cy="1417320"/>
          </a:xfrm>
          <a:prstGeom prst="roundRect">
            <a:avLst>
              <a:gd name="adj" fmla="val 5161"/>
            </a:avLst>
          </a:prstGeom>
          <a:solidFill>
            <a:schemeClr val="bg2"/>
          </a:solidFill>
          <a:ln w="9525">
            <a:solidFill>
              <a:schemeClr val="accent3"/>
            </a:solidFill>
            <a:prstDash val="solid"/>
          </a:ln>
        </p:spPr>
      </p:sp>
      <p:sp>
        <p:nvSpPr>
          <p:cNvPr id="10" name="Shape 7"/>
          <p:cNvSpPr/>
          <p:nvPr/>
        </p:nvSpPr>
        <p:spPr>
          <a:xfrm>
            <a:off x="4343400" y="1600200"/>
            <a:ext cx="457200" cy="457200"/>
          </a:xfrm>
          <a:prstGeom prst="ellipse">
            <a:avLst/>
          </a:prstGeom>
          <a:solidFill>
            <a:schemeClr val="accent5"/>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462272" y="1719072"/>
            <a:ext cx="219456" cy="219456"/>
          </a:xfrm>
          <a:prstGeom prst="rect">
            <a:avLst/>
          </a:prstGeom>
        </p:spPr>
      </p:pic>
      <p:sp>
        <p:nvSpPr>
          <p:cNvPr id="12" name="Text 8"/>
          <p:cNvSpPr txBox="1"/>
          <p:nvPr/>
        </p:nvSpPr>
        <p:spPr>
          <a:xfrm>
            <a:off x="4937760" y="160020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Database Connectivity</a:t>
            </a:r>
            <a:endParaRPr lang="en-US" sz="1400" dirty="0"/>
          </a:p>
        </p:txBody>
      </p:sp>
      <p:sp>
        <p:nvSpPr>
          <p:cNvPr id="13" name="Text 9"/>
          <p:cNvSpPr txBox="1"/>
          <p:nvPr/>
        </p:nvSpPr>
        <p:spPr>
          <a:xfrm>
            <a:off x="4343400" y="2148840"/>
            <a:ext cx="3154680" cy="640080"/>
          </a:xfrm>
          <a:prstGeom prst="rect">
            <a:avLst/>
          </a:prstGeom>
          <a:noFill/>
          <a:ln/>
        </p:spPr>
        <p:txBody>
          <a:bodyPr wrap="square" lIns="0" tIns="0" rIns="0" bIns="0" rtlCol="0" anchor="t"/>
          <a:lstStyle/>
          <a:p>
            <a:pPr indent="0" marL="0">
              <a:buNone/>
            </a:pPr>
            <a:r>
              <a:rPr lang="en-US" sz="1200" dirty="0">
                <a:solidFill>
                  <a:schemeClr val="tx2"/>
                </a:solidFill>
              </a:rPr>
              <a:t>JDBC, SQL, CRUD, Hibernate/JPA object-relational mapping</a:t>
            </a:r>
            <a:endParaRPr lang="en-US" sz="1200" dirty="0"/>
          </a:p>
        </p:txBody>
      </p:sp>
      <p:sp>
        <p:nvSpPr>
          <p:cNvPr id="14" name="Card 61"/>
          <p:cNvSpPr/>
          <p:nvPr/>
        </p:nvSpPr>
        <p:spPr>
          <a:xfrm>
            <a:off x="548640" y="2971800"/>
            <a:ext cx="3474720" cy="1417320"/>
          </a:xfrm>
          <a:prstGeom prst="roundRect">
            <a:avLst>
              <a:gd name="adj" fmla="val 5161"/>
            </a:avLst>
          </a:prstGeom>
          <a:solidFill>
            <a:schemeClr val="bg2"/>
          </a:solidFill>
          <a:ln w="9525">
            <a:solidFill>
              <a:schemeClr val="accent3"/>
            </a:solidFill>
            <a:prstDash val="solid"/>
          </a:ln>
        </p:spPr>
      </p:sp>
      <p:sp>
        <p:nvSpPr>
          <p:cNvPr id="15" name="Shape 11"/>
          <p:cNvSpPr/>
          <p:nvPr/>
        </p:nvSpPr>
        <p:spPr>
          <a:xfrm>
            <a:off x="731520" y="3154680"/>
            <a:ext cx="457200" cy="457200"/>
          </a:xfrm>
          <a:prstGeom prst="ellipse">
            <a:avLst/>
          </a:prstGeom>
          <a:solidFill>
            <a:schemeClr val="accent5"/>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50392" y="3273552"/>
            <a:ext cx="219456" cy="219456"/>
          </a:xfrm>
          <a:prstGeom prst="rect">
            <a:avLst/>
          </a:prstGeom>
        </p:spPr>
      </p:pic>
      <p:sp>
        <p:nvSpPr>
          <p:cNvPr id="17" name="Text 12"/>
          <p:cNvSpPr txBox="1"/>
          <p:nvPr/>
        </p:nvSpPr>
        <p:spPr>
          <a:xfrm>
            <a:off x="1325880" y="315468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Web and Frameworks</a:t>
            </a:r>
            <a:endParaRPr lang="en-US" sz="1400" dirty="0"/>
          </a:p>
        </p:txBody>
      </p:sp>
      <p:sp>
        <p:nvSpPr>
          <p:cNvPr id="18" name="Text 13"/>
          <p:cNvSpPr txBox="1"/>
          <p:nvPr/>
        </p:nvSpPr>
        <p:spPr>
          <a:xfrm>
            <a:off x="731520" y="3703320"/>
            <a:ext cx="3154680" cy="640080"/>
          </a:xfrm>
          <a:prstGeom prst="rect">
            <a:avLst/>
          </a:prstGeom>
          <a:noFill/>
          <a:ln/>
        </p:spPr>
        <p:txBody>
          <a:bodyPr wrap="square" lIns="0" tIns="0" rIns="0" bIns="0" rtlCol="0" anchor="t"/>
          <a:lstStyle/>
          <a:p>
            <a:pPr indent="0" marL="0">
              <a:buNone/>
            </a:pPr>
            <a:r>
              <a:rPr lang="en-US" sz="1200" dirty="0">
                <a:solidFill>
                  <a:schemeClr val="tx2"/>
                </a:solidFill>
              </a:rPr>
              <a:t>Servlets, JSP, Spring Boot, REST services, dependency injection</a:t>
            </a:r>
            <a:endParaRPr lang="en-US" sz="1200" dirty="0"/>
          </a:p>
        </p:txBody>
      </p:sp>
      <p:sp>
        <p:nvSpPr>
          <p:cNvPr id="19" name="Card 62"/>
          <p:cNvSpPr/>
          <p:nvPr/>
        </p:nvSpPr>
        <p:spPr>
          <a:xfrm>
            <a:off x="4160520" y="2971800"/>
            <a:ext cx="3474720" cy="1417320"/>
          </a:xfrm>
          <a:prstGeom prst="roundRect">
            <a:avLst>
              <a:gd name="adj" fmla="val 5161"/>
            </a:avLst>
          </a:prstGeom>
          <a:solidFill>
            <a:schemeClr val="bg2"/>
          </a:solidFill>
          <a:ln w="9525">
            <a:solidFill>
              <a:schemeClr val="accent3"/>
            </a:solidFill>
            <a:prstDash val="solid"/>
          </a:ln>
        </p:spPr>
      </p:sp>
      <p:sp>
        <p:nvSpPr>
          <p:cNvPr id="20" name="Shape 15"/>
          <p:cNvSpPr/>
          <p:nvPr/>
        </p:nvSpPr>
        <p:spPr>
          <a:xfrm>
            <a:off x="4343400" y="3154680"/>
            <a:ext cx="457200" cy="457200"/>
          </a:xfrm>
          <a:prstGeom prst="ellipse">
            <a:avLst/>
          </a:prstGeom>
          <a:solidFill>
            <a:schemeClr val="accent5"/>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4462272" y="3273552"/>
            <a:ext cx="219456" cy="219456"/>
          </a:xfrm>
          <a:prstGeom prst="rect">
            <a:avLst/>
          </a:prstGeom>
        </p:spPr>
      </p:pic>
      <p:sp>
        <p:nvSpPr>
          <p:cNvPr id="22" name="Text 16"/>
          <p:cNvSpPr txBox="1"/>
          <p:nvPr/>
        </p:nvSpPr>
        <p:spPr>
          <a:xfrm>
            <a:off x="4937760" y="315468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Security and Quality</a:t>
            </a:r>
            <a:endParaRPr lang="en-US" sz="1400" dirty="0"/>
          </a:p>
        </p:txBody>
      </p:sp>
      <p:sp>
        <p:nvSpPr>
          <p:cNvPr id="23" name="Text 17"/>
          <p:cNvSpPr txBox="1"/>
          <p:nvPr/>
        </p:nvSpPr>
        <p:spPr>
          <a:xfrm>
            <a:off x="4343400" y="3703320"/>
            <a:ext cx="3154680" cy="640080"/>
          </a:xfrm>
          <a:prstGeom prst="rect">
            <a:avLst/>
          </a:prstGeom>
          <a:noFill/>
          <a:ln/>
        </p:spPr>
        <p:txBody>
          <a:bodyPr wrap="square" lIns="0" tIns="0" rIns="0" bIns="0" rtlCol="0" anchor="t"/>
          <a:lstStyle/>
          <a:p>
            <a:pPr indent="0" marL="0">
              <a:buNone/>
            </a:pPr>
            <a:r>
              <a:rPr lang="en-US" sz="1200" dirty="0">
                <a:solidFill>
                  <a:schemeClr val="tx2"/>
                </a:solidFill>
              </a:rPr>
              <a:t>Spring Security, JUnit testing, debugging with IDE tools</a:t>
            </a:r>
            <a:endParaRPr lang="en-US" sz="1200" dirty="0"/>
          </a:p>
        </p:txBody>
      </p:sp>
      <p:sp>
        <p:nvSpPr>
          <p:cNvPr id="24" name="Card 63"/>
          <p:cNvSpPr/>
          <p:nvPr/>
        </p:nvSpPr>
        <p:spPr>
          <a:xfrm>
            <a:off x="548640" y="4526280"/>
            <a:ext cx="3474720" cy="1417320"/>
          </a:xfrm>
          <a:prstGeom prst="roundRect">
            <a:avLst>
              <a:gd name="adj" fmla="val 5161"/>
            </a:avLst>
          </a:prstGeom>
          <a:solidFill>
            <a:schemeClr val="bg2"/>
          </a:solidFill>
          <a:ln w="9525">
            <a:solidFill>
              <a:schemeClr val="accent3"/>
            </a:solidFill>
            <a:prstDash val="solid"/>
          </a:ln>
        </p:spPr>
      </p:sp>
      <p:sp>
        <p:nvSpPr>
          <p:cNvPr id="25" name="Shape 19"/>
          <p:cNvSpPr/>
          <p:nvPr/>
        </p:nvSpPr>
        <p:spPr>
          <a:xfrm>
            <a:off x="731520" y="4709160"/>
            <a:ext cx="457200" cy="457200"/>
          </a:xfrm>
          <a:prstGeom prst="ellipse">
            <a:avLst/>
          </a:prstGeom>
          <a:solidFill>
            <a:schemeClr val="accent5"/>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850392" y="4828032"/>
            <a:ext cx="219456" cy="219456"/>
          </a:xfrm>
          <a:prstGeom prst="rect">
            <a:avLst/>
          </a:prstGeom>
        </p:spPr>
      </p:pic>
      <p:sp>
        <p:nvSpPr>
          <p:cNvPr id="27" name="Text 20"/>
          <p:cNvSpPr txBox="1"/>
          <p:nvPr/>
        </p:nvSpPr>
        <p:spPr>
          <a:xfrm>
            <a:off x="1325880" y="470916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Engineering Practice</a:t>
            </a:r>
            <a:endParaRPr lang="en-US" sz="1400" dirty="0"/>
          </a:p>
        </p:txBody>
      </p:sp>
      <p:sp>
        <p:nvSpPr>
          <p:cNvPr id="28" name="Text 21"/>
          <p:cNvSpPr txBox="1"/>
          <p:nvPr/>
        </p:nvSpPr>
        <p:spPr>
          <a:xfrm>
            <a:off x="731520" y="5257800"/>
            <a:ext cx="3154680" cy="640080"/>
          </a:xfrm>
          <a:prstGeom prst="rect">
            <a:avLst/>
          </a:prstGeom>
          <a:noFill/>
          <a:ln/>
        </p:spPr>
        <p:txBody>
          <a:bodyPr wrap="square" lIns="0" tIns="0" rIns="0" bIns="0" rtlCol="0" anchor="t"/>
          <a:lstStyle/>
          <a:p>
            <a:pPr indent="0" marL="0">
              <a:buNone/>
            </a:pPr>
            <a:r>
              <a:rPr lang="en-US" sz="1200" dirty="0">
                <a:solidFill>
                  <a:schemeClr val="tx2"/>
                </a:solidFill>
              </a:rPr>
              <a:t>Git version control, Apache Tomcat deployment, Maven</a:t>
            </a:r>
            <a:endParaRPr lang="en-US" sz="1200" dirty="0"/>
          </a:p>
        </p:txBody>
      </p:sp>
      <p:sp>
        <p:nvSpPr>
          <p:cNvPr id="29" name="Card 64"/>
          <p:cNvSpPr/>
          <p:nvPr/>
        </p:nvSpPr>
        <p:spPr>
          <a:xfrm>
            <a:off x="4160520" y="4526280"/>
            <a:ext cx="3474720" cy="1417320"/>
          </a:xfrm>
          <a:prstGeom prst="roundRect">
            <a:avLst>
              <a:gd name="adj" fmla="val 5161"/>
            </a:avLst>
          </a:prstGeom>
          <a:solidFill>
            <a:schemeClr val="bg2"/>
          </a:solidFill>
          <a:ln w="9525">
            <a:solidFill>
              <a:schemeClr val="accent3"/>
            </a:solidFill>
            <a:prstDash val="solid"/>
          </a:ln>
        </p:spPr>
      </p:sp>
      <p:sp>
        <p:nvSpPr>
          <p:cNvPr id="30" name="Shape 23"/>
          <p:cNvSpPr/>
          <p:nvPr/>
        </p:nvSpPr>
        <p:spPr>
          <a:xfrm>
            <a:off x="4343400" y="4709160"/>
            <a:ext cx="457200" cy="457200"/>
          </a:xfrm>
          <a:prstGeom prst="ellipse">
            <a:avLst/>
          </a:prstGeom>
          <a:solidFill>
            <a:schemeClr val="accent5"/>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4462272" y="4828032"/>
            <a:ext cx="219456" cy="219456"/>
          </a:xfrm>
          <a:prstGeom prst="rect">
            <a:avLst/>
          </a:prstGeom>
        </p:spPr>
      </p:pic>
      <p:sp>
        <p:nvSpPr>
          <p:cNvPr id="32" name="Text 24"/>
          <p:cNvSpPr txBox="1"/>
          <p:nvPr/>
        </p:nvSpPr>
        <p:spPr>
          <a:xfrm>
            <a:off x="4937760" y="470916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Professional Growth</a:t>
            </a:r>
            <a:endParaRPr lang="en-US" sz="1400" dirty="0"/>
          </a:p>
        </p:txBody>
      </p:sp>
      <p:sp>
        <p:nvSpPr>
          <p:cNvPr id="33" name="Text 25"/>
          <p:cNvSpPr txBox="1"/>
          <p:nvPr/>
        </p:nvSpPr>
        <p:spPr>
          <a:xfrm>
            <a:off x="4343400" y="5257800"/>
            <a:ext cx="3154680" cy="640080"/>
          </a:xfrm>
          <a:prstGeom prst="rect">
            <a:avLst/>
          </a:prstGeom>
          <a:noFill/>
          <a:ln/>
        </p:spPr>
        <p:txBody>
          <a:bodyPr wrap="square" lIns="0" tIns="0" rIns="0" bIns="0" rtlCol="0" anchor="t"/>
          <a:lstStyle/>
          <a:p>
            <a:pPr indent="0" marL="0">
              <a:buNone/>
            </a:pPr>
            <a:r>
              <a:rPr lang="en-US" sz="1200" dirty="0">
                <a:solidFill>
                  <a:schemeClr val="tx2"/>
                </a:solidFill>
              </a:rPr>
              <a:t>Communication, teamwork, time management, documentation</a:t>
            </a:r>
            <a:endParaRPr lang="en-US" sz="1200" dirty="0"/>
          </a:p>
        </p:txBody>
      </p:sp>
      <p:sp>
        <p:nvSpPr>
          <p:cNvPr id="34" name="Card 65"/>
          <p:cNvSpPr/>
          <p:nvPr/>
        </p:nvSpPr>
        <p:spPr>
          <a:xfrm>
            <a:off x="7863840" y="1417320"/>
            <a:ext cx="3776472" cy="4480560"/>
          </a:xfrm>
          <a:prstGeom prst="roundRect">
            <a:avLst>
              <a:gd name="adj" fmla="val 1937"/>
            </a:avLst>
          </a:prstGeom>
          <a:solidFill>
            <a:schemeClr val="accent5"/>
          </a:solidFill>
          <a:ln w="9525">
            <a:solidFill>
              <a:schemeClr val="accent3"/>
            </a:solidFill>
            <a:prstDash val="solid"/>
          </a:ln>
        </p:spPr>
      </p:sp>
      <p:sp>
        <p:nvSpPr>
          <p:cNvPr id="35" name="Text 27"/>
          <p:cNvSpPr txBox="1"/>
          <p:nvPr/>
        </p:nvSpPr>
        <p:spPr>
          <a:xfrm>
            <a:off x="8138160" y="1600200"/>
            <a:ext cx="3291840" cy="365760"/>
          </a:xfrm>
          <a:prstGeom prst="rect">
            <a:avLst/>
          </a:prstGeom>
          <a:noFill/>
          <a:ln/>
        </p:spPr>
        <p:txBody>
          <a:bodyPr wrap="square" lIns="0" tIns="0" rIns="0" bIns="0" rtlCol="0" anchor="t"/>
          <a:lstStyle/>
          <a:p>
            <a:pPr indent="0" marL="0">
              <a:buNone/>
            </a:pPr>
            <a:r>
              <a:rPr lang="en-US" sz="1800" b="1" dirty="0">
                <a:solidFill>
                  <a:schemeClr val="accent1"/>
                </a:solidFill>
              </a:rPr>
              <a:t>Design Understanding</a:t>
            </a:r>
            <a:endParaRPr lang="en-US" sz="1800" dirty="0"/>
          </a:p>
        </p:txBody>
      </p:sp>
      <p:sp>
        <p:nvSpPr>
          <p:cNvPr id="36" name="Text 28"/>
          <p:cNvSpPr txBox="1"/>
          <p:nvPr/>
        </p:nvSpPr>
        <p:spPr>
          <a:xfrm>
            <a:off x="8138160" y="2057400"/>
            <a:ext cx="3291840" cy="3749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Layered architecture and separation of concerns</a:t>
            </a:r>
            <a:endParaRPr lang="en-US" sz="1400" dirty="0"/>
          </a:p>
          <a:p>
            <a:pPr marL="177800" indent="-177800">
              <a:spcAft>
                <a:spcPts val="600"/>
              </a:spcAft>
              <a:buSzPct val="100000"/>
              <a:buChar char="•"/>
            </a:pPr>
            <a:r>
              <a:rPr lang="en-US" sz="1400" dirty="0">
                <a:solidFill>
                  <a:schemeClr val="tx1"/>
                </a:solidFill>
              </a:rPr>
              <a:t>ER modelling: keys, relationships, referential integrity</a:t>
            </a:r>
            <a:endParaRPr lang="en-US" sz="1400" dirty="0"/>
          </a:p>
          <a:p>
            <a:pPr marL="177800" indent="-177800">
              <a:spcAft>
                <a:spcPts val="600"/>
              </a:spcAft>
              <a:buSzPct val="100000"/>
              <a:buChar char="•"/>
            </a:pPr>
            <a:r>
              <a:rPr lang="en-US" sz="1400" dirty="0">
                <a:solidFill>
                  <a:schemeClr val="tx1"/>
                </a:solidFill>
              </a:rPr>
              <a:t>Transactions keep enrolment and seat count consistent</a:t>
            </a:r>
            <a:endParaRPr lang="en-US" sz="1400" dirty="0"/>
          </a:p>
          <a:p>
            <a:pPr marL="177800" indent="-177800">
              <a:spcAft>
                <a:spcPts val="600"/>
              </a:spcAft>
              <a:buSzPct val="100000"/>
              <a:buChar char="•"/>
            </a:pPr>
            <a:r>
              <a:rPr lang="en-US" sz="1400" dirty="0">
                <a:solidFill>
                  <a:schemeClr val="tx1"/>
                </a:solidFill>
              </a:rPr>
              <a:t>Business rules kept in the service layer for easy testing</a:t>
            </a:r>
            <a:endParaRPr lang="en-US" sz="1400" dirty="0"/>
          </a:p>
          <a:p>
            <a:pPr marL="177800" indent="-177800">
              <a:spcAft>
                <a:spcPts val="600"/>
              </a:spcAft>
              <a:buSzPct val="100000"/>
              <a:buChar char="•"/>
            </a:pPr>
            <a:r>
              <a:rPr lang="en-US" sz="1400" dirty="0">
                <a:solidFill>
                  <a:schemeClr val="tx1"/>
                </a:solidFill>
              </a:rPr>
              <a:t>Challenges: learning many technologies quickly; solved by daily practice and documentation</a:t>
            </a:r>
            <a:endParaRPr lang="en-US" sz="1400" dirty="0"/>
          </a:p>
        </p:txBody>
      </p:sp>
      <p:sp>
        <p:nvSpPr>
          <p:cNvPr id="25" name="Slide Number Placeholder 0"/>
          <p:cNvSpPr>
            <a:spLocks noGrp="1"/>
          </p:cNvSpPr>
          <p:nvPr>
            <p:ph type="sldNum" sz="quarter" idx="4294967295"/>
          </p:nvPr>
        </p:nvSpPr>
        <p:spPr>
          <a:xfrm>
            <a:off x="11091672"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chemeClr val="accent2">
              <a:alpha val="12000"/>
            </a:schemeClr>
          </a:solidFill>
          <a:ln w="12700">
            <a:solidFill>
              <a:schemeClr val="bg1">
                <a:alpha val="0"/>
              </a:schemeClr>
            </a:solidFill>
            <a:prstDash val="solid"/>
          </a:ln>
        </p:spPr>
      </p:sp>
      <p:sp>
        <p:nvSpPr>
          <p:cNvPr id="3" name="Text 1"/>
          <p:cNvSpPr txBox="1"/>
          <p:nvPr/>
        </p:nvSpPr>
        <p:spPr>
          <a:xfrm>
            <a:off x="548640" y="411480"/>
            <a:ext cx="73152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14  CONCLUSION AND FUTURE SCOPE</a:t>
            </a:r>
            <a:endParaRPr lang="en-US" sz="1100" dirty="0"/>
          </a:p>
        </p:txBody>
      </p:sp>
      <p:sp>
        <p:nvSpPr>
          <p:cNvPr id="4" name="Text 2"/>
          <p:cNvSpPr txBox="1"/>
          <p:nvPr/>
        </p:nvSpPr>
        <p:spPr>
          <a:xfrm>
            <a:off x="548640" y="7315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Conclusion and Future Scope</a:t>
            </a:r>
            <a:endParaRPr lang="en-US" sz="3200" dirty="0"/>
          </a:p>
        </p:txBody>
      </p:sp>
      <p:sp>
        <p:nvSpPr>
          <p:cNvPr id="5" name="Card 66"/>
          <p:cNvSpPr/>
          <p:nvPr/>
        </p:nvSpPr>
        <p:spPr>
          <a:xfrm>
            <a:off x="548640" y="1691640"/>
            <a:ext cx="5394960" cy="2743200"/>
          </a:xfrm>
          <a:prstGeom prst="roundRect">
            <a:avLst>
              <a:gd name="adj" fmla="val 2667"/>
            </a:avLst>
          </a:prstGeom>
          <a:solidFill>
            <a:schemeClr val="bg2"/>
          </a:solidFill>
          <a:ln w="9525">
            <a:solidFill>
              <a:schemeClr val="accent3"/>
            </a:solidFill>
            <a:prstDash val="solid"/>
          </a:ln>
        </p:spPr>
      </p:sp>
      <p:sp>
        <p:nvSpPr>
          <p:cNvPr id="6" name="Text 4"/>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800" b="1" dirty="0">
                <a:solidFill>
                  <a:schemeClr val="accent1"/>
                </a:solidFill>
              </a:rPr>
              <a:t>Summary</a:t>
            </a:r>
            <a:endParaRPr lang="en-US" sz="1800" dirty="0"/>
          </a:p>
        </p:txBody>
      </p:sp>
      <p:sp>
        <p:nvSpPr>
          <p:cNvPr id="7" name="Text 5"/>
          <p:cNvSpPr txBox="1"/>
          <p:nvPr/>
        </p:nvSpPr>
        <p:spPr>
          <a:xfrm>
            <a:off x="822960" y="2240280"/>
            <a:ext cx="4892040" cy="2148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30-day internship at Fantasy Solution: Java fundamentals to enterprise web development</a:t>
            </a:r>
            <a:endParaRPr lang="en-US" sz="1400" dirty="0"/>
          </a:p>
          <a:p>
            <a:pPr marL="177800" indent="-177800">
              <a:spcAft>
                <a:spcPts val="600"/>
              </a:spcAft>
              <a:buSzPct val="100000"/>
              <a:buChar char="•"/>
            </a:pPr>
            <a:r>
              <a:rPr lang="en-US" sz="1300" dirty="0">
                <a:solidFill>
                  <a:schemeClr val="tx1"/>
                </a:solidFill>
              </a:rPr>
              <a:t>Student Management System: students, courses, enrolment, attendance, results, reports</a:t>
            </a:r>
            <a:endParaRPr lang="en-US" sz="1400" dirty="0"/>
          </a:p>
          <a:p>
            <a:pPr marL="177800" indent="-177800">
              <a:spcAft>
                <a:spcPts val="600"/>
              </a:spcAft>
              <a:buSzPct val="100000"/>
              <a:buChar char="•"/>
            </a:pPr>
            <a:r>
              <a:rPr lang="en-US" sz="1300" dirty="0">
                <a:solidFill>
                  <a:schemeClr val="tx1"/>
                </a:solidFill>
              </a:rPr>
              <a:t>Learned layered architecture, ER design, security, testing and deployment concepts</a:t>
            </a:r>
            <a:endParaRPr lang="en-US" sz="1400" dirty="0"/>
          </a:p>
          <a:p>
            <a:pPr marL="177800" indent="-177800">
              <a:spcAft>
                <a:spcPts val="600"/>
              </a:spcAft>
              <a:buSzPct val="100000"/>
              <a:buChar char="•"/>
            </a:pPr>
            <a:r>
              <a:rPr lang="en-US" sz="1300" dirty="0">
                <a:solidFill>
                  <a:schemeClr val="tx1"/>
                </a:solidFill>
              </a:rPr>
              <a:t>Gained professional habits: planning, communication, documentation</a:t>
            </a:r>
            <a:endParaRPr lang="en-US" sz="1400" dirty="0"/>
          </a:p>
        </p:txBody>
      </p:sp>
      <p:sp>
        <p:nvSpPr>
          <p:cNvPr id="8" name="Card 67"/>
          <p:cNvSpPr/>
          <p:nvPr/>
        </p:nvSpPr>
        <p:spPr>
          <a:xfrm>
            <a:off x="6217920" y="1691640"/>
            <a:ext cx="5422392" cy="2743200"/>
          </a:xfrm>
          <a:prstGeom prst="roundRect">
            <a:avLst>
              <a:gd name="adj" fmla="val 2667"/>
            </a:avLst>
          </a:prstGeom>
          <a:solidFill>
            <a:schemeClr val="accent5"/>
          </a:solidFill>
          <a:ln w="9525">
            <a:solidFill>
              <a:schemeClr val="accent3"/>
            </a:solidFill>
            <a:prstDash val="solid"/>
          </a:ln>
        </p:spPr>
      </p:sp>
      <p:sp>
        <p:nvSpPr>
          <p:cNvPr id="9" name="Text 7"/>
          <p:cNvSpPr txBox="1"/>
          <p:nvPr/>
        </p:nvSpPr>
        <p:spPr>
          <a:xfrm>
            <a:off x="6492240" y="1828800"/>
            <a:ext cx="4846320" cy="365760"/>
          </a:xfrm>
          <a:prstGeom prst="rect">
            <a:avLst/>
          </a:prstGeom>
          <a:noFill/>
          <a:ln/>
        </p:spPr>
        <p:txBody>
          <a:bodyPr wrap="square" lIns="0" tIns="0" rIns="0" bIns="0" rtlCol="0" anchor="t"/>
          <a:lstStyle/>
          <a:p>
            <a:pPr indent="0" marL="0">
              <a:buNone/>
            </a:pPr>
            <a:r>
              <a:rPr lang="en-US" sz="1800" b="1" dirty="0">
                <a:solidFill>
                  <a:schemeClr val="accent4"/>
                </a:solidFill>
              </a:rPr>
              <a:t>Future Enhancements (proposed)</a:t>
            </a:r>
            <a:endParaRPr lang="en-US" sz="1800" dirty="0"/>
          </a:p>
        </p:txBody>
      </p:sp>
      <p:sp>
        <p:nvSpPr>
          <p:cNvPr id="10" name="Text 8"/>
          <p:cNvSpPr txBox="1"/>
          <p:nvPr/>
        </p:nvSpPr>
        <p:spPr>
          <a:xfrm>
            <a:off x="6492240" y="2240280"/>
            <a:ext cx="4892040" cy="2148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E-mail/SMS alerts for attendance shortage and results</a:t>
            </a:r>
            <a:endParaRPr lang="en-US" sz="1400" dirty="0"/>
          </a:p>
          <a:p>
            <a:pPr marL="177800" indent="-177800">
              <a:spcAft>
                <a:spcPts val="600"/>
              </a:spcAft>
              <a:buSzPct val="100000"/>
              <a:buChar char="•"/>
            </a:pPr>
            <a:r>
              <a:rPr lang="en-US" sz="1300" dirty="0">
                <a:solidFill>
                  <a:schemeClr val="tx1"/>
                </a:solidFill>
              </a:rPr>
              <a:t>Fee management with online payment</a:t>
            </a:r>
            <a:endParaRPr lang="en-US" sz="1400" dirty="0"/>
          </a:p>
          <a:p>
            <a:pPr marL="177800" indent="-177800">
              <a:spcAft>
                <a:spcPts val="600"/>
              </a:spcAft>
              <a:buSzPct val="100000"/>
              <a:buChar char="•"/>
            </a:pPr>
            <a:r>
              <a:rPr lang="en-US" sz="1300" dirty="0">
                <a:solidFill>
                  <a:schemeClr val="tx1"/>
                </a:solidFill>
              </a:rPr>
              <a:t>Timetable management, parent portal</a:t>
            </a:r>
            <a:endParaRPr lang="en-US" sz="1400" dirty="0"/>
          </a:p>
          <a:p>
            <a:pPr marL="177800" indent="-177800">
              <a:spcAft>
                <a:spcPts val="600"/>
              </a:spcAft>
              <a:buSzPct val="100000"/>
              <a:buChar char="•"/>
            </a:pPr>
            <a:r>
              <a:rPr lang="en-US" sz="1300" dirty="0">
                <a:solidFill>
                  <a:schemeClr val="tx1"/>
                </a:solidFill>
              </a:rPr>
              <a:t>Analytics dashboard and online assessments</a:t>
            </a:r>
            <a:endParaRPr lang="en-US" sz="1400" dirty="0"/>
          </a:p>
          <a:p>
            <a:pPr marL="177800" indent="-177800">
              <a:spcAft>
                <a:spcPts val="600"/>
              </a:spcAft>
              <a:buSzPct val="100000"/>
              <a:buChar char="•"/>
            </a:pPr>
            <a:r>
              <a:rPr lang="en-US" sz="1300" dirty="0">
                <a:solidFill>
                  <a:schemeClr val="tx1"/>
                </a:solidFill>
              </a:rPr>
              <a:t>Multi-campus support, Android companion app</a:t>
            </a:r>
            <a:endParaRPr lang="en-US" sz="1400" dirty="0"/>
          </a:p>
        </p:txBody>
      </p:sp>
      <p:sp>
        <p:nvSpPr>
          <p:cNvPr id="11" name="Text 9"/>
          <p:cNvSpPr txBox="1"/>
          <p:nvPr/>
        </p:nvSpPr>
        <p:spPr>
          <a:xfrm>
            <a:off x="548640" y="4754880"/>
            <a:ext cx="5486400" cy="822960"/>
          </a:xfrm>
          <a:prstGeom prst="rect">
            <a:avLst/>
          </a:prstGeom>
          <a:noFill/>
          <a:ln/>
        </p:spPr>
        <p:txBody>
          <a:bodyPr wrap="square" lIns="0" tIns="0" rIns="0" bIns="0" rtlCol="0" anchor="ctr"/>
          <a:lstStyle/>
          <a:p>
            <a:pPr indent="0" marL="0">
              <a:buNone/>
            </a:pPr>
            <a:r>
              <a:rPr lang="en-US" sz="4400" b="1" dirty="0">
                <a:solidFill>
                  <a:schemeClr val="tx1"/>
                </a:solidFill>
              </a:rPr>
              <a:t>Thank You</a:t>
            </a:r>
            <a:endParaRPr lang="en-US" sz="4400" dirty="0"/>
          </a:p>
        </p:txBody>
      </p:sp>
      <p:sp>
        <p:nvSpPr>
          <p:cNvPr id="12" name="Text 10"/>
          <p:cNvSpPr txBox="1"/>
          <p:nvPr/>
        </p:nvSpPr>
        <p:spPr>
          <a:xfrm>
            <a:off x="548640" y="5577840"/>
            <a:ext cx="5486400" cy="457200"/>
          </a:xfrm>
          <a:prstGeom prst="rect">
            <a:avLst/>
          </a:prstGeom>
          <a:noFill/>
          <a:ln/>
        </p:spPr>
        <p:txBody>
          <a:bodyPr wrap="square" lIns="0" tIns="0" rIns="0" bIns="0" rtlCol="0" anchor="t"/>
          <a:lstStyle/>
          <a:p>
            <a:pPr indent="0" marL="0">
              <a:buNone/>
            </a:pPr>
            <a:r>
              <a:rPr lang="en-US" sz="2000" b="1" dirty="0">
                <a:solidFill>
                  <a:schemeClr val="accent1"/>
                </a:solidFill>
              </a:rPr>
              <a:t>Questions &amp; Answers</a:t>
            </a:r>
            <a:endParaRPr lang="en-US" sz="2000" dirty="0"/>
          </a:p>
        </p:txBody>
      </p:sp>
      <p:sp>
        <p:nvSpPr>
          <p:cNvPr id="13" name="Text 11"/>
          <p:cNvSpPr txBox="1"/>
          <p:nvPr/>
        </p:nvSpPr>
        <p:spPr>
          <a:xfrm>
            <a:off x="6675120" y="5120640"/>
            <a:ext cx="4937760" cy="822960"/>
          </a:xfrm>
          <a:prstGeom prst="rect">
            <a:avLst/>
          </a:prstGeom>
          <a:noFill/>
          <a:ln/>
        </p:spPr>
        <p:txBody>
          <a:bodyPr wrap="square" lIns="0" tIns="0" rIns="0" bIns="0" rtlCol="0" anchor="ctr"/>
          <a:lstStyle/>
          <a:p>
            <a:pPr algn="r" indent="0" marL="0">
              <a:buNone/>
            </a:pPr>
            <a:r>
              <a:rPr lang="en-US" sz="1300" b="1" dirty="0">
                <a:solidFill>
                  <a:schemeClr val="tx1"/>
                </a:solidFill>
              </a:rPr>
              <a:t>Deepan Raja G  |  810023205049</a:t>
            </a:r>
            <a:endParaRPr lang="en-US" sz="1300" dirty="0"/>
          </a:p>
          <a:p>
            <a:pPr algn="r" indent="0" marL="0">
              <a:buNone/>
            </a:pPr>
            <a:r>
              <a:rPr lang="en-US" sz="1300" dirty="0">
                <a:solidFill>
                  <a:schemeClr val="tx2"/>
                </a:solidFill>
              </a:rPr>
              <a:t>B.Tech Information Technology, UCE BIT Campus, Anna University</a:t>
            </a:r>
            <a:endParaRPr lang="en-US" sz="1300" dirty="0"/>
          </a:p>
        </p:txBody>
      </p:sp>
    </p:spTree>
  </p:cSld>
  <p:clrMapOvr>
    <a:masterClrMapping/>
  </p:clrMapOvr>
</p:sld>
</file>

<file path=ppt/theme/theme1.xml><?xml version="1.0" encoding="utf-8"?>
<a:theme xmlns:a="http://schemas.openxmlformats.org/drawingml/2006/main" name="Internship Review Dark">
  <a:themeElements>
    <a:clrScheme name="Internship Review Dark">
      <a:dk1>
        <a:srgbClr val="F1F5F9"/>
      </a:dk1>
      <a:lt1>
        <a:srgbClr val="0B1423"/>
      </a:lt1>
      <a:dk2>
        <a:srgbClr val="94A3B8"/>
      </a:dk2>
      <a:lt2>
        <a:srgbClr val="14233A"/>
      </a:lt2>
      <a:accent1>
        <a:srgbClr val="22D3EE"/>
      </a:accent1>
      <a:accent2>
        <a:srgbClr val="3B82F6"/>
      </a:accent2>
      <a:accent3>
        <a:srgbClr val="1E3A5F"/>
      </a:accent3>
      <a:accent4>
        <a:srgbClr val="F59E0B"/>
      </a:accent4>
      <a:accent5>
        <a:srgbClr val="0F2A44"/>
      </a:accent5>
      <a:accent6>
        <a:srgbClr val="10B981"/>
      </a:accent6>
      <a:hlink>
        <a:srgbClr val="22D3EE"/>
      </a:hlink>
      <a:folHlink>
        <a:srgbClr val="94A3B8"/>
      </a:folHlink>
    </a:clrScheme>
    <a:fontScheme name="Internship Review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Anna University, UCE BIT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 - Summer Internship Review</dc:title>
  <dc:subject>PptxGenJS Presentation</dc:subject>
  <dc:creator>Deepan Raja G</dc:creator>
  <cp:lastModifiedBy>Deepan Raja G</cp:lastModifiedBy>
  <cp:revision>1</cp:revision>
  <dcterms:created xsi:type="dcterms:W3CDTF">2026-10-21T18:16:42Z</dcterms:created>
  <dcterms:modified xsi:type="dcterms:W3CDTF">2026-10-21T18:16:42Z</dcterms:modified>
</cp:coreProperties>
</file>